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95" r:id="rId8"/>
    <p:sldId id="262" r:id="rId9"/>
    <p:sldId id="263" r:id="rId10"/>
    <p:sldId id="264" r:id="rId11"/>
    <p:sldId id="265" r:id="rId12"/>
    <p:sldId id="266" r:id="rId13"/>
    <p:sldId id="267" r:id="rId14"/>
    <p:sldId id="268" r:id="rId15"/>
    <p:sldId id="270" r:id="rId16"/>
    <p:sldId id="269"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4" r:id="rId39"/>
    <p:sldId id="292" r:id="rId40"/>
    <p:sldId id="293" r:id="rId41"/>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ED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58"/>
    <p:restoredTop sz="94610"/>
  </p:normalViewPr>
  <p:slideViewPr>
    <p:cSldViewPr snapToGrid="0" snapToObjects="1">
      <p:cViewPr varScale="1">
        <p:scale>
          <a:sx n="78" d="100"/>
          <a:sy n="78" d="100"/>
        </p:scale>
        <p:origin x="192"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9967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tardes, Intendente. Gracias por recibirnos. Lo que le vamos a presentar hoy en los próximos seis minutos es una propuesta concreta para posicionar a Esquel como un destino turístico único en toda Sudamérica. No es una idea de laboratorio. Es un modelo que ya funciona en otros lugares del mundo, y que creemos que tiene una ventana de oportunidad muy clara para Esquel ahora.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a recorrer seis bloques. Empezamos por el problema, porque queremos mostrarle que entendemos su realidad. Después abrimos a una oportunidad global que casi nadie está viendo en la región. Llegamos a la propuesta concreta, que es un polo espiritual y cultural cerca de Esquel. Después, lo más importante para usted: el modelo económico, qué pone cada parte y qué necesitamos del municipio. Y cerramos con la dimensión comunitaria y la pregunta final.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Empecemos por reconocer algo. Chubut está atravesando un momento difícil. Los incendios forestales no solo devastaron hectáreas: devastaron una marca turística que tardó décadas en construirse. El turismo bajó, y con él bajó la cadena completa: gastronomía, hotelería, comercio, transporte. Esquel siente eso todos los días. No venimos a decirle que tenemos la respuesta a todo. Venimos a proponerle una respuesta a una pregunta muy específica.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Esa pregunta es la que se hace cualquiera que mira los números del último año. Cómo traemos turismo nuevo cuando el paisaje que vendíamos ya no es el mismo. Y nuestra respuesta es contraintuitiva: no creemos que la salida esté en reconstruir lo que se perdió. Creemos que está en construir algo que hoy no existe en toda Sudamérica.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entender de qué hablamos, necesito llevarlo del otro lado del mundo por un minuto, a un lugar que muy poca gente conoce pero que mueve cifras impresionantes.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India existe un lugar llamado Bodh Gaya. Es una ciudad pequeña, sin playas, sin montañas espectaculares, sin atractivos naturales obvios. Y sin embargo recibe más de tres millones de visitantes al año. ¿Por qué? Porque cada escuela budista del mundo construyó ahí su templo. Los japoneses tienen el suyo, los tailandeses el suyo, los tibetanos el suyo. El visitante camina de templo en templo, hace un circuito espiritual, y alrededor de eso floreció toda una economía: hoteles, restaurantes, artesanías, transporte.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81B2A-1768-4179-F097-2AAD307816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AD1FFE-60B4-3259-C7C7-858FF8E0ED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D91DC7-80DF-6565-209F-9F0FB930DE29}"/>
              </a:ext>
            </a:extLst>
          </p:cNvPr>
          <p:cNvSpPr>
            <a:spLocks noGrp="1"/>
          </p:cNvSpPr>
          <p:nvPr>
            <p:ph type="body" idx="1"/>
          </p:nvPr>
        </p:nvSpPr>
        <p:spPr/>
        <p:txBody>
          <a:bodyPr/>
          <a:lstStyle/>
          <a:p>
            <a:r>
              <a:rPr lang="en-US" dirty="0"/>
              <a:t>Lo que hace que funcione es muy simple. No es una atracción. Es un circuito. El visitante camina de templo en templo, cada uno construido y financiado por una comunidad budista distinta. Cada experiencia es distinta. Y la economía local —hotelería, gastronomía, transporte— vive de ese flujo permanente.</a:t>
            </a:r>
          </a:p>
        </p:txBody>
      </p:sp>
      <p:sp>
        <p:nvSpPr>
          <p:cNvPr id="4" name="Slide Number Placeholder 3">
            <a:extLst>
              <a:ext uri="{FF2B5EF4-FFF2-40B4-BE49-F238E27FC236}">
                <a16:creationId xmlns:a16="http://schemas.microsoft.com/office/drawing/2014/main" id="{1816058B-EA36-4F4B-889F-D768E0FA224C}"/>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7325548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hace que funcione es muy simple. No es una atracción. Es un circuito. El visitante camina de templo en templo, cada uno construido y financiado por una comunidad budista distinta. Cada experiencia es distinta. Y la economía local —hotelería, gastronomía, transporte— vive de ese flujo permanente.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queremos replicar no es la geografía ni la historia: eso es irrepetible. Lo que queremos replicar es la arquitectura del modelo. Multi-templo. Acceso libre. Financiamiento internacional descentralizado. Economía local servicial. Esos cuatro elementos son trasplantables a cualquier lugar del mundo con los socios correctos.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este es el contexto del mercado en el que estamos entrando. El turismo de bienestar ya es uno de los segmentos de mayor crecimiento global. Mueve más de ochocientos diecisiete mil millones de dólares al año, según el Global Wellness Institute. No es un nicho. Es una de las grandes corrientes del turismo del siglo veintiuno.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del lado de la demanda, hay quinientos treinta y cinco millones de budistas en el mundo. Es una comunidad enorme con tradición milenaria de peregrinaje. Sumémosle todos los practicantes de mindfulness, yoga, meditación, búsqueda espiritual no religiosa. El público potencial es gigantesco.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acá está el dato decisivo. En toda Sudamérica, no existe un polo de peregrinaje budista. Ni uno. Ese es el espacio que estamos proponiendo ocupar. El primero que llega se queda con esa marca para siempre.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Vayamos a la propuesta concreta. Lo que proponemos es crear un Polo Espiritual y Cultural en tierras cercanas a Esquel. No un templo suelto: un circuito. Un recorrido con sentido.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Imagínese esto. El visitante llega al aeropuerto de Esquel. Desde ahí, a minutos, ingresa a un complejo donde cada escuela budista —tibetana, zen japonesa, theravada tailandesa, coreana— tiene su propio mini-templo. Cada espacio ofrece una experiencia distinta: girar ruedas de mantras, hacer ofrendas, recorrer senderos de meditación, participar de ceremonias. Alrededor del circuito: feria artesanal permanente, gastronomía, espacios para podcasts y transmisiones que posicionen a Esquel mediáticamente a nivel internacional.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vamos a lo que un intendente necesita saber. Cuánto cuesta y quién paga. Y la respuesta corta es: el municipio no pone capital significativo. Los templos los financian las escuelas budistas, especialmente las asiáticas, que tienen presupuestos importantes destinados a expansión internacional. La operación se cubre con fundraising internacional gestionado por la Fundación Conecta, que ya está radicada acá en Esquel.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acá hay algo importante: no es un parque temático. Es un lugar vivo. Lo inscribimos dentro de la tradición de Chubut, lo conectamos con los espíritus del lugar, con la cosmovisión patagónica. Es un diálogo entre tradiciones milenarias, no una imposición.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distribución de costos por jugador. Mire la columna del municipio: terreno y exenciones. Eso es todo. Las escuelas budistas asiáticas construyen y mantienen sus propios templos. La Fundación Conecta, que ya tributa acá, se encarga del fundraising y la operación. La economía local captura el ingreso a través del ecosistema de servicios que se arma alrededor.</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necesitamos del gobierno municipal son tres cosas concretas. Primero, facilitar el acceso a terrenos —probablemente fiscales hoy improductivos. Segundo, exenciones impositivas como se hace con cualquier proyecto de desarrollo turístico estratégico. Y tercero, que aparezca como socio institucional en el fundraising. Eso último no le cuesta dinero, pero multiplica enormemente nuestra capacidad de conseguir fondos: cuando una escuela budista de Corea ve que el gobierno local respalda la iniciativa, la decisión de invertir se acelera.</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acá quiero ser muy directo, porque sé que usted evalúa riesgos todo el tiempo. Esta es una maniobra de bajo riesgo y alto impacto. Si por alguna razón el proyecto no despega, ¿cuál es el costo para el municipio? Mínimo. Terrenos que probablemente hoy están improductivos siguen ahí. No hubo inversión pública significativa. No hay deuda. Pero si funciona —y Bodh Gaya nos dice que funciona— Esquel se queda con una marca que ninguna otra ciudad de Sudamérica puede reclamar. El piso es bajo. El techo es enorme.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este proyecto tiene una segunda cara que quizás le interese aún más políticamente. No es solo para extranjeros. Desde la Fundación Conecta vamos a instalar dentro del polo una dimensión educativa y comunitaria: alfabetización digital, yoga y mindfulness, programas de bienestar. Un espacio donde la comunidad de Esquel acceda a herramientas que hoy no tiene. En Asia, los templos siempre funcionaron así, como centros comunitarios. Es turismo, sí, pero también es algo concreto que le devolvemos a su gente.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cronograma es realista. Fase uno —el primer templo, la feria artesanal, los servicios básicos— puede estar operativa en dieciocho a veinticuatro meses. A partir de ahí, el crecimiento es orgánico: cada nueva escuela que se suma agrega una nueva razón para visitar.</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Intendente, Esquel tiene aeropuerto, tiene naturaleza, tiene la mística de la Patagonia. Lo que le falta es un motivo nuevo para que el mundo mire hacia acá. La pregunta no es si esto puede funcionar. Bodh Gaya ya demostró que funciona. La pregunta no es si es riesgoso para el municipio. El riesgo es mínimo. La pregunta es si Esquel quiere ser la primera. Si la respuesta es sí, podemos empezar mañana.</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3"/>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4404925" y="804863"/>
            <a:ext cx="3018492"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DOCUMENTO CONFIDENCIAL · 2026</a:t>
            </a:r>
            <a:endParaRPr lang="en-US" sz="1050" dirty="0"/>
          </a:p>
        </p:txBody>
      </p:sp>
      <p:sp>
        <p:nvSpPr>
          <p:cNvPr id="6" name="Shape 4"/>
          <p:cNvSpPr/>
          <p:nvPr/>
        </p:nvSpPr>
        <p:spPr>
          <a:xfrm>
            <a:off x="952500" y="2288679"/>
            <a:ext cx="638175" cy="638175"/>
          </a:xfrm>
          <a:prstGeom prst="ellipse">
            <a:avLst/>
          </a:prstGeom>
          <a:ln w="14288">
            <a:solidFill>
              <a:srgbClr val="B58A3A"/>
            </a:solidFill>
            <a:prstDash val="solid"/>
          </a:ln>
        </p:spPr>
        <p:txBody>
          <a:bodyPr/>
          <a:lstStyle/>
          <a:p>
            <a:endParaRPr lang="en-AR"/>
          </a:p>
        </p:txBody>
      </p:sp>
      <p:sp>
        <p:nvSpPr>
          <p:cNvPr id="7" name="Text 5"/>
          <p:cNvSpPr/>
          <p:nvPr/>
        </p:nvSpPr>
        <p:spPr>
          <a:xfrm>
            <a:off x="952500" y="3460254"/>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PROPUESTA AL MUNICIPIO DE ESQUEL</a:t>
            </a:r>
            <a:endParaRPr lang="en-US" sz="1350" dirty="0"/>
          </a:p>
        </p:txBody>
      </p:sp>
      <p:sp>
        <p:nvSpPr>
          <p:cNvPr id="8" name="Text 6"/>
          <p:cNvSpPr/>
          <p:nvPr/>
        </p:nvSpPr>
        <p:spPr>
          <a:xfrm>
            <a:off x="952500" y="4012704"/>
            <a:ext cx="14716125" cy="2840757"/>
          </a:xfrm>
          <a:prstGeom prst="rect">
            <a:avLst/>
          </a:prstGeom>
          <a:noFill/>
          <a:ln/>
        </p:spPr>
        <p:txBody>
          <a:bodyPr wrap="square" lIns="25400" tIns="25400" rIns="25400" bIns="25400" rtlCol="0" anchor="t">
            <a:normAutofit/>
          </a:bodyPr>
          <a:lstStyle/>
          <a:p>
            <a:pPr marL="0" indent="0" algn="l">
              <a:lnSpc>
                <a:spcPct val="102000"/>
              </a:lnSpc>
              <a:buNone/>
            </a:pPr>
            <a:r>
              <a:rPr lang="en-US" sz="7200" kern="0" spc="-144" dirty="0">
                <a:solidFill>
                  <a:srgbClr val="14110D"/>
                </a:solidFill>
                <a:latin typeface="Georgia" pitchFamily="34" charset="0"/>
                <a:ea typeface="Georgia" pitchFamily="34" charset="-122"/>
                <a:cs typeface="Georgia" pitchFamily="34" charset="-120"/>
              </a:rPr>
              <a:t>Polo </a:t>
            </a:r>
            <a:r>
              <a:rPr lang="en-US" sz="7200" kern="0" spc="-144" dirty="0" err="1">
                <a:solidFill>
                  <a:srgbClr val="14110D"/>
                </a:solidFill>
                <a:latin typeface="Georgia" pitchFamily="34" charset="0"/>
                <a:ea typeface="Georgia" pitchFamily="34" charset="-122"/>
                <a:cs typeface="Georgia" pitchFamily="34" charset="-120"/>
              </a:rPr>
              <a:t>Espiritual</a:t>
            </a:r>
            <a:r>
              <a:rPr lang="en-US" sz="7200" kern="0" spc="-144" dirty="0">
                <a:solidFill>
                  <a:srgbClr val="14110D"/>
                </a:solidFill>
                <a:latin typeface="Georgia" pitchFamily="34" charset="0"/>
                <a:ea typeface="Georgia" pitchFamily="34" charset="-122"/>
                <a:cs typeface="Georgia" pitchFamily="34" charset="-120"/>
              </a:rPr>
              <a:t>, Cultural y </a:t>
            </a:r>
            <a:r>
              <a:rPr lang="en-US" sz="7200" kern="0" spc="-144" dirty="0" err="1">
                <a:solidFill>
                  <a:srgbClr val="14110D"/>
                </a:solidFill>
                <a:latin typeface="Georgia" pitchFamily="34" charset="0"/>
                <a:ea typeface="Georgia" pitchFamily="34" charset="-122"/>
                <a:cs typeface="Georgia" pitchFamily="34" charset="-120"/>
              </a:rPr>
              <a:t>Tecnológico</a:t>
            </a:r>
            <a:r>
              <a:rPr lang="en-US" sz="7200" kern="0" spc="-144" dirty="0">
                <a:solidFill>
                  <a:srgbClr val="14110D"/>
                </a:solidFill>
                <a:latin typeface="Georgia" pitchFamily="34" charset="0"/>
                <a:ea typeface="Georgia" pitchFamily="34" charset="-122"/>
                <a:cs typeface="Georgia" pitchFamily="34" charset="-120"/>
              </a:rPr>
              <a:t> </a:t>
            </a:r>
          </a:p>
          <a:p>
            <a:pPr marL="0" indent="0" algn="l">
              <a:lnSpc>
                <a:spcPct val="102000"/>
              </a:lnSpc>
              <a:buNone/>
            </a:pPr>
            <a:r>
              <a:rPr lang="en-US" sz="7200" i="1" kern="0" spc="-144" dirty="0">
                <a:solidFill>
                  <a:srgbClr val="8A6420"/>
                </a:solidFill>
                <a:latin typeface="Georgia" pitchFamily="34" charset="0"/>
                <a:ea typeface="Georgia" pitchFamily="34" charset="-122"/>
                <a:cs typeface="Georgia" pitchFamily="34" charset="-120"/>
              </a:rPr>
              <a:t>Shambhala </a:t>
            </a:r>
            <a:r>
              <a:rPr lang="en-US" sz="7200" i="1" kern="0" spc="-144" dirty="0" err="1">
                <a:solidFill>
                  <a:srgbClr val="8A6420"/>
                </a:solidFill>
                <a:latin typeface="Georgia" pitchFamily="34" charset="0"/>
                <a:ea typeface="Georgia" pitchFamily="34" charset="-122"/>
                <a:cs typeface="Georgia" pitchFamily="34" charset="-120"/>
              </a:rPr>
              <a:t>Patagonia</a:t>
            </a:r>
            <a:endParaRPr lang="en-US" sz="7200" dirty="0"/>
          </a:p>
        </p:txBody>
      </p:sp>
      <p:sp>
        <p:nvSpPr>
          <p:cNvPr id="9" name="Text 7"/>
          <p:cNvSpPr/>
          <p:nvPr/>
        </p:nvSpPr>
        <p:spPr>
          <a:xfrm>
            <a:off x="952500" y="7348761"/>
            <a:ext cx="8829675" cy="81141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100" dirty="0">
                <a:solidFill>
                  <a:srgbClr val="3A342A"/>
                </a:solidFill>
                <a:latin typeface="Georgia" pitchFamily="34" charset="0"/>
                <a:ea typeface="Georgia" pitchFamily="34" charset="-122"/>
                <a:cs typeface="Georgia" pitchFamily="34" charset="-120"/>
              </a:rPr>
              <a:t>Una propuesta para posicionar a Esquel como el primer polo espiritual, académico y tecnológico de las Américas.</a:t>
            </a:r>
            <a:endParaRPr lang="en-US" sz="2100" dirty="0"/>
          </a:p>
        </p:txBody>
      </p:sp>
      <p:sp>
        <p:nvSpPr>
          <p:cNvPr id="10" name="Shape 8"/>
          <p:cNvSpPr/>
          <p:nvPr/>
        </p:nvSpPr>
        <p:spPr>
          <a:xfrm>
            <a:off x="952500" y="9134475"/>
            <a:ext cx="16383000" cy="9525"/>
          </a:xfrm>
          <a:prstGeom prst="rect">
            <a:avLst/>
          </a:prstGeom>
          <a:solidFill>
            <a:srgbClr val="D9D2C0"/>
          </a:solidFill>
          <a:ln/>
        </p:spPr>
        <p:txBody>
          <a:bodyPr/>
          <a:lstStyle/>
          <a:p>
            <a:endParaRPr lang="en-AR"/>
          </a:p>
        </p:txBody>
      </p:sp>
      <p:sp>
        <p:nvSpPr>
          <p:cNvPr id="11" name="Text 9"/>
          <p:cNvSpPr/>
          <p:nvPr/>
        </p:nvSpPr>
        <p:spPr>
          <a:xfrm>
            <a:off x="952500" y="9372600"/>
            <a:ext cx="4485046"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PRESENTACIÓN · SR. INTENDENTE MATÍAS TACCETTA</a:t>
            </a:r>
            <a:endParaRPr lang="en-US" sz="1050" dirty="0"/>
          </a:p>
        </p:txBody>
      </p:sp>
      <p:sp>
        <p:nvSpPr>
          <p:cNvPr id="12" name="Text 10"/>
          <p:cNvSpPr/>
          <p:nvPr/>
        </p:nvSpPr>
        <p:spPr>
          <a:xfrm>
            <a:off x="14734505" y="9372600"/>
            <a:ext cx="267902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ESQUEL · CHUBUT · ARGENTINA</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3"/>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6644268" y="804863"/>
            <a:ext cx="767432"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AGENDA</a:t>
            </a:r>
            <a:endParaRPr lang="en-US" sz="1050" dirty="0"/>
          </a:p>
        </p:txBody>
      </p:sp>
      <p:sp>
        <p:nvSpPr>
          <p:cNvPr id="6" name="Text 4"/>
          <p:cNvSpPr/>
          <p:nvPr/>
        </p:nvSpPr>
        <p:spPr>
          <a:xfrm>
            <a:off x="952500" y="2038350"/>
            <a:ext cx="16874490" cy="233362"/>
          </a:xfrm>
          <a:prstGeom prst="rect">
            <a:avLst/>
          </a:prstGeom>
          <a:noFill/>
          <a:ln/>
        </p:spPr>
        <p:txBody>
          <a:bodyPr wrap="square" lIns="25400" tIns="25400" rIns="25400" bIns="25400" rtlCol="0" anchor="t">
            <a:normAutofit lnSpcReduction="10000"/>
          </a:bodyPr>
          <a:lstStyle/>
          <a:p>
            <a:pPr marL="0" indent="0" algn="l">
              <a:buNone/>
            </a:pPr>
            <a:r>
              <a:rPr lang="en-US" sz="1275" b="1" kern="0" spc="255" dirty="0">
                <a:solidFill>
                  <a:srgbClr val="8A6420"/>
                </a:solidFill>
                <a:latin typeface="Arial" pitchFamily="34" charset="0"/>
                <a:ea typeface="Arial" pitchFamily="34" charset="-122"/>
                <a:cs typeface="Arial" pitchFamily="34" charset="-120"/>
              </a:rPr>
              <a:t>— 00</a:t>
            </a:r>
            <a:endParaRPr lang="en-US" sz="1275" dirty="0"/>
          </a:p>
        </p:txBody>
      </p:sp>
      <p:sp>
        <p:nvSpPr>
          <p:cNvPr id="7" name="Text 5"/>
          <p:cNvSpPr/>
          <p:nvPr/>
        </p:nvSpPr>
        <p:spPr>
          <a:xfrm>
            <a:off x="952500" y="2462213"/>
            <a:ext cx="16874490" cy="1464469"/>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Recorrido </a:t>
            </a:r>
            <a:r>
              <a:rPr lang="en-US" sz="5400" i="1" kern="0" spc="-97" dirty="0">
                <a:solidFill>
                  <a:srgbClr val="8A6420"/>
                </a:solidFill>
                <a:latin typeface="Georgia" pitchFamily="34" charset="0"/>
                <a:ea typeface="Georgia" pitchFamily="34" charset="-122"/>
                <a:cs typeface="Georgia" pitchFamily="34" charset="-120"/>
              </a:rPr>
              <a:t>de la presentación</a:t>
            </a:r>
            <a:endParaRPr lang="en-US" sz="5400" dirty="0"/>
          </a:p>
        </p:txBody>
      </p:sp>
      <p:sp>
        <p:nvSpPr>
          <p:cNvPr id="8" name="Shape 6"/>
          <p:cNvSpPr/>
          <p:nvPr/>
        </p:nvSpPr>
        <p:spPr>
          <a:xfrm>
            <a:off x="952500" y="5174456"/>
            <a:ext cx="7810500" cy="9525"/>
          </a:xfrm>
          <a:prstGeom prst="rect">
            <a:avLst/>
          </a:prstGeom>
          <a:solidFill>
            <a:srgbClr val="D9D2C0"/>
          </a:solidFill>
          <a:ln/>
        </p:spPr>
        <p:txBody>
          <a:bodyPr/>
          <a:lstStyle/>
          <a:p>
            <a:endParaRPr lang="en-AR"/>
          </a:p>
        </p:txBody>
      </p:sp>
      <p:sp>
        <p:nvSpPr>
          <p:cNvPr id="9" name="Text 7"/>
          <p:cNvSpPr/>
          <p:nvPr/>
        </p:nvSpPr>
        <p:spPr>
          <a:xfrm>
            <a:off x="952500" y="4712494"/>
            <a:ext cx="647700" cy="266700"/>
          </a:xfrm>
          <a:prstGeom prst="rect">
            <a:avLst/>
          </a:prstGeom>
          <a:noFill/>
          <a:ln/>
        </p:spPr>
        <p:txBody>
          <a:bodyPr wrap="square" lIns="25400" tIns="25400" rIns="25400" bIns="25400" rtlCol="0" anchor="t">
            <a:normAutofit/>
          </a:bodyPr>
          <a:lstStyle/>
          <a:p>
            <a:pPr marL="0" indent="0" algn="l">
              <a:buNone/>
            </a:pPr>
            <a:r>
              <a:rPr lang="en-US" sz="1350" kern="0" spc="54" dirty="0">
                <a:solidFill>
                  <a:srgbClr val="8A6420"/>
                </a:solidFill>
                <a:latin typeface="Courier New" pitchFamily="34" charset="0"/>
                <a:ea typeface="Courier New" pitchFamily="34" charset="-122"/>
                <a:cs typeface="Courier New" pitchFamily="34" charset="-120"/>
              </a:rPr>
              <a:t>01</a:t>
            </a:r>
            <a:endParaRPr lang="en-US" sz="1350" dirty="0"/>
          </a:p>
        </p:txBody>
      </p:sp>
      <p:sp>
        <p:nvSpPr>
          <p:cNvPr id="10" name="Text 8"/>
          <p:cNvSpPr/>
          <p:nvPr/>
        </p:nvSpPr>
        <p:spPr>
          <a:xfrm>
            <a:off x="1752600" y="4631531"/>
            <a:ext cx="7220712" cy="37147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100" dirty="0">
                <a:solidFill>
                  <a:srgbClr val="14110D"/>
                </a:solidFill>
                <a:latin typeface="Georgia" pitchFamily="34" charset="0"/>
                <a:ea typeface="Georgia" pitchFamily="34" charset="-122"/>
                <a:cs typeface="Georgia" pitchFamily="34" charset="-120"/>
              </a:rPr>
              <a:t>El problema que tenemos en común</a:t>
            </a:r>
            <a:endParaRPr lang="en-US" sz="2100" dirty="0"/>
          </a:p>
        </p:txBody>
      </p:sp>
      <p:sp>
        <p:nvSpPr>
          <p:cNvPr id="11" name="Shape 9"/>
          <p:cNvSpPr/>
          <p:nvPr/>
        </p:nvSpPr>
        <p:spPr>
          <a:xfrm>
            <a:off x="952500" y="5936456"/>
            <a:ext cx="7810500" cy="9525"/>
          </a:xfrm>
          <a:prstGeom prst="rect">
            <a:avLst/>
          </a:prstGeom>
          <a:solidFill>
            <a:srgbClr val="D9D2C0"/>
          </a:solidFill>
          <a:ln/>
        </p:spPr>
        <p:txBody>
          <a:bodyPr/>
          <a:lstStyle/>
          <a:p>
            <a:endParaRPr lang="en-AR"/>
          </a:p>
        </p:txBody>
      </p:sp>
      <p:sp>
        <p:nvSpPr>
          <p:cNvPr id="12" name="Text 10"/>
          <p:cNvSpPr/>
          <p:nvPr/>
        </p:nvSpPr>
        <p:spPr>
          <a:xfrm>
            <a:off x="952500" y="5474494"/>
            <a:ext cx="647700" cy="266700"/>
          </a:xfrm>
          <a:prstGeom prst="rect">
            <a:avLst/>
          </a:prstGeom>
          <a:noFill/>
          <a:ln/>
        </p:spPr>
        <p:txBody>
          <a:bodyPr wrap="square" lIns="25400" tIns="25400" rIns="25400" bIns="25400" rtlCol="0" anchor="t">
            <a:normAutofit/>
          </a:bodyPr>
          <a:lstStyle/>
          <a:p>
            <a:pPr marL="0" indent="0" algn="l">
              <a:buNone/>
            </a:pPr>
            <a:r>
              <a:rPr lang="en-US" sz="1350" kern="0" spc="54" dirty="0">
                <a:solidFill>
                  <a:srgbClr val="8A6420"/>
                </a:solidFill>
                <a:latin typeface="Courier New" pitchFamily="34" charset="0"/>
                <a:ea typeface="Courier New" pitchFamily="34" charset="-122"/>
                <a:cs typeface="Courier New" pitchFamily="34" charset="-120"/>
              </a:rPr>
              <a:t>02</a:t>
            </a:r>
            <a:endParaRPr lang="en-US" sz="1350" dirty="0"/>
          </a:p>
        </p:txBody>
      </p:sp>
      <p:sp>
        <p:nvSpPr>
          <p:cNvPr id="13" name="Text 11"/>
          <p:cNvSpPr/>
          <p:nvPr/>
        </p:nvSpPr>
        <p:spPr>
          <a:xfrm>
            <a:off x="1752600" y="5393531"/>
            <a:ext cx="7220712" cy="37147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100" dirty="0">
                <a:solidFill>
                  <a:srgbClr val="14110D"/>
                </a:solidFill>
                <a:latin typeface="Georgia" pitchFamily="34" charset="0"/>
                <a:ea typeface="Georgia" pitchFamily="34" charset="-122"/>
                <a:cs typeface="Georgia" pitchFamily="34" charset="-120"/>
              </a:rPr>
              <a:t>Una oportunidad global no </a:t>
            </a:r>
            <a:r>
              <a:rPr lang="en-US" sz="2100" dirty="0" err="1">
                <a:solidFill>
                  <a:srgbClr val="14110D"/>
                </a:solidFill>
                <a:latin typeface="Georgia" pitchFamily="34" charset="0"/>
                <a:ea typeface="Georgia" pitchFamily="34" charset="-122"/>
                <a:cs typeface="Georgia" pitchFamily="34" charset="-120"/>
              </a:rPr>
              <a:t>explotada</a:t>
            </a:r>
            <a:endParaRPr lang="en-US" sz="2100" dirty="0"/>
          </a:p>
        </p:txBody>
      </p:sp>
      <p:sp>
        <p:nvSpPr>
          <p:cNvPr id="14" name="Shape 12"/>
          <p:cNvSpPr/>
          <p:nvPr/>
        </p:nvSpPr>
        <p:spPr>
          <a:xfrm>
            <a:off x="952500" y="6698456"/>
            <a:ext cx="7810500" cy="9525"/>
          </a:xfrm>
          <a:prstGeom prst="rect">
            <a:avLst/>
          </a:prstGeom>
          <a:solidFill>
            <a:srgbClr val="D9D2C0"/>
          </a:solidFill>
          <a:ln/>
        </p:spPr>
        <p:txBody>
          <a:bodyPr/>
          <a:lstStyle/>
          <a:p>
            <a:endParaRPr lang="en-AR"/>
          </a:p>
        </p:txBody>
      </p:sp>
      <p:sp>
        <p:nvSpPr>
          <p:cNvPr id="15" name="Text 13"/>
          <p:cNvSpPr/>
          <p:nvPr/>
        </p:nvSpPr>
        <p:spPr>
          <a:xfrm>
            <a:off x="952500" y="6236494"/>
            <a:ext cx="647700" cy="266700"/>
          </a:xfrm>
          <a:prstGeom prst="rect">
            <a:avLst/>
          </a:prstGeom>
          <a:noFill/>
          <a:ln/>
        </p:spPr>
        <p:txBody>
          <a:bodyPr wrap="square" lIns="25400" tIns="25400" rIns="25400" bIns="25400" rtlCol="0" anchor="t">
            <a:normAutofit/>
          </a:bodyPr>
          <a:lstStyle/>
          <a:p>
            <a:pPr marL="0" indent="0" algn="l">
              <a:buNone/>
            </a:pPr>
            <a:r>
              <a:rPr lang="en-US" sz="1350" kern="0" spc="54" dirty="0">
                <a:solidFill>
                  <a:srgbClr val="8A6420"/>
                </a:solidFill>
                <a:latin typeface="Courier New" pitchFamily="34" charset="0"/>
                <a:ea typeface="Courier New" pitchFamily="34" charset="-122"/>
                <a:cs typeface="Courier New" pitchFamily="34" charset="-120"/>
              </a:rPr>
              <a:t>03</a:t>
            </a:r>
            <a:endParaRPr lang="en-US" sz="1350" dirty="0"/>
          </a:p>
        </p:txBody>
      </p:sp>
      <p:sp>
        <p:nvSpPr>
          <p:cNvPr id="16" name="Text 14"/>
          <p:cNvSpPr/>
          <p:nvPr/>
        </p:nvSpPr>
        <p:spPr>
          <a:xfrm>
            <a:off x="1752600" y="6155531"/>
            <a:ext cx="7220712" cy="37147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100" dirty="0">
                <a:solidFill>
                  <a:srgbClr val="14110D"/>
                </a:solidFill>
                <a:latin typeface="Georgia" pitchFamily="34" charset="0"/>
                <a:ea typeface="Georgia" pitchFamily="34" charset="-122"/>
                <a:cs typeface="Georgia" pitchFamily="34" charset="-120"/>
              </a:rPr>
              <a:t>La propuesta inicial: el circuito</a:t>
            </a:r>
            <a:endParaRPr lang="en-US" sz="2100" dirty="0"/>
          </a:p>
        </p:txBody>
      </p:sp>
      <p:sp>
        <p:nvSpPr>
          <p:cNvPr id="17" name="Shape 15"/>
          <p:cNvSpPr/>
          <p:nvPr/>
        </p:nvSpPr>
        <p:spPr>
          <a:xfrm>
            <a:off x="9525000" y="5174456"/>
            <a:ext cx="7810500" cy="9525"/>
          </a:xfrm>
          <a:prstGeom prst="rect">
            <a:avLst/>
          </a:prstGeom>
          <a:solidFill>
            <a:srgbClr val="D9D2C0"/>
          </a:solidFill>
          <a:ln/>
        </p:spPr>
        <p:txBody>
          <a:bodyPr/>
          <a:lstStyle/>
          <a:p>
            <a:endParaRPr lang="en-AR"/>
          </a:p>
        </p:txBody>
      </p:sp>
      <p:sp>
        <p:nvSpPr>
          <p:cNvPr id="18" name="Text 16"/>
          <p:cNvSpPr/>
          <p:nvPr/>
        </p:nvSpPr>
        <p:spPr>
          <a:xfrm>
            <a:off x="9525000" y="4712494"/>
            <a:ext cx="647700" cy="266700"/>
          </a:xfrm>
          <a:prstGeom prst="rect">
            <a:avLst/>
          </a:prstGeom>
          <a:noFill/>
          <a:ln/>
        </p:spPr>
        <p:txBody>
          <a:bodyPr wrap="square" lIns="25400" tIns="25400" rIns="25400" bIns="25400" rtlCol="0" anchor="t">
            <a:normAutofit/>
          </a:bodyPr>
          <a:lstStyle/>
          <a:p>
            <a:pPr marL="0" indent="0" algn="l">
              <a:buNone/>
            </a:pPr>
            <a:r>
              <a:rPr lang="en-US" sz="1350" kern="0" spc="54" dirty="0">
                <a:solidFill>
                  <a:srgbClr val="8A6420"/>
                </a:solidFill>
                <a:latin typeface="Courier New" pitchFamily="34" charset="0"/>
                <a:ea typeface="Courier New" pitchFamily="34" charset="-122"/>
                <a:cs typeface="Courier New" pitchFamily="34" charset="-120"/>
              </a:rPr>
              <a:t>04</a:t>
            </a:r>
            <a:endParaRPr lang="en-US" sz="1350" dirty="0"/>
          </a:p>
        </p:txBody>
      </p:sp>
      <p:sp>
        <p:nvSpPr>
          <p:cNvPr id="19" name="Text 17"/>
          <p:cNvSpPr/>
          <p:nvPr/>
        </p:nvSpPr>
        <p:spPr>
          <a:xfrm>
            <a:off x="10325100" y="4631531"/>
            <a:ext cx="7220712" cy="37147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100" dirty="0">
                <a:solidFill>
                  <a:srgbClr val="14110D"/>
                </a:solidFill>
                <a:latin typeface="Georgia" pitchFamily="34" charset="0"/>
                <a:ea typeface="Georgia" pitchFamily="34" charset="-122"/>
                <a:cs typeface="Georgia" pitchFamily="34" charset="-120"/>
              </a:rPr>
              <a:t>Cinco motores que multiplican el impacto</a:t>
            </a:r>
            <a:endParaRPr lang="en-US" sz="2100" dirty="0"/>
          </a:p>
        </p:txBody>
      </p:sp>
      <p:sp>
        <p:nvSpPr>
          <p:cNvPr id="20" name="Shape 18"/>
          <p:cNvSpPr/>
          <p:nvPr/>
        </p:nvSpPr>
        <p:spPr>
          <a:xfrm>
            <a:off x="9525000" y="5936456"/>
            <a:ext cx="7810500" cy="9525"/>
          </a:xfrm>
          <a:prstGeom prst="rect">
            <a:avLst/>
          </a:prstGeom>
          <a:solidFill>
            <a:srgbClr val="D9D2C0"/>
          </a:solidFill>
          <a:ln/>
        </p:spPr>
        <p:txBody>
          <a:bodyPr/>
          <a:lstStyle/>
          <a:p>
            <a:endParaRPr lang="en-AR"/>
          </a:p>
        </p:txBody>
      </p:sp>
      <p:sp>
        <p:nvSpPr>
          <p:cNvPr id="21" name="Text 19"/>
          <p:cNvSpPr/>
          <p:nvPr/>
        </p:nvSpPr>
        <p:spPr>
          <a:xfrm>
            <a:off x="9525000" y="5474494"/>
            <a:ext cx="647700" cy="266700"/>
          </a:xfrm>
          <a:prstGeom prst="rect">
            <a:avLst/>
          </a:prstGeom>
          <a:noFill/>
          <a:ln/>
        </p:spPr>
        <p:txBody>
          <a:bodyPr wrap="square" lIns="25400" tIns="25400" rIns="25400" bIns="25400" rtlCol="0" anchor="t">
            <a:normAutofit/>
          </a:bodyPr>
          <a:lstStyle/>
          <a:p>
            <a:pPr marL="0" indent="0" algn="l">
              <a:buNone/>
            </a:pPr>
            <a:r>
              <a:rPr lang="en-US" sz="1350" kern="0" spc="54" dirty="0">
                <a:solidFill>
                  <a:srgbClr val="8A6420"/>
                </a:solidFill>
                <a:latin typeface="Courier New" pitchFamily="34" charset="0"/>
                <a:ea typeface="Courier New" pitchFamily="34" charset="-122"/>
                <a:cs typeface="Courier New" pitchFamily="34" charset="-120"/>
              </a:rPr>
              <a:t>05</a:t>
            </a:r>
            <a:endParaRPr lang="en-US" sz="1350" dirty="0"/>
          </a:p>
        </p:txBody>
      </p:sp>
      <p:sp>
        <p:nvSpPr>
          <p:cNvPr id="22" name="Text 20"/>
          <p:cNvSpPr/>
          <p:nvPr/>
        </p:nvSpPr>
        <p:spPr>
          <a:xfrm>
            <a:off x="10325100" y="5393531"/>
            <a:ext cx="7220712" cy="37147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100" dirty="0">
                <a:solidFill>
                  <a:srgbClr val="14110D"/>
                </a:solidFill>
                <a:latin typeface="Georgia" pitchFamily="34" charset="0"/>
                <a:ea typeface="Georgia" pitchFamily="34" charset="-122"/>
                <a:cs typeface="Georgia" pitchFamily="34" charset="-120"/>
              </a:rPr>
              <a:t>Modelo económico y pedido al municipio</a:t>
            </a:r>
            <a:endParaRPr lang="en-US" sz="2100" dirty="0"/>
          </a:p>
        </p:txBody>
      </p:sp>
      <p:sp>
        <p:nvSpPr>
          <p:cNvPr id="23" name="Shape 21"/>
          <p:cNvSpPr/>
          <p:nvPr/>
        </p:nvSpPr>
        <p:spPr>
          <a:xfrm>
            <a:off x="9525000" y="6698456"/>
            <a:ext cx="7810500" cy="9525"/>
          </a:xfrm>
          <a:prstGeom prst="rect">
            <a:avLst/>
          </a:prstGeom>
          <a:solidFill>
            <a:srgbClr val="D9D2C0"/>
          </a:solidFill>
          <a:ln/>
        </p:spPr>
        <p:txBody>
          <a:bodyPr/>
          <a:lstStyle/>
          <a:p>
            <a:endParaRPr lang="en-AR"/>
          </a:p>
        </p:txBody>
      </p:sp>
      <p:sp>
        <p:nvSpPr>
          <p:cNvPr id="24" name="Text 22"/>
          <p:cNvSpPr/>
          <p:nvPr/>
        </p:nvSpPr>
        <p:spPr>
          <a:xfrm>
            <a:off x="9525000" y="6236494"/>
            <a:ext cx="647700" cy="266700"/>
          </a:xfrm>
          <a:prstGeom prst="rect">
            <a:avLst/>
          </a:prstGeom>
          <a:noFill/>
          <a:ln/>
        </p:spPr>
        <p:txBody>
          <a:bodyPr wrap="square" lIns="25400" tIns="25400" rIns="25400" bIns="25400" rtlCol="0" anchor="t">
            <a:normAutofit/>
          </a:bodyPr>
          <a:lstStyle/>
          <a:p>
            <a:pPr marL="0" indent="0" algn="l">
              <a:buNone/>
            </a:pPr>
            <a:r>
              <a:rPr lang="en-US" sz="1350" kern="0" spc="54" dirty="0">
                <a:solidFill>
                  <a:srgbClr val="8A6420"/>
                </a:solidFill>
                <a:latin typeface="Courier New" pitchFamily="34" charset="0"/>
                <a:ea typeface="Courier New" pitchFamily="34" charset="-122"/>
                <a:cs typeface="Courier New" pitchFamily="34" charset="-120"/>
              </a:rPr>
              <a:t>06</a:t>
            </a:r>
            <a:endParaRPr lang="en-US" sz="1350" dirty="0"/>
          </a:p>
        </p:txBody>
      </p:sp>
      <p:sp>
        <p:nvSpPr>
          <p:cNvPr id="25" name="Text 23"/>
          <p:cNvSpPr/>
          <p:nvPr/>
        </p:nvSpPr>
        <p:spPr>
          <a:xfrm>
            <a:off x="10325100" y="6155531"/>
            <a:ext cx="7220712" cy="37147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100" dirty="0">
                <a:solidFill>
                  <a:srgbClr val="14110D"/>
                </a:solidFill>
                <a:latin typeface="Georgia" pitchFamily="34" charset="0"/>
                <a:ea typeface="Georgia" pitchFamily="34" charset="-122"/>
                <a:cs typeface="Georgia" pitchFamily="34" charset="-120"/>
              </a:rPr>
              <a:t>Riesgo, impacto y próximos pasos</a:t>
            </a:r>
            <a:endParaRPr lang="en-US" sz="2100" dirty="0"/>
          </a:p>
        </p:txBody>
      </p:sp>
      <p:sp>
        <p:nvSpPr>
          <p:cNvPr id="26" name="Shape 24"/>
          <p:cNvSpPr/>
          <p:nvPr/>
        </p:nvSpPr>
        <p:spPr>
          <a:xfrm>
            <a:off x="952500" y="9134475"/>
            <a:ext cx="16383000" cy="9525"/>
          </a:xfrm>
          <a:prstGeom prst="rect">
            <a:avLst/>
          </a:prstGeom>
          <a:solidFill>
            <a:srgbClr val="D9D2C0"/>
          </a:solidFill>
          <a:ln/>
        </p:spPr>
        <p:txBody>
          <a:bodyPr/>
          <a:lstStyle/>
          <a:p>
            <a:endParaRPr lang="en-AR"/>
          </a:p>
        </p:txBody>
      </p:sp>
      <p:sp>
        <p:nvSpPr>
          <p:cNvPr id="27" name="Text 25"/>
          <p:cNvSpPr/>
          <p:nvPr/>
        </p:nvSpPr>
        <p:spPr>
          <a:xfrm>
            <a:off x="952500" y="9372600"/>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28" name="Text 26"/>
          <p:cNvSpPr/>
          <p:nvPr/>
        </p:nvSpPr>
        <p:spPr>
          <a:xfrm>
            <a:off x="16796965" y="93726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02 / 40 </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ECE0"/>
        </a:solidFill>
        <a:effectLst/>
      </p:bgPr>
    </p:bg>
    <p:spTree>
      <p:nvGrpSpPr>
        <p:cNvPr id="1" name=""/>
        <p:cNvGrpSpPr/>
        <p:nvPr/>
      </p:nvGrpSpPr>
      <p:grpSpPr>
        <a:xfrm>
          <a:off x="0" y="0"/>
          <a:ext cx="0" cy="0"/>
          <a:chOff x="0" y="0"/>
          <a:chExt cx="0" cy="0"/>
        </a:xfrm>
      </p:grpSpPr>
      <p:sp>
        <p:nvSpPr>
          <p:cNvPr id="2" name="Shape 0"/>
          <p:cNvSpPr/>
          <p:nvPr/>
        </p:nvSpPr>
        <p:spPr>
          <a:xfrm>
            <a:off x="952500" y="1457325"/>
            <a:ext cx="16383000" cy="9525"/>
          </a:xfrm>
          <a:prstGeom prst="rect">
            <a:avLst/>
          </a:prstGeom>
          <a:solidFill>
            <a:srgbClr val="D9D2C0"/>
          </a:solidFill>
          <a:ln/>
        </p:spPr>
        <p:txBody>
          <a:bodyPr/>
          <a:lstStyle/>
          <a:p>
            <a:endParaRPr lang="en-AR"/>
          </a:p>
        </p:txBody>
      </p:sp>
      <p:sp>
        <p:nvSpPr>
          <p:cNvPr id="3" name="Shape 1"/>
          <p:cNvSpPr/>
          <p:nvPr/>
        </p:nvSpPr>
        <p:spPr>
          <a:xfrm>
            <a:off x="952500" y="9525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9786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6248534" y="995363"/>
            <a:ext cx="1163166"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CAPÍTULO 01</a:t>
            </a:r>
            <a:endParaRPr lang="en-US" sz="1050" dirty="0"/>
          </a:p>
        </p:txBody>
      </p:sp>
      <p:sp>
        <p:nvSpPr>
          <p:cNvPr id="6" name="Text 4"/>
          <p:cNvSpPr/>
          <p:nvPr/>
        </p:nvSpPr>
        <p:spPr>
          <a:xfrm>
            <a:off x="952500" y="3648596"/>
            <a:ext cx="8829675" cy="233362"/>
          </a:xfrm>
          <a:prstGeom prst="rect">
            <a:avLst/>
          </a:prstGeom>
          <a:noFill/>
          <a:ln/>
        </p:spPr>
        <p:txBody>
          <a:bodyPr wrap="square" lIns="25400" tIns="25400" rIns="25400" bIns="25400" rtlCol="0" anchor="t">
            <a:normAutofit lnSpcReduction="10000"/>
          </a:bodyPr>
          <a:lstStyle/>
          <a:p>
            <a:pPr marL="0" indent="0" algn="l">
              <a:buNone/>
            </a:pPr>
            <a:r>
              <a:rPr lang="en-US" sz="1275" b="1" kern="0" spc="255" dirty="0">
                <a:solidFill>
                  <a:srgbClr val="8A6420"/>
                </a:solidFill>
                <a:latin typeface="Arial" pitchFamily="34" charset="0"/>
                <a:ea typeface="Arial" pitchFamily="34" charset="-122"/>
                <a:cs typeface="Arial" pitchFamily="34" charset="-120"/>
              </a:rPr>
              <a:t>— 01</a:t>
            </a:r>
            <a:endParaRPr lang="en-US" sz="1275" dirty="0"/>
          </a:p>
        </p:txBody>
      </p:sp>
      <p:sp>
        <p:nvSpPr>
          <p:cNvPr id="7" name="Text 5"/>
          <p:cNvSpPr/>
          <p:nvPr/>
        </p:nvSpPr>
        <p:spPr>
          <a:xfrm>
            <a:off x="952500" y="4110558"/>
            <a:ext cx="8829675" cy="142488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10500" kern="0" spc="-189" dirty="0">
                <a:solidFill>
                  <a:srgbClr val="14110D"/>
                </a:solidFill>
                <a:latin typeface="Georgia" pitchFamily="34" charset="0"/>
                <a:ea typeface="Georgia" pitchFamily="34" charset="-122"/>
                <a:cs typeface="Georgia" pitchFamily="34" charset="-120"/>
              </a:rPr>
              <a:t>El Problema</a:t>
            </a:r>
            <a:endParaRPr lang="en-US" sz="10500" dirty="0"/>
          </a:p>
        </p:txBody>
      </p:sp>
      <p:sp>
        <p:nvSpPr>
          <p:cNvPr id="8" name="Text 6"/>
          <p:cNvSpPr/>
          <p:nvPr/>
        </p:nvSpPr>
        <p:spPr>
          <a:xfrm>
            <a:off x="952500" y="5878339"/>
            <a:ext cx="8829675" cy="92199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2400" dirty="0">
                <a:solidFill>
                  <a:srgbClr val="3A342A"/>
                </a:solidFill>
                <a:latin typeface="Georgia" pitchFamily="34" charset="0"/>
                <a:ea typeface="Georgia" pitchFamily="34" charset="-122"/>
                <a:cs typeface="Georgia" pitchFamily="34" charset="-120"/>
              </a:rPr>
              <a:t>Una marca turística construida en décadas, perdida en una temporada.</a:t>
            </a:r>
            <a:endParaRPr lang="en-US" sz="2400" dirty="0"/>
          </a:p>
        </p:txBody>
      </p:sp>
      <p:sp>
        <p:nvSpPr>
          <p:cNvPr id="9" name="Shape 7"/>
          <p:cNvSpPr/>
          <p:nvPr/>
        </p:nvSpPr>
        <p:spPr>
          <a:xfrm>
            <a:off x="952500" y="8943975"/>
            <a:ext cx="16383000" cy="9525"/>
          </a:xfrm>
          <a:prstGeom prst="rect">
            <a:avLst/>
          </a:prstGeom>
          <a:solidFill>
            <a:srgbClr val="D9D2C0"/>
          </a:solidFill>
          <a:ln/>
        </p:spPr>
        <p:txBody>
          <a:bodyPr/>
          <a:lstStyle/>
          <a:p>
            <a:endParaRPr lang="en-AR"/>
          </a:p>
        </p:txBody>
      </p:sp>
      <p:sp>
        <p:nvSpPr>
          <p:cNvPr id="10" name="Text 8"/>
          <p:cNvSpPr/>
          <p:nvPr/>
        </p:nvSpPr>
        <p:spPr>
          <a:xfrm>
            <a:off x="952500" y="9182100"/>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11" name="Text 9"/>
          <p:cNvSpPr/>
          <p:nvPr/>
        </p:nvSpPr>
        <p:spPr>
          <a:xfrm>
            <a:off x="16796965" y="91821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03 / 40 </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3"/>
        </a:solidFill>
        <a:effectLst/>
      </p:bgPr>
    </p:bg>
    <p:spTree>
      <p:nvGrpSpPr>
        <p:cNvPr id="1" name=""/>
        <p:cNvGrpSpPr/>
        <p:nvPr/>
      </p:nvGrpSpPr>
      <p:grpSpPr>
        <a:xfrm>
          <a:off x="0" y="0"/>
          <a:ext cx="0" cy="0"/>
          <a:chOff x="0" y="0"/>
          <a:chExt cx="0" cy="0"/>
        </a:xfrm>
      </p:grpSpPr>
      <p:sp>
        <p:nvSpPr>
          <p:cNvPr id="2" name="Shape 0"/>
          <p:cNvSpPr/>
          <p:nvPr/>
        </p:nvSpPr>
        <p:spPr>
          <a:xfrm>
            <a:off x="0" y="0"/>
            <a:ext cx="9144000" cy="10287000"/>
          </a:xfrm>
          <a:prstGeom prst="rect">
            <a:avLst/>
          </a:prstGeom>
          <a:solidFill>
            <a:srgbClr val="F1ECE0"/>
          </a:solidFill>
          <a:ln/>
        </p:spPr>
        <p:txBody>
          <a:bodyPr/>
          <a:lstStyle/>
          <a:p>
            <a:endParaRPr lang="en-AR"/>
          </a:p>
        </p:txBody>
      </p:sp>
      <p:sp>
        <p:nvSpPr>
          <p:cNvPr id="3" name="Text 1"/>
          <p:cNvSpPr/>
          <p:nvPr/>
        </p:nvSpPr>
        <p:spPr>
          <a:xfrm>
            <a:off x="95250" y="133350"/>
            <a:ext cx="1681237" cy="166688"/>
          </a:xfrm>
          <a:prstGeom prst="rect">
            <a:avLst/>
          </a:prstGeom>
          <a:noFill/>
          <a:ln/>
        </p:spPr>
        <p:txBody>
          <a:bodyPr wrap="square" lIns="25400" tIns="25400" rIns="25400" bIns="25400" rtlCol="0" anchor="t">
            <a:normAutofit fontScale="92500" lnSpcReduction="10000"/>
          </a:bodyPr>
          <a:lstStyle/>
          <a:p>
            <a:pPr marL="0" indent="0" algn="ctr">
              <a:buNone/>
            </a:pPr>
            <a:r>
              <a:rPr lang="en-US" sz="900" kern="0" spc="162" dirty="0">
                <a:solidFill>
                  <a:srgbClr val="8A8170"/>
                </a:solidFill>
                <a:latin typeface="Courier New" pitchFamily="34" charset="0"/>
                <a:ea typeface="Courier New" pitchFamily="34" charset="-122"/>
                <a:cs typeface="Courier New" pitchFamily="34" charset="-120"/>
              </a:rPr>
              <a:t>[ IMG · 960×1080 ]</a:t>
            </a:r>
            <a:endParaRPr lang="en-US" sz="900" dirty="0"/>
          </a:p>
        </p:txBody>
      </p:sp>
      <p:sp>
        <p:nvSpPr>
          <p:cNvPr id="6" name="Shape 4"/>
          <p:cNvSpPr/>
          <p:nvPr/>
        </p:nvSpPr>
        <p:spPr>
          <a:xfrm>
            <a:off x="10001250" y="762000"/>
            <a:ext cx="238125" cy="238125"/>
          </a:xfrm>
          <a:prstGeom prst="ellipse">
            <a:avLst/>
          </a:prstGeom>
          <a:ln w="14288">
            <a:solidFill>
              <a:srgbClr val="8A6420"/>
            </a:solidFill>
            <a:prstDash val="solid"/>
          </a:ln>
        </p:spPr>
        <p:txBody>
          <a:bodyPr/>
          <a:lstStyle/>
          <a:p>
            <a:endParaRPr lang="en-AR"/>
          </a:p>
        </p:txBody>
      </p:sp>
      <p:sp>
        <p:nvSpPr>
          <p:cNvPr id="7" name="Text 5"/>
          <p:cNvSpPr/>
          <p:nvPr/>
        </p:nvSpPr>
        <p:spPr>
          <a:xfrm>
            <a:off x="10372725" y="788194"/>
            <a:ext cx="1346969"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CAPÍTULO 01</a:t>
            </a:r>
            <a:endParaRPr lang="en-US" sz="1200" dirty="0"/>
          </a:p>
        </p:txBody>
      </p:sp>
      <p:sp>
        <p:nvSpPr>
          <p:cNvPr id="8" name="Text 6"/>
          <p:cNvSpPr/>
          <p:nvPr/>
        </p:nvSpPr>
        <p:spPr>
          <a:xfrm>
            <a:off x="10001250" y="2772891"/>
            <a:ext cx="7652385"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LO QUE PERDIMOS</a:t>
            </a:r>
            <a:endParaRPr lang="en-US" sz="1350" dirty="0"/>
          </a:p>
        </p:txBody>
      </p:sp>
      <p:sp>
        <p:nvSpPr>
          <p:cNvPr id="9" name="Text 7"/>
          <p:cNvSpPr/>
          <p:nvPr/>
        </p:nvSpPr>
        <p:spPr>
          <a:xfrm>
            <a:off x="10001250" y="3249141"/>
            <a:ext cx="7652385" cy="1318171"/>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800" kern="0" spc="-86" dirty="0">
                <a:solidFill>
                  <a:srgbClr val="14110D"/>
                </a:solidFill>
                <a:latin typeface="Georgia" pitchFamily="34" charset="0"/>
                <a:ea typeface="Georgia" pitchFamily="34" charset="-122"/>
                <a:cs typeface="Georgia" pitchFamily="34" charset="-120"/>
              </a:rPr>
              <a:t>Los incendios no solo devastaron </a:t>
            </a:r>
            <a:r>
              <a:rPr lang="en-US" sz="4800" i="1" kern="0" spc="-86" dirty="0">
                <a:solidFill>
                  <a:srgbClr val="8A6420"/>
                </a:solidFill>
                <a:latin typeface="Georgia" pitchFamily="34" charset="0"/>
                <a:ea typeface="Georgia" pitchFamily="34" charset="-122"/>
                <a:cs typeface="Georgia" pitchFamily="34" charset="-120"/>
              </a:rPr>
              <a:t>hectáreas</a:t>
            </a:r>
            <a:r>
              <a:rPr lang="en-US" sz="4800" kern="0" spc="-86" dirty="0">
                <a:solidFill>
                  <a:srgbClr val="14110D"/>
                </a:solidFill>
                <a:latin typeface="Georgia" pitchFamily="34" charset="0"/>
                <a:ea typeface="Georgia" pitchFamily="34" charset="-122"/>
                <a:cs typeface="Georgia" pitchFamily="34" charset="-120"/>
              </a:rPr>
              <a:t>.</a:t>
            </a:r>
            <a:endParaRPr lang="en-US" sz="4800" dirty="0"/>
          </a:p>
        </p:txBody>
      </p:sp>
      <p:sp>
        <p:nvSpPr>
          <p:cNvPr id="10" name="Text 8"/>
          <p:cNvSpPr/>
          <p:nvPr/>
        </p:nvSpPr>
        <p:spPr>
          <a:xfrm>
            <a:off x="10001250" y="4872112"/>
            <a:ext cx="7652385" cy="1198066"/>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100" dirty="0">
                <a:solidFill>
                  <a:srgbClr val="3A342A"/>
                </a:solidFill>
                <a:latin typeface="Georgia" pitchFamily="34" charset="0"/>
                <a:ea typeface="Georgia" pitchFamily="34" charset="-122"/>
                <a:cs typeface="Georgia" pitchFamily="34" charset="-120"/>
              </a:rPr>
              <a:t>Devastaron una marca turística que tardó décadas en construirse. Y con el turismo bajó la cadena completa: gastronomía, hotelería, comercio, transporte.</a:t>
            </a:r>
            <a:endParaRPr lang="en-US" sz="2100" dirty="0"/>
          </a:p>
        </p:txBody>
      </p:sp>
      <p:sp>
        <p:nvSpPr>
          <p:cNvPr id="11" name="Shape 9"/>
          <p:cNvSpPr/>
          <p:nvPr/>
        </p:nvSpPr>
        <p:spPr>
          <a:xfrm>
            <a:off x="10001250" y="6603578"/>
            <a:ext cx="7429500" cy="9525"/>
          </a:xfrm>
          <a:prstGeom prst="rect">
            <a:avLst/>
          </a:prstGeom>
          <a:solidFill>
            <a:srgbClr val="D9D2C0"/>
          </a:solidFill>
          <a:ln/>
        </p:spPr>
        <p:txBody>
          <a:bodyPr/>
          <a:lstStyle/>
          <a:p>
            <a:endParaRPr lang="en-AR"/>
          </a:p>
        </p:txBody>
      </p:sp>
      <p:sp>
        <p:nvSpPr>
          <p:cNvPr id="12" name="Text 10"/>
          <p:cNvSpPr/>
          <p:nvPr/>
        </p:nvSpPr>
        <p:spPr>
          <a:xfrm>
            <a:off x="10001250" y="6917903"/>
            <a:ext cx="3669221" cy="200025"/>
          </a:xfrm>
          <a:prstGeom prst="rect">
            <a:avLst/>
          </a:prstGeom>
          <a:noFill/>
          <a:ln/>
        </p:spPr>
        <p:txBody>
          <a:bodyPr wrap="square" lIns="25400" tIns="25400" rIns="25400" bIns="25400" rtlCol="0" anchor="t">
            <a:normAutofit lnSpcReduction="10000"/>
          </a:bodyPr>
          <a:lstStyle/>
          <a:p>
            <a:pPr marL="0" indent="0" algn="l">
              <a:buNone/>
            </a:pPr>
            <a:r>
              <a:rPr lang="en-US" sz="1050" kern="0" spc="168" dirty="0">
                <a:solidFill>
                  <a:srgbClr val="8A6420"/>
                </a:solidFill>
                <a:latin typeface="Arial" pitchFamily="34" charset="0"/>
                <a:ea typeface="Arial" pitchFamily="34" charset="-122"/>
                <a:cs typeface="Arial" pitchFamily="34" charset="-120"/>
              </a:rPr>
              <a:t>CADENA AFECTADA</a:t>
            </a:r>
            <a:endParaRPr lang="en-US" sz="1050" dirty="0"/>
          </a:p>
        </p:txBody>
      </p:sp>
      <p:sp>
        <p:nvSpPr>
          <p:cNvPr id="13" name="Text 11"/>
          <p:cNvSpPr/>
          <p:nvPr/>
        </p:nvSpPr>
        <p:spPr>
          <a:xfrm>
            <a:off x="10001250" y="7156028"/>
            <a:ext cx="3669221" cy="6247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dirty="0">
                <a:solidFill>
                  <a:srgbClr val="3A342A"/>
                </a:solidFill>
                <a:latin typeface="Georgia" pitchFamily="34" charset="0"/>
                <a:ea typeface="Georgia" pitchFamily="34" charset="-122"/>
                <a:cs typeface="Georgia" pitchFamily="34" charset="-120"/>
              </a:rPr>
              <a:t>Hotelería, gastronomía, transporte, comercio local, artesanos.</a:t>
            </a:r>
            <a:endParaRPr lang="en-US" sz="1650" dirty="0"/>
          </a:p>
        </p:txBody>
      </p:sp>
      <p:sp>
        <p:nvSpPr>
          <p:cNvPr id="14" name="Text 12"/>
          <p:cNvSpPr/>
          <p:nvPr/>
        </p:nvSpPr>
        <p:spPr>
          <a:xfrm>
            <a:off x="13868400" y="6917903"/>
            <a:ext cx="3669221" cy="200025"/>
          </a:xfrm>
          <a:prstGeom prst="rect">
            <a:avLst/>
          </a:prstGeom>
          <a:noFill/>
          <a:ln/>
        </p:spPr>
        <p:txBody>
          <a:bodyPr wrap="square" lIns="25400" tIns="25400" rIns="25400" bIns="25400" rtlCol="0" anchor="t">
            <a:normAutofit lnSpcReduction="10000"/>
          </a:bodyPr>
          <a:lstStyle/>
          <a:p>
            <a:pPr marL="0" indent="0" algn="l">
              <a:buNone/>
            </a:pPr>
            <a:r>
              <a:rPr lang="en-US" sz="1050" kern="0" spc="168" dirty="0">
                <a:solidFill>
                  <a:srgbClr val="8A6420"/>
                </a:solidFill>
                <a:latin typeface="Arial" pitchFamily="34" charset="0"/>
                <a:ea typeface="Arial" pitchFamily="34" charset="-122"/>
                <a:cs typeface="Arial" pitchFamily="34" charset="-120"/>
              </a:rPr>
              <a:t>EFECTO MEDIÁTICO</a:t>
            </a:r>
            <a:endParaRPr lang="en-US" sz="1050" dirty="0"/>
          </a:p>
        </p:txBody>
      </p:sp>
      <p:sp>
        <p:nvSpPr>
          <p:cNvPr id="15" name="Text 13"/>
          <p:cNvSpPr/>
          <p:nvPr/>
        </p:nvSpPr>
        <p:spPr>
          <a:xfrm>
            <a:off x="13868400" y="7156028"/>
            <a:ext cx="3669221" cy="6247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dirty="0">
                <a:solidFill>
                  <a:srgbClr val="3A342A"/>
                </a:solidFill>
                <a:latin typeface="Georgia" pitchFamily="34" charset="0"/>
                <a:ea typeface="Georgia" pitchFamily="34" charset="-122"/>
                <a:cs typeface="Georgia" pitchFamily="34" charset="-120"/>
              </a:rPr>
              <a:t>Marca Patagonia asociada al fuego en titulares globales.</a:t>
            </a:r>
            <a:endParaRPr lang="en-US" sz="1650" dirty="0"/>
          </a:p>
        </p:txBody>
      </p:sp>
      <p:sp>
        <p:nvSpPr>
          <p:cNvPr id="16" name="Shape 14"/>
          <p:cNvSpPr/>
          <p:nvPr/>
        </p:nvSpPr>
        <p:spPr>
          <a:xfrm>
            <a:off x="10001250" y="9134475"/>
            <a:ext cx="7429500" cy="9525"/>
          </a:xfrm>
          <a:prstGeom prst="rect">
            <a:avLst/>
          </a:prstGeom>
          <a:solidFill>
            <a:srgbClr val="D9D2C0"/>
          </a:solidFill>
          <a:ln/>
        </p:spPr>
        <p:txBody>
          <a:bodyPr/>
          <a:lstStyle/>
          <a:p>
            <a:endParaRPr lang="en-AR"/>
          </a:p>
        </p:txBody>
      </p:sp>
      <p:sp>
        <p:nvSpPr>
          <p:cNvPr id="17" name="Text 15"/>
          <p:cNvSpPr/>
          <p:nvPr/>
        </p:nvSpPr>
        <p:spPr>
          <a:xfrm>
            <a:off x="10001250" y="9372600"/>
            <a:ext cx="3048767"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DE LA PATAGONIA</a:t>
            </a:r>
            <a:endParaRPr lang="en-US" sz="1050" dirty="0"/>
          </a:p>
        </p:txBody>
      </p:sp>
      <p:sp>
        <p:nvSpPr>
          <p:cNvPr id="18" name="Text 16"/>
          <p:cNvSpPr/>
          <p:nvPr/>
        </p:nvSpPr>
        <p:spPr>
          <a:xfrm>
            <a:off x="16892215" y="93726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04 / 40 </a:t>
            </a:r>
            <a:endParaRPr lang="en-US" sz="1050" dirty="0"/>
          </a:p>
        </p:txBody>
      </p:sp>
      <p:pic>
        <p:nvPicPr>
          <p:cNvPr id="1026" name="Picture 2" descr="Incendio en Los Alerces: Esquel y Cholila reforzaron tareas y monitoreo  nocturno – Canal 4 Esquel">
            <a:extLst>
              <a:ext uri="{FF2B5EF4-FFF2-40B4-BE49-F238E27FC236}">
                <a16:creationId xmlns:a16="http://schemas.microsoft.com/office/drawing/2014/main" id="{4E120460-7532-0C99-6830-201AC66F8A0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441"/>
          <a:stretch>
            <a:fillRect/>
          </a:stretch>
        </p:blipFill>
        <p:spPr bwMode="auto">
          <a:xfrm>
            <a:off x="-197930" y="0"/>
            <a:ext cx="9341929" cy="1028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3"/>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4907518" y="804863"/>
            <a:ext cx="2504182"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CAPÍTULO 01 · LA PREGUNTA</a:t>
            </a:r>
            <a:endParaRPr lang="en-US" sz="1050" dirty="0"/>
          </a:p>
        </p:txBody>
      </p:sp>
      <p:sp>
        <p:nvSpPr>
          <p:cNvPr id="6" name="Text 4"/>
          <p:cNvSpPr/>
          <p:nvPr/>
        </p:nvSpPr>
        <p:spPr>
          <a:xfrm>
            <a:off x="952500" y="3487192"/>
            <a:ext cx="14716125"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LA PREGUNTA QUE TODOS SE HACEN</a:t>
            </a:r>
            <a:endParaRPr lang="en-US" sz="1350" dirty="0"/>
          </a:p>
        </p:txBody>
      </p:sp>
      <p:sp>
        <p:nvSpPr>
          <p:cNvPr id="7" name="Text 5"/>
          <p:cNvSpPr/>
          <p:nvPr/>
        </p:nvSpPr>
        <p:spPr>
          <a:xfrm>
            <a:off x="952500" y="4153942"/>
            <a:ext cx="14716125" cy="1501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4800" i="1" kern="0" spc="-58" dirty="0">
                <a:solidFill>
                  <a:srgbClr val="14110D"/>
                </a:solidFill>
                <a:latin typeface="Georgia" pitchFamily="34" charset="0"/>
                <a:ea typeface="Georgia" pitchFamily="34" charset="-122"/>
                <a:cs typeface="Georgia" pitchFamily="34" charset="-120"/>
              </a:rPr>
              <a:t>¿Cómo traemos turismo nuevo cuando el paisaje que vendíamos </a:t>
            </a:r>
            <a:r>
              <a:rPr lang="en-US" sz="4800" i="1" kern="0" spc="-58" dirty="0">
                <a:solidFill>
                  <a:srgbClr val="8A6420"/>
                </a:solidFill>
                <a:latin typeface="Georgia" pitchFamily="34" charset="0"/>
                <a:ea typeface="Georgia" pitchFamily="34" charset="-122"/>
                <a:cs typeface="Georgia" pitchFamily="34" charset="-120"/>
              </a:rPr>
              <a:t>ya no es el mismo</a:t>
            </a:r>
            <a:r>
              <a:rPr lang="en-US" sz="4800" i="1" kern="0" spc="-58" dirty="0">
                <a:solidFill>
                  <a:srgbClr val="14110D"/>
                </a:solidFill>
                <a:latin typeface="Georgia" pitchFamily="34" charset="0"/>
                <a:ea typeface="Georgia" pitchFamily="34" charset="-122"/>
                <a:cs typeface="Georgia" pitchFamily="34" charset="-120"/>
              </a:rPr>
              <a:t>?</a:t>
            </a:r>
            <a:endParaRPr lang="en-US" sz="4800" dirty="0"/>
          </a:p>
        </p:txBody>
      </p:sp>
      <p:sp>
        <p:nvSpPr>
          <p:cNvPr id="8" name="Text 6"/>
          <p:cNvSpPr/>
          <p:nvPr/>
        </p:nvSpPr>
        <p:spPr>
          <a:xfrm>
            <a:off x="952500" y="6150322"/>
            <a:ext cx="10791825" cy="81141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100" dirty="0">
                <a:solidFill>
                  <a:srgbClr val="3A342A"/>
                </a:solidFill>
                <a:latin typeface="Georgia" pitchFamily="34" charset="0"/>
                <a:ea typeface="Georgia" pitchFamily="34" charset="-122"/>
                <a:cs typeface="Georgia" pitchFamily="34" charset="-120"/>
              </a:rPr>
              <a:t>Nuestra hipótesis es contraintuitiva: la respuesta no está en reconstruir lo que se perdió. Está en construir algo que hoy </a:t>
            </a:r>
            <a:r>
              <a:rPr lang="en-US" sz="2100" dirty="0">
                <a:solidFill>
                  <a:srgbClr val="14110D"/>
                </a:solidFill>
                <a:latin typeface="Georgia" pitchFamily="34" charset="0"/>
                <a:ea typeface="Georgia" pitchFamily="34" charset="-122"/>
                <a:cs typeface="Georgia" pitchFamily="34" charset="-120"/>
              </a:rPr>
              <a:t>no existe en toda Sudamérica</a:t>
            </a:r>
            <a:r>
              <a:rPr lang="en-US" sz="2100" dirty="0">
                <a:solidFill>
                  <a:srgbClr val="3A342A"/>
                </a:solidFill>
                <a:latin typeface="Georgia" pitchFamily="34" charset="0"/>
                <a:ea typeface="Georgia" pitchFamily="34" charset="-122"/>
                <a:cs typeface="Georgia" pitchFamily="34" charset="-120"/>
              </a:rPr>
              <a:t>.</a:t>
            </a:r>
            <a:endParaRPr lang="en-US" sz="2100" dirty="0"/>
          </a:p>
        </p:txBody>
      </p:sp>
      <p:sp>
        <p:nvSpPr>
          <p:cNvPr id="9" name="Shape 7"/>
          <p:cNvSpPr/>
          <p:nvPr/>
        </p:nvSpPr>
        <p:spPr>
          <a:xfrm>
            <a:off x="952500" y="9134475"/>
            <a:ext cx="16383000" cy="9525"/>
          </a:xfrm>
          <a:prstGeom prst="rect">
            <a:avLst/>
          </a:prstGeom>
          <a:solidFill>
            <a:srgbClr val="D9D2C0"/>
          </a:solidFill>
          <a:ln/>
        </p:spPr>
        <p:txBody>
          <a:bodyPr/>
          <a:lstStyle/>
          <a:p>
            <a:endParaRPr lang="en-AR"/>
          </a:p>
        </p:txBody>
      </p:sp>
      <p:sp>
        <p:nvSpPr>
          <p:cNvPr id="10" name="Text 8"/>
          <p:cNvSpPr/>
          <p:nvPr/>
        </p:nvSpPr>
        <p:spPr>
          <a:xfrm>
            <a:off x="952500" y="9372600"/>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11" name="Text 9"/>
          <p:cNvSpPr/>
          <p:nvPr/>
        </p:nvSpPr>
        <p:spPr>
          <a:xfrm>
            <a:off x="16796965" y="93726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05 / 40 </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ECE0"/>
        </a:solidFill>
        <a:effectLst/>
      </p:bgPr>
    </p:bg>
    <p:spTree>
      <p:nvGrpSpPr>
        <p:cNvPr id="1" name=""/>
        <p:cNvGrpSpPr/>
        <p:nvPr/>
      </p:nvGrpSpPr>
      <p:grpSpPr>
        <a:xfrm>
          <a:off x="0" y="0"/>
          <a:ext cx="0" cy="0"/>
          <a:chOff x="0" y="0"/>
          <a:chExt cx="0" cy="0"/>
        </a:xfrm>
      </p:grpSpPr>
      <p:sp>
        <p:nvSpPr>
          <p:cNvPr id="2" name="Shape 0"/>
          <p:cNvSpPr/>
          <p:nvPr/>
        </p:nvSpPr>
        <p:spPr>
          <a:xfrm>
            <a:off x="952500" y="1457325"/>
            <a:ext cx="16383000" cy="9525"/>
          </a:xfrm>
          <a:prstGeom prst="rect">
            <a:avLst/>
          </a:prstGeom>
          <a:solidFill>
            <a:srgbClr val="D9D2C0"/>
          </a:solidFill>
          <a:ln/>
        </p:spPr>
        <p:txBody>
          <a:bodyPr/>
          <a:lstStyle/>
          <a:p>
            <a:endParaRPr lang="en-AR"/>
          </a:p>
        </p:txBody>
      </p:sp>
      <p:sp>
        <p:nvSpPr>
          <p:cNvPr id="3" name="Shape 1"/>
          <p:cNvSpPr/>
          <p:nvPr/>
        </p:nvSpPr>
        <p:spPr>
          <a:xfrm>
            <a:off x="952500" y="9525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9786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6248534" y="995363"/>
            <a:ext cx="1163166"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CAPÍTULO 02</a:t>
            </a:r>
            <a:endParaRPr lang="en-US" sz="1050" dirty="0"/>
          </a:p>
        </p:txBody>
      </p:sp>
      <p:sp>
        <p:nvSpPr>
          <p:cNvPr id="6" name="Text 4"/>
          <p:cNvSpPr/>
          <p:nvPr/>
        </p:nvSpPr>
        <p:spPr>
          <a:xfrm>
            <a:off x="952500" y="3648596"/>
            <a:ext cx="9363671" cy="233362"/>
          </a:xfrm>
          <a:prstGeom prst="rect">
            <a:avLst/>
          </a:prstGeom>
          <a:noFill/>
          <a:ln/>
        </p:spPr>
        <p:txBody>
          <a:bodyPr wrap="square" lIns="25400" tIns="25400" rIns="25400" bIns="25400" rtlCol="0" anchor="t">
            <a:normAutofit lnSpcReduction="10000"/>
          </a:bodyPr>
          <a:lstStyle/>
          <a:p>
            <a:pPr marL="0" indent="0" algn="l">
              <a:buNone/>
            </a:pPr>
            <a:r>
              <a:rPr lang="en-US" sz="1275" b="1" kern="0" spc="255" dirty="0">
                <a:solidFill>
                  <a:srgbClr val="8A6420"/>
                </a:solidFill>
                <a:latin typeface="Arial" pitchFamily="34" charset="0"/>
                <a:ea typeface="Arial" pitchFamily="34" charset="-122"/>
                <a:cs typeface="Arial" pitchFamily="34" charset="-120"/>
              </a:rPr>
              <a:t>— 02</a:t>
            </a:r>
            <a:endParaRPr lang="en-US" sz="1275" dirty="0"/>
          </a:p>
        </p:txBody>
      </p:sp>
      <p:sp>
        <p:nvSpPr>
          <p:cNvPr id="7" name="Text 5"/>
          <p:cNvSpPr/>
          <p:nvPr/>
        </p:nvSpPr>
        <p:spPr>
          <a:xfrm>
            <a:off x="952500" y="4110558"/>
            <a:ext cx="9363671" cy="142488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10500" kern="0" spc="-189" dirty="0">
                <a:solidFill>
                  <a:srgbClr val="14110D"/>
                </a:solidFill>
                <a:latin typeface="Georgia" pitchFamily="34" charset="0"/>
                <a:ea typeface="Georgia" pitchFamily="34" charset="-122"/>
                <a:cs typeface="Georgia" pitchFamily="34" charset="-120"/>
              </a:rPr>
              <a:t>La Oportunidad</a:t>
            </a:r>
            <a:endParaRPr lang="en-US" sz="10500" dirty="0"/>
          </a:p>
        </p:txBody>
      </p:sp>
      <p:sp>
        <p:nvSpPr>
          <p:cNvPr id="8" name="Text 6"/>
          <p:cNvSpPr/>
          <p:nvPr/>
        </p:nvSpPr>
        <p:spPr>
          <a:xfrm>
            <a:off x="952500" y="5878339"/>
            <a:ext cx="8829675" cy="92199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400" dirty="0">
                <a:solidFill>
                  <a:srgbClr val="3A342A"/>
                </a:solidFill>
                <a:latin typeface="Georgia" pitchFamily="34" charset="0"/>
                <a:ea typeface="Georgia" pitchFamily="34" charset="-122"/>
                <a:cs typeface="Georgia" pitchFamily="34" charset="-120"/>
              </a:rPr>
              <a:t>Un mercado global de cientos de miles de millones de dólares, con un vacío geográfico evidente.</a:t>
            </a:r>
            <a:endParaRPr lang="en-US" sz="2400" dirty="0"/>
          </a:p>
        </p:txBody>
      </p:sp>
      <p:sp>
        <p:nvSpPr>
          <p:cNvPr id="9" name="Shape 7"/>
          <p:cNvSpPr/>
          <p:nvPr/>
        </p:nvSpPr>
        <p:spPr>
          <a:xfrm>
            <a:off x="952500" y="8943975"/>
            <a:ext cx="16383000" cy="9525"/>
          </a:xfrm>
          <a:prstGeom prst="rect">
            <a:avLst/>
          </a:prstGeom>
          <a:solidFill>
            <a:srgbClr val="D9D2C0"/>
          </a:solidFill>
          <a:ln/>
        </p:spPr>
        <p:txBody>
          <a:bodyPr/>
          <a:lstStyle/>
          <a:p>
            <a:endParaRPr lang="en-AR"/>
          </a:p>
        </p:txBody>
      </p:sp>
      <p:sp>
        <p:nvSpPr>
          <p:cNvPr id="10" name="Text 8"/>
          <p:cNvSpPr/>
          <p:nvPr/>
        </p:nvSpPr>
        <p:spPr>
          <a:xfrm>
            <a:off x="952500" y="9182100"/>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11" name="Text 9"/>
          <p:cNvSpPr/>
          <p:nvPr/>
        </p:nvSpPr>
        <p:spPr>
          <a:xfrm>
            <a:off x="16796965" y="91821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06 / 40 </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EDE0"/>
        </a:solidFill>
        <a:effectLst/>
      </p:bgPr>
    </p:bg>
    <p:spTree>
      <p:nvGrpSpPr>
        <p:cNvPr id="1" name="">
          <a:extLst>
            <a:ext uri="{FF2B5EF4-FFF2-40B4-BE49-F238E27FC236}">
              <a16:creationId xmlns:a16="http://schemas.microsoft.com/office/drawing/2014/main" id="{07509C37-F91D-3C4B-F5F5-6080E407CD0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D50293A-852B-4D72-E397-012F4783DBC8}"/>
              </a:ext>
            </a:extLst>
          </p:cNvPr>
          <p:cNvSpPr/>
          <p:nvPr/>
        </p:nvSpPr>
        <p:spPr>
          <a:xfrm>
            <a:off x="857250" y="1266825"/>
            <a:ext cx="7864897" cy="9525"/>
          </a:xfrm>
          <a:prstGeom prst="rect">
            <a:avLst/>
          </a:prstGeom>
          <a:solidFill>
            <a:srgbClr val="D9D2C0"/>
          </a:solidFill>
          <a:ln/>
        </p:spPr>
        <p:txBody>
          <a:bodyPr/>
          <a:lstStyle/>
          <a:p>
            <a:endParaRPr lang="en-AR"/>
          </a:p>
        </p:txBody>
      </p:sp>
      <p:sp>
        <p:nvSpPr>
          <p:cNvPr id="3" name="Shape 1">
            <a:extLst>
              <a:ext uri="{FF2B5EF4-FFF2-40B4-BE49-F238E27FC236}">
                <a16:creationId xmlns:a16="http://schemas.microsoft.com/office/drawing/2014/main" id="{C77605AF-D8F8-62E8-1D43-0F65E23DCD03}"/>
              </a:ext>
            </a:extLst>
          </p:cNvPr>
          <p:cNvSpPr/>
          <p:nvPr/>
        </p:nvSpPr>
        <p:spPr>
          <a:xfrm>
            <a:off x="857250" y="762000"/>
            <a:ext cx="238125" cy="238125"/>
          </a:xfrm>
          <a:prstGeom prst="ellipse">
            <a:avLst/>
          </a:prstGeom>
          <a:ln w="14288">
            <a:solidFill>
              <a:srgbClr val="8A6420"/>
            </a:solidFill>
            <a:prstDash val="solid"/>
          </a:ln>
        </p:spPr>
        <p:txBody>
          <a:bodyPr/>
          <a:lstStyle/>
          <a:p>
            <a:endParaRPr lang="en-AR"/>
          </a:p>
        </p:txBody>
      </p:sp>
      <p:sp>
        <p:nvSpPr>
          <p:cNvPr id="4" name="Text 2">
            <a:extLst>
              <a:ext uri="{FF2B5EF4-FFF2-40B4-BE49-F238E27FC236}">
                <a16:creationId xmlns:a16="http://schemas.microsoft.com/office/drawing/2014/main" id="{76EFCC9A-342C-47F8-5541-68157AEEBC3D}"/>
              </a:ext>
            </a:extLst>
          </p:cNvPr>
          <p:cNvSpPr/>
          <p:nvPr/>
        </p:nvSpPr>
        <p:spPr>
          <a:xfrm>
            <a:off x="1228725" y="788194"/>
            <a:ext cx="2128093"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CAPÍTULO 02 · CASO</a:t>
            </a:r>
            <a:endParaRPr lang="en-US" sz="1200" dirty="0"/>
          </a:p>
        </p:txBody>
      </p:sp>
      <p:sp>
        <p:nvSpPr>
          <p:cNvPr id="5" name="Text 3">
            <a:extLst>
              <a:ext uri="{FF2B5EF4-FFF2-40B4-BE49-F238E27FC236}">
                <a16:creationId xmlns:a16="http://schemas.microsoft.com/office/drawing/2014/main" id="{2B735C9D-CEA1-9105-932D-5C2C483734AC}"/>
              </a:ext>
            </a:extLst>
          </p:cNvPr>
          <p:cNvSpPr/>
          <p:nvPr/>
        </p:nvSpPr>
        <p:spPr>
          <a:xfrm>
            <a:off x="7119565" y="804863"/>
            <a:ext cx="1678781"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BODH GAYA · INDIA</a:t>
            </a:r>
            <a:endParaRPr lang="en-US" sz="1050" dirty="0"/>
          </a:p>
        </p:txBody>
      </p:sp>
      <p:sp>
        <p:nvSpPr>
          <p:cNvPr id="6" name="Text 4">
            <a:extLst>
              <a:ext uri="{FF2B5EF4-FFF2-40B4-BE49-F238E27FC236}">
                <a16:creationId xmlns:a16="http://schemas.microsoft.com/office/drawing/2014/main" id="{6F7A8A72-C10C-5A32-C89A-3A84C6394004}"/>
              </a:ext>
            </a:extLst>
          </p:cNvPr>
          <p:cNvSpPr/>
          <p:nvPr/>
        </p:nvSpPr>
        <p:spPr>
          <a:xfrm>
            <a:off x="857250" y="2948434"/>
            <a:ext cx="8100844"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EL PRECEDENTE</a:t>
            </a:r>
            <a:endParaRPr lang="en-US" sz="1350" dirty="0"/>
          </a:p>
        </p:txBody>
      </p:sp>
      <p:sp>
        <p:nvSpPr>
          <p:cNvPr id="7" name="Text 5">
            <a:extLst>
              <a:ext uri="{FF2B5EF4-FFF2-40B4-BE49-F238E27FC236}">
                <a16:creationId xmlns:a16="http://schemas.microsoft.com/office/drawing/2014/main" id="{783E600D-A9B8-D158-8E60-06509865E1D8}"/>
              </a:ext>
            </a:extLst>
          </p:cNvPr>
          <p:cNvSpPr/>
          <p:nvPr/>
        </p:nvSpPr>
        <p:spPr>
          <a:xfrm>
            <a:off x="857250" y="3424684"/>
            <a:ext cx="8100844" cy="2177653"/>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No solo </a:t>
            </a:r>
            <a:r>
              <a:rPr lang="en-US" sz="5400" kern="0" spc="-97" dirty="0" err="1">
                <a:solidFill>
                  <a:srgbClr val="14110D"/>
                </a:solidFill>
                <a:latin typeface="Georgia" pitchFamily="34" charset="0"/>
                <a:ea typeface="Georgia" pitchFamily="34" charset="-122"/>
                <a:cs typeface="Georgia" pitchFamily="34" charset="-120"/>
              </a:rPr>
              <a:t>una</a:t>
            </a:r>
            <a:r>
              <a:rPr lang="en-US" sz="5400" kern="0" spc="-97" dirty="0">
                <a:solidFill>
                  <a:srgbClr val="14110D"/>
                </a:solidFill>
                <a:latin typeface="Georgia" pitchFamily="34" charset="0"/>
                <a:ea typeface="Georgia" pitchFamily="34" charset="-122"/>
                <a:cs typeface="Georgia" pitchFamily="34" charset="-120"/>
              </a:rPr>
              <a:t> Stupa:</a:t>
            </a:r>
          </a:p>
          <a:p>
            <a:pPr marL="0" indent="0" algn="l">
              <a:lnSpc>
                <a:spcPct val="104000"/>
              </a:lnSpc>
              <a:buNone/>
            </a:pPr>
            <a:r>
              <a:rPr lang="en-US" sz="5400" i="1" kern="0" spc="-97" dirty="0" err="1">
                <a:solidFill>
                  <a:srgbClr val="8A6420"/>
                </a:solidFill>
                <a:latin typeface="Georgia" pitchFamily="34" charset="0"/>
                <a:ea typeface="Georgia" pitchFamily="34" charset="-122"/>
                <a:cs typeface="Georgia" pitchFamily="34" charset="-120"/>
              </a:rPr>
              <a:t>Diferencias</a:t>
            </a:r>
            <a:r>
              <a:rPr lang="en-US" sz="5400" i="1" kern="0" spc="-97" dirty="0">
                <a:solidFill>
                  <a:srgbClr val="8A6420"/>
                </a:solidFill>
                <a:latin typeface="Georgia" pitchFamily="34" charset="0"/>
                <a:ea typeface="Georgia" pitchFamily="34" charset="-122"/>
                <a:cs typeface="Georgia" pitchFamily="34" charset="-120"/>
              </a:rPr>
              <a:t> con </a:t>
            </a:r>
            <a:r>
              <a:rPr lang="en-US" sz="5400" i="1" kern="0" spc="-97" dirty="0" err="1">
                <a:solidFill>
                  <a:srgbClr val="8A6420"/>
                </a:solidFill>
                <a:latin typeface="Georgia" pitchFamily="34" charset="0"/>
                <a:ea typeface="Georgia" pitchFamily="34" charset="-122"/>
                <a:cs typeface="Georgia" pitchFamily="34" charset="-120"/>
              </a:rPr>
              <a:t>Epuyén</a:t>
            </a:r>
            <a:endParaRPr lang="en-US" sz="5400" dirty="0"/>
          </a:p>
        </p:txBody>
      </p:sp>
      <p:sp>
        <p:nvSpPr>
          <p:cNvPr id="8" name="Text 6">
            <a:extLst>
              <a:ext uri="{FF2B5EF4-FFF2-40B4-BE49-F238E27FC236}">
                <a16:creationId xmlns:a16="http://schemas.microsoft.com/office/drawing/2014/main" id="{5AD616D4-739C-887E-6FE0-FFC1BD9A4C60}"/>
              </a:ext>
            </a:extLst>
          </p:cNvPr>
          <p:cNvSpPr/>
          <p:nvPr/>
        </p:nvSpPr>
        <p:spPr>
          <a:xfrm>
            <a:off x="857250" y="5907136"/>
            <a:ext cx="8100844" cy="2471319"/>
          </a:xfrm>
          <a:prstGeom prst="rect">
            <a:avLst/>
          </a:prstGeom>
          <a:noFill/>
          <a:ln/>
        </p:spPr>
        <p:txBody>
          <a:bodyPr wrap="square" lIns="25400" tIns="25400" rIns="25400" bIns="25400" rtlCol="0" anchor="t">
            <a:normAutofit/>
          </a:bodyPr>
          <a:lstStyle/>
          <a:p>
            <a:pPr marL="0" indent="0" algn="l">
              <a:lnSpc>
                <a:spcPct val="145000"/>
              </a:lnSpc>
              <a:buNone/>
            </a:pPr>
            <a:r>
              <a:rPr lang="en-US" sz="2100" dirty="0">
                <a:solidFill>
                  <a:srgbClr val="3A342A"/>
                </a:solidFill>
                <a:latin typeface="Georgia" pitchFamily="34" charset="0"/>
                <a:ea typeface="Georgia" pitchFamily="34" charset="-122"/>
                <a:cs typeface="Georgia" pitchFamily="34" charset="-120"/>
              </a:rPr>
              <a:t>A </a:t>
            </a:r>
            <a:r>
              <a:rPr lang="en-US" sz="2100" dirty="0" err="1">
                <a:solidFill>
                  <a:srgbClr val="3A342A"/>
                </a:solidFill>
                <a:latin typeface="Georgia" pitchFamily="34" charset="0"/>
                <a:ea typeface="Georgia" pitchFamily="34" charset="-122"/>
                <a:cs typeface="Georgia" pitchFamily="34" charset="-120"/>
              </a:rPr>
              <a:t>diferencia</a:t>
            </a:r>
            <a:r>
              <a:rPr lang="en-US" sz="2100" dirty="0">
                <a:solidFill>
                  <a:srgbClr val="3A342A"/>
                </a:solidFill>
                <a:latin typeface="Georgia" pitchFamily="34" charset="0"/>
                <a:ea typeface="Georgia" pitchFamily="34" charset="-122"/>
                <a:cs typeface="Georgia" pitchFamily="34" charset="-120"/>
              </a:rPr>
              <a:t> de La Stupa, </a:t>
            </a:r>
            <a:r>
              <a:rPr lang="en-US" sz="2100" dirty="0" err="1">
                <a:solidFill>
                  <a:srgbClr val="3A342A"/>
                </a:solidFill>
                <a:latin typeface="Georgia" pitchFamily="34" charset="0"/>
                <a:ea typeface="Georgia" pitchFamily="34" charset="-122"/>
                <a:cs typeface="Georgia" pitchFamily="34" charset="-120"/>
              </a:rPr>
              <a:t>que</a:t>
            </a:r>
            <a:r>
              <a:rPr lang="en-US" sz="2100" dirty="0">
                <a:solidFill>
                  <a:srgbClr val="3A342A"/>
                </a:solidFill>
                <a:latin typeface="Georgia" pitchFamily="34" charset="0"/>
                <a:ea typeface="Georgia" pitchFamily="34" charset="-122"/>
                <a:cs typeface="Georgia" pitchFamily="34" charset="-120"/>
              </a:rPr>
              <a:t> es un </a:t>
            </a:r>
            <a:r>
              <a:rPr lang="en-US" sz="2100" dirty="0" err="1">
                <a:solidFill>
                  <a:srgbClr val="3A342A"/>
                </a:solidFill>
                <a:latin typeface="Georgia" pitchFamily="34" charset="0"/>
                <a:ea typeface="Georgia" pitchFamily="34" charset="-122"/>
                <a:cs typeface="Georgia" pitchFamily="34" charset="-120"/>
              </a:rPr>
              <a:t>lugar</a:t>
            </a:r>
            <a:r>
              <a:rPr lang="en-US" sz="2100" dirty="0">
                <a:solidFill>
                  <a:srgbClr val="3A342A"/>
                </a:solidFill>
                <a:latin typeface="Georgia" pitchFamily="34" charset="0"/>
                <a:ea typeface="Georgia" pitchFamily="34" charset="-122"/>
                <a:cs typeface="Georgia" pitchFamily="34" charset="-120"/>
              </a:rPr>
              <a:t> </a:t>
            </a:r>
            <a:r>
              <a:rPr lang="en-US" sz="2100" dirty="0" err="1">
                <a:solidFill>
                  <a:srgbClr val="3A342A"/>
                </a:solidFill>
                <a:latin typeface="Georgia" pitchFamily="34" charset="0"/>
                <a:ea typeface="Georgia" pitchFamily="34" charset="-122"/>
                <a:cs typeface="Georgia" pitchFamily="34" charset="-120"/>
              </a:rPr>
              <a:t>dónde</a:t>
            </a:r>
            <a:r>
              <a:rPr lang="en-US" sz="2100" dirty="0">
                <a:solidFill>
                  <a:srgbClr val="3A342A"/>
                </a:solidFill>
                <a:latin typeface="Georgia" pitchFamily="34" charset="0"/>
                <a:ea typeface="Georgia" pitchFamily="34" charset="-122"/>
                <a:cs typeface="Georgia" pitchFamily="34" charset="-120"/>
              </a:rPr>
              <a:t> las </a:t>
            </a:r>
            <a:r>
              <a:rPr lang="en-US" sz="2100" dirty="0" err="1">
                <a:solidFill>
                  <a:srgbClr val="3A342A"/>
                </a:solidFill>
                <a:latin typeface="Georgia" pitchFamily="34" charset="0"/>
                <a:ea typeface="Georgia" pitchFamily="34" charset="-122"/>
                <a:cs typeface="Georgia" pitchFamily="34" charset="-120"/>
              </a:rPr>
              <a:t>actividades</a:t>
            </a:r>
            <a:r>
              <a:rPr lang="en-US" sz="2100" dirty="0">
                <a:solidFill>
                  <a:srgbClr val="3A342A"/>
                </a:solidFill>
                <a:latin typeface="Georgia" pitchFamily="34" charset="0"/>
                <a:ea typeface="Georgia" pitchFamily="34" charset="-122"/>
                <a:cs typeface="Georgia" pitchFamily="34" charset="-120"/>
              </a:rPr>
              <a:t> </a:t>
            </a:r>
            <a:r>
              <a:rPr lang="en-US" sz="2100" dirty="0" err="1">
                <a:solidFill>
                  <a:srgbClr val="3A342A"/>
                </a:solidFill>
                <a:latin typeface="Georgia" pitchFamily="34" charset="0"/>
                <a:ea typeface="Georgia" pitchFamily="34" charset="-122"/>
                <a:cs typeface="Georgia" pitchFamily="34" charset="-120"/>
              </a:rPr>
              <a:t>están</a:t>
            </a:r>
            <a:r>
              <a:rPr lang="en-US" sz="2100" dirty="0">
                <a:solidFill>
                  <a:srgbClr val="3A342A"/>
                </a:solidFill>
                <a:latin typeface="Georgia" pitchFamily="34" charset="0"/>
                <a:ea typeface="Georgia" pitchFamily="34" charset="-122"/>
                <a:cs typeface="Georgia" pitchFamily="34" charset="-120"/>
              </a:rPr>
              <a:t> </a:t>
            </a:r>
            <a:r>
              <a:rPr lang="en-US" sz="2100" dirty="0" err="1">
                <a:solidFill>
                  <a:srgbClr val="3A342A"/>
                </a:solidFill>
                <a:latin typeface="Georgia" pitchFamily="34" charset="0"/>
                <a:ea typeface="Georgia" pitchFamily="34" charset="-122"/>
                <a:cs typeface="Georgia" pitchFamily="34" charset="-120"/>
              </a:rPr>
              <a:t>pensadas</a:t>
            </a:r>
            <a:r>
              <a:rPr lang="en-US" sz="2100" dirty="0">
                <a:solidFill>
                  <a:srgbClr val="3A342A"/>
                </a:solidFill>
                <a:latin typeface="Georgia" pitchFamily="34" charset="0"/>
                <a:ea typeface="Georgia" pitchFamily="34" charset="-122"/>
                <a:cs typeface="Georgia" pitchFamily="34" charset="-120"/>
              </a:rPr>
              <a:t> solo para la comunidad </a:t>
            </a:r>
            <a:r>
              <a:rPr lang="en-US" sz="2100" dirty="0" err="1">
                <a:solidFill>
                  <a:srgbClr val="3A342A"/>
                </a:solidFill>
                <a:latin typeface="Georgia" pitchFamily="34" charset="0"/>
                <a:ea typeface="Georgia" pitchFamily="34" charset="-122"/>
                <a:cs typeface="Georgia" pitchFamily="34" charset="-120"/>
              </a:rPr>
              <a:t>budista</a:t>
            </a:r>
            <a:r>
              <a:rPr lang="en-US" sz="2100" dirty="0">
                <a:solidFill>
                  <a:srgbClr val="3A342A"/>
                </a:solidFill>
                <a:latin typeface="Georgia" pitchFamily="34" charset="0"/>
                <a:ea typeface="Georgia" pitchFamily="34" charset="-122"/>
                <a:cs typeface="Georgia" pitchFamily="34" charset="-120"/>
              </a:rPr>
              <a:t> local (</a:t>
            </a:r>
            <a:r>
              <a:rPr lang="en-US" sz="2100" dirty="0" err="1">
                <a:solidFill>
                  <a:srgbClr val="3A342A"/>
                </a:solidFill>
                <a:latin typeface="Georgia" pitchFamily="34" charset="0"/>
                <a:ea typeface="Georgia" pitchFamily="34" charset="-122"/>
                <a:cs typeface="Georgia" pitchFamily="34" charset="-120"/>
              </a:rPr>
              <a:t>pequeña</a:t>
            </a:r>
            <a:r>
              <a:rPr lang="en-US" sz="2100" dirty="0">
                <a:solidFill>
                  <a:srgbClr val="3A342A"/>
                </a:solidFill>
                <a:latin typeface="Georgia" pitchFamily="34" charset="0"/>
                <a:ea typeface="Georgia" pitchFamily="34" charset="-122"/>
                <a:cs typeface="Georgia" pitchFamily="34" charset="-120"/>
              </a:rPr>
              <a:t> </a:t>
            </a:r>
            <a:r>
              <a:rPr lang="en-US" sz="2100" dirty="0" err="1">
                <a:solidFill>
                  <a:srgbClr val="3A342A"/>
                </a:solidFill>
                <a:latin typeface="Georgia" pitchFamily="34" charset="0"/>
                <a:ea typeface="Georgia" pitchFamily="34" charset="-122"/>
                <a:cs typeface="Georgia" pitchFamily="34" charset="-120"/>
              </a:rPr>
              <a:t>pero</a:t>
            </a:r>
            <a:r>
              <a:rPr lang="en-US" sz="2100" dirty="0">
                <a:solidFill>
                  <a:srgbClr val="3A342A"/>
                </a:solidFill>
                <a:latin typeface="Georgia" pitchFamily="34" charset="0"/>
                <a:ea typeface="Georgia" pitchFamily="34" charset="-122"/>
                <a:cs typeface="Georgia" pitchFamily="34" charset="-120"/>
              </a:rPr>
              <a:t> </a:t>
            </a:r>
            <a:r>
              <a:rPr lang="en-US" sz="2100" dirty="0" err="1">
                <a:solidFill>
                  <a:srgbClr val="3A342A"/>
                </a:solidFill>
                <a:latin typeface="Georgia" pitchFamily="34" charset="0"/>
                <a:ea typeface="Georgia" pitchFamily="34" charset="-122"/>
                <a:cs typeface="Georgia" pitchFamily="34" charset="-120"/>
              </a:rPr>
              <a:t>activa</a:t>
            </a:r>
            <a:r>
              <a:rPr lang="en-US" sz="2100" dirty="0">
                <a:solidFill>
                  <a:srgbClr val="3A342A"/>
                </a:solidFill>
                <a:latin typeface="Georgia" pitchFamily="34" charset="0"/>
                <a:ea typeface="Georgia" pitchFamily="34" charset="-122"/>
                <a:cs typeface="Georgia" pitchFamily="34" charset="-120"/>
              </a:rPr>
              <a:t>), </a:t>
            </a:r>
            <a:r>
              <a:rPr lang="en-US" sz="2100" dirty="0" err="1">
                <a:solidFill>
                  <a:srgbClr val="3A342A"/>
                </a:solidFill>
                <a:latin typeface="Georgia" pitchFamily="34" charset="0"/>
                <a:ea typeface="Georgia" pitchFamily="34" charset="-122"/>
                <a:cs typeface="Georgia" pitchFamily="34" charset="-120"/>
              </a:rPr>
              <a:t>Shambhala</a:t>
            </a:r>
            <a:r>
              <a:rPr lang="en-US" sz="2100" dirty="0">
                <a:solidFill>
                  <a:srgbClr val="3A342A"/>
                </a:solidFill>
                <a:latin typeface="Georgia" pitchFamily="34" charset="0"/>
                <a:ea typeface="Georgia" pitchFamily="34" charset="-122"/>
                <a:cs typeface="Georgia" pitchFamily="34" charset="-120"/>
              </a:rPr>
              <a:t> </a:t>
            </a:r>
            <a:r>
              <a:rPr lang="en-US" sz="2100" dirty="0" err="1">
                <a:solidFill>
                  <a:srgbClr val="3A342A"/>
                </a:solidFill>
                <a:latin typeface="Georgia" pitchFamily="34" charset="0"/>
                <a:ea typeface="Georgia" pitchFamily="34" charset="-122"/>
                <a:cs typeface="Georgia" pitchFamily="34" charset="-120"/>
              </a:rPr>
              <a:t>Patagonia</a:t>
            </a:r>
            <a:r>
              <a:rPr lang="en-US" sz="2100" dirty="0">
                <a:solidFill>
                  <a:srgbClr val="3A342A"/>
                </a:solidFill>
                <a:latin typeface="Georgia" pitchFamily="34" charset="0"/>
                <a:ea typeface="Georgia" pitchFamily="34" charset="-122"/>
                <a:cs typeface="Georgia" pitchFamily="34" charset="-120"/>
              </a:rPr>
              <a:t> </a:t>
            </a:r>
            <a:r>
              <a:rPr lang="en-US" sz="2100" dirty="0" err="1">
                <a:solidFill>
                  <a:srgbClr val="3A342A"/>
                </a:solidFill>
                <a:latin typeface="Georgia" pitchFamily="34" charset="0"/>
                <a:ea typeface="Georgia" pitchFamily="34" charset="-122"/>
                <a:cs typeface="Georgia" pitchFamily="34" charset="-120"/>
              </a:rPr>
              <a:t>está</a:t>
            </a:r>
            <a:r>
              <a:rPr lang="en-US" sz="2100" dirty="0">
                <a:solidFill>
                  <a:srgbClr val="3A342A"/>
                </a:solidFill>
                <a:latin typeface="Georgia" pitchFamily="34" charset="0"/>
                <a:ea typeface="Georgia" pitchFamily="34" charset="-122"/>
                <a:cs typeface="Georgia" pitchFamily="34" charset="-120"/>
              </a:rPr>
              <a:t> </a:t>
            </a:r>
            <a:r>
              <a:rPr lang="en-US" sz="2100" dirty="0" err="1">
                <a:solidFill>
                  <a:srgbClr val="3A342A"/>
                </a:solidFill>
                <a:latin typeface="Georgia" pitchFamily="34" charset="0"/>
                <a:ea typeface="Georgia" pitchFamily="34" charset="-122"/>
                <a:cs typeface="Georgia" pitchFamily="34" charset="-120"/>
              </a:rPr>
              <a:t>pensada</a:t>
            </a:r>
            <a:r>
              <a:rPr lang="en-US" sz="2100" dirty="0">
                <a:solidFill>
                  <a:srgbClr val="3A342A"/>
                </a:solidFill>
                <a:latin typeface="Georgia" pitchFamily="34" charset="0"/>
                <a:ea typeface="Georgia" pitchFamily="34" charset="-122"/>
                <a:cs typeface="Georgia" pitchFamily="34" charset="-120"/>
              </a:rPr>
              <a:t> </a:t>
            </a:r>
            <a:r>
              <a:rPr lang="en-US" sz="2100" dirty="0" err="1">
                <a:solidFill>
                  <a:srgbClr val="3A342A"/>
                </a:solidFill>
                <a:latin typeface="Georgia" pitchFamily="34" charset="0"/>
                <a:ea typeface="Georgia" pitchFamily="34" charset="-122"/>
                <a:cs typeface="Georgia" pitchFamily="34" charset="-120"/>
              </a:rPr>
              <a:t>en</a:t>
            </a:r>
            <a:r>
              <a:rPr lang="en-US" sz="2100" dirty="0">
                <a:solidFill>
                  <a:srgbClr val="3A342A"/>
                </a:solidFill>
                <a:latin typeface="Georgia" pitchFamily="34" charset="0"/>
                <a:ea typeface="Georgia" pitchFamily="34" charset="-122"/>
                <a:cs typeface="Georgia" pitchFamily="34" charset="-120"/>
              </a:rPr>
              <a:t> un </a:t>
            </a:r>
            <a:r>
              <a:rPr lang="en-US" sz="2100" dirty="0" err="1">
                <a:solidFill>
                  <a:srgbClr val="3A342A"/>
                </a:solidFill>
                <a:latin typeface="Georgia" pitchFamily="34" charset="0"/>
                <a:ea typeface="Georgia" pitchFamily="34" charset="-122"/>
                <a:cs typeface="Georgia" pitchFamily="34" charset="-120"/>
              </a:rPr>
              <a:t>público</a:t>
            </a:r>
            <a:r>
              <a:rPr lang="en-US" sz="2100" dirty="0">
                <a:solidFill>
                  <a:srgbClr val="3A342A"/>
                </a:solidFill>
                <a:latin typeface="Georgia" pitchFamily="34" charset="0"/>
                <a:ea typeface="Georgia" pitchFamily="34" charset="-122"/>
                <a:cs typeface="Georgia" pitchFamily="34" charset="-120"/>
              </a:rPr>
              <a:t> turista </a:t>
            </a:r>
            <a:r>
              <a:rPr lang="en-US" sz="2100" i="1" dirty="0" err="1">
                <a:solidFill>
                  <a:srgbClr val="3A342A"/>
                </a:solidFill>
                <a:latin typeface="Georgia" pitchFamily="34" charset="0"/>
                <a:ea typeface="Georgia" pitchFamily="34" charset="-122"/>
                <a:cs typeface="Georgia" pitchFamily="34" charset="-120"/>
              </a:rPr>
              <a:t>externo</a:t>
            </a:r>
            <a:r>
              <a:rPr lang="en-US" sz="2100" i="1" dirty="0">
                <a:solidFill>
                  <a:srgbClr val="3A342A"/>
                </a:solidFill>
                <a:latin typeface="Georgia" pitchFamily="34" charset="0"/>
                <a:ea typeface="Georgia" pitchFamily="34" charset="-122"/>
                <a:cs typeface="Georgia" pitchFamily="34" charset="-120"/>
              </a:rPr>
              <a:t> </a:t>
            </a:r>
            <a:r>
              <a:rPr lang="en-US" sz="2100" dirty="0">
                <a:solidFill>
                  <a:srgbClr val="3A342A"/>
                </a:solidFill>
                <a:latin typeface="Georgia" pitchFamily="34" charset="0"/>
                <a:ea typeface="Georgia" pitchFamily="34" charset="-122"/>
                <a:cs typeface="Georgia" pitchFamily="34" charset="-120"/>
              </a:rPr>
              <a:t>a la Patagonia</a:t>
            </a:r>
            <a:endParaRPr lang="en-US" sz="2100" dirty="0"/>
          </a:p>
        </p:txBody>
      </p:sp>
      <p:sp>
        <p:nvSpPr>
          <p:cNvPr id="17" name="Text 15">
            <a:extLst>
              <a:ext uri="{FF2B5EF4-FFF2-40B4-BE49-F238E27FC236}">
                <a16:creationId xmlns:a16="http://schemas.microsoft.com/office/drawing/2014/main" id="{0E9FA5F9-B61D-187F-AE8A-7B4BA5517B48}"/>
              </a:ext>
            </a:extLst>
          </p:cNvPr>
          <p:cNvSpPr/>
          <p:nvPr/>
        </p:nvSpPr>
        <p:spPr>
          <a:xfrm>
            <a:off x="857250" y="9372600"/>
            <a:ext cx="3048767"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DE LA PATAGONIA</a:t>
            </a:r>
            <a:endParaRPr lang="en-US" sz="1050" dirty="0"/>
          </a:p>
        </p:txBody>
      </p:sp>
      <p:sp>
        <p:nvSpPr>
          <p:cNvPr id="18" name="Text 16">
            <a:extLst>
              <a:ext uri="{FF2B5EF4-FFF2-40B4-BE49-F238E27FC236}">
                <a16:creationId xmlns:a16="http://schemas.microsoft.com/office/drawing/2014/main" id="{8755A8D1-0AA4-2E7D-7A06-5D007EB2364F}"/>
              </a:ext>
            </a:extLst>
          </p:cNvPr>
          <p:cNvSpPr/>
          <p:nvPr/>
        </p:nvSpPr>
        <p:spPr>
          <a:xfrm>
            <a:off x="8183612" y="93726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07 / 40</a:t>
            </a:r>
            <a:endParaRPr lang="en-US" sz="1050" dirty="0"/>
          </a:p>
        </p:txBody>
      </p:sp>
      <p:sp>
        <p:nvSpPr>
          <p:cNvPr id="19" name="Shape 17">
            <a:extLst>
              <a:ext uri="{FF2B5EF4-FFF2-40B4-BE49-F238E27FC236}">
                <a16:creationId xmlns:a16="http://schemas.microsoft.com/office/drawing/2014/main" id="{705D3694-219B-F3B9-B304-F5FEF4CF3D5C}"/>
              </a:ext>
            </a:extLst>
          </p:cNvPr>
          <p:cNvSpPr/>
          <p:nvPr/>
        </p:nvSpPr>
        <p:spPr>
          <a:xfrm>
            <a:off x="9579397" y="0"/>
            <a:ext cx="8708603" cy="10287000"/>
          </a:xfrm>
          <a:prstGeom prst="rect">
            <a:avLst/>
          </a:prstGeom>
          <a:solidFill>
            <a:srgbClr val="F1ECE0"/>
          </a:solidFill>
          <a:ln/>
        </p:spPr>
        <p:txBody>
          <a:bodyPr/>
          <a:lstStyle/>
          <a:p>
            <a:endParaRPr lang="en-AR"/>
          </a:p>
        </p:txBody>
      </p:sp>
      <p:sp>
        <p:nvSpPr>
          <p:cNvPr id="20" name="Shape 18">
            <a:extLst>
              <a:ext uri="{FF2B5EF4-FFF2-40B4-BE49-F238E27FC236}">
                <a16:creationId xmlns:a16="http://schemas.microsoft.com/office/drawing/2014/main" id="{F6E2865B-9837-5E6E-AAC8-96274225F76B}"/>
              </a:ext>
            </a:extLst>
          </p:cNvPr>
          <p:cNvSpPr/>
          <p:nvPr/>
        </p:nvSpPr>
        <p:spPr>
          <a:xfrm>
            <a:off x="9579397" y="0"/>
            <a:ext cx="9525" cy="10287000"/>
          </a:xfrm>
          <a:prstGeom prst="rect">
            <a:avLst/>
          </a:prstGeom>
          <a:solidFill>
            <a:srgbClr val="D9D2C0"/>
          </a:solidFill>
          <a:ln/>
        </p:spPr>
        <p:txBody>
          <a:bodyPr/>
          <a:lstStyle/>
          <a:p>
            <a:endParaRPr lang="en-AR"/>
          </a:p>
        </p:txBody>
      </p:sp>
      <p:sp>
        <p:nvSpPr>
          <p:cNvPr id="21" name="Text 19">
            <a:extLst>
              <a:ext uri="{FF2B5EF4-FFF2-40B4-BE49-F238E27FC236}">
                <a16:creationId xmlns:a16="http://schemas.microsoft.com/office/drawing/2014/main" id="{96A8EF5F-C435-D57C-6A97-A501A3259A30}"/>
              </a:ext>
            </a:extLst>
          </p:cNvPr>
          <p:cNvSpPr/>
          <p:nvPr/>
        </p:nvSpPr>
        <p:spPr>
          <a:xfrm>
            <a:off x="9684172" y="133350"/>
            <a:ext cx="1681237" cy="166688"/>
          </a:xfrm>
          <a:prstGeom prst="rect">
            <a:avLst/>
          </a:prstGeom>
          <a:noFill/>
          <a:ln/>
        </p:spPr>
        <p:txBody>
          <a:bodyPr wrap="square" lIns="25400" tIns="25400" rIns="25400" bIns="25400" rtlCol="0" anchor="t">
            <a:normAutofit fontScale="92500" lnSpcReduction="10000"/>
          </a:bodyPr>
          <a:lstStyle/>
          <a:p>
            <a:pPr marL="0" indent="0" algn="ctr">
              <a:buNone/>
            </a:pPr>
            <a:r>
              <a:rPr lang="en-US" sz="900" kern="0" spc="162" dirty="0">
                <a:solidFill>
                  <a:srgbClr val="8A8170"/>
                </a:solidFill>
                <a:latin typeface="Courier New" pitchFamily="34" charset="0"/>
                <a:ea typeface="Courier New" pitchFamily="34" charset="-122"/>
                <a:cs typeface="Courier New" pitchFamily="34" charset="-120"/>
              </a:rPr>
              <a:t>[ IMG · 870×1080 ]</a:t>
            </a:r>
            <a:endParaRPr lang="en-US" sz="900" dirty="0"/>
          </a:p>
        </p:txBody>
      </p:sp>
      <p:pic>
        <p:nvPicPr>
          <p:cNvPr id="2050" name="Picture 2">
            <a:extLst>
              <a:ext uri="{FF2B5EF4-FFF2-40B4-BE49-F238E27FC236}">
                <a16:creationId xmlns:a16="http://schemas.microsoft.com/office/drawing/2014/main" id="{82F6BF9A-5E6D-3F81-45CC-FCC3DD597357}"/>
              </a:ext>
            </a:extLst>
          </p:cNvPr>
          <p:cNvPicPr>
            <a:picLocks noChangeAspect="1" noChangeArrowheads="1"/>
          </p:cNvPicPr>
          <p:nvPr/>
        </p:nvPicPr>
        <p:blipFill>
          <a:blip r:embed="rId3"/>
          <a:srcRect t="5761" b="5761"/>
          <a:stretch/>
        </p:blipFill>
        <p:spPr bwMode="auto">
          <a:xfrm>
            <a:off x="9579395" y="0"/>
            <a:ext cx="8708605" cy="1028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5043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AF8F3"/>
        </a:solidFill>
        <a:effectLst/>
      </p:bgPr>
    </p:bg>
    <p:spTree>
      <p:nvGrpSpPr>
        <p:cNvPr id="1" name=""/>
        <p:cNvGrpSpPr/>
        <p:nvPr/>
      </p:nvGrpSpPr>
      <p:grpSpPr>
        <a:xfrm>
          <a:off x="0" y="0"/>
          <a:ext cx="0" cy="0"/>
          <a:chOff x="0" y="0"/>
          <a:chExt cx="0" cy="0"/>
        </a:xfrm>
      </p:grpSpPr>
      <p:sp>
        <p:nvSpPr>
          <p:cNvPr id="2" name="Shape 0"/>
          <p:cNvSpPr/>
          <p:nvPr/>
        </p:nvSpPr>
        <p:spPr>
          <a:xfrm>
            <a:off x="857250" y="1266825"/>
            <a:ext cx="7864897" cy="9525"/>
          </a:xfrm>
          <a:prstGeom prst="rect">
            <a:avLst/>
          </a:prstGeom>
          <a:solidFill>
            <a:srgbClr val="D9D2C0"/>
          </a:solidFill>
          <a:ln/>
        </p:spPr>
        <p:txBody>
          <a:bodyPr/>
          <a:lstStyle/>
          <a:p>
            <a:endParaRPr lang="en-AR"/>
          </a:p>
        </p:txBody>
      </p:sp>
      <p:sp>
        <p:nvSpPr>
          <p:cNvPr id="3" name="Shape 1"/>
          <p:cNvSpPr/>
          <p:nvPr/>
        </p:nvSpPr>
        <p:spPr>
          <a:xfrm>
            <a:off x="85725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228725" y="788194"/>
            <a:ext cx="2128093"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CAPÍTULO 02 · CASO</a:t>
            </a:r>
            <a:endParaRPr lang="en-US" sz="1200" dirty="0"/>
          </a:p>
        </p:txBody>
      </p:sp>
      <p:sp>
        <p:nvSpPr>
          <p:cNvPr id="5" name="Text 3"/>
          <p:cNvSpPr/>
          <p:nvPr/>
        </p:nvSpPr>
        <p:spPr>
          <a:xfrm>
            <a:off x="7119565" y="804863"/>
            <a:ext cx="1678781"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BODH GAYA · INDIA</a:t>
            </a:r>
            <a:endParaRPr lang="en-US" sz="1050" dirty="0"/>
          </a:p>
        </p:txBody>
      </p:sp>
      <p:sp>
        <p:nvSpPr>
          <p:cNvPr id="6" name="Text 4"/>
          <p:cNvSpPr/>
          <p:nvPr/>
        </p:nvSpPr>
        <p:spPr>
          <a:xfrm>
            <a:off x="857250" y="2948434"/>
            <a:ext cx="8100844"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EL PRECEDENTE</a:t>
            </a:r>
            <a:endParaRPr lang="en-US" sz="1350" dirty="0"/>
          </a:p>
        </p:txBody>
      </p:sp>
      <p:sp>
        <p:nvSpPr>
          <p:cNvPr id="7" name="Text 5"/>
          <p:cNvSpPr/>
          <p:nvPr/>
        </p:nvSpPr>
        <p:spPr>
          <a:xfrm>
            <a:off x="857250" y="3424684"/>
            <a:ext cx="8100844" cy="2177653"/>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Bodh Gaya: una ciudad </a:t>
            </a:r>
            <a:r>
              <a:rPr lang="en-US" sz="5400" i="1" kern="0" spc="-97" dirty="0">
                <a:solidFill>
                  <a:srgbClr val="8A6420"/>
                </a:solidFill>
                <a:latin typeface="Georgia" pitchFamily="34" charset="0"/>
                <a:ea typeface="Georgia" pitchFamily="34" charset="-122"/>
                <a:cs typeface="Georgia" pitchFamily="34" charset="-120"/>
              </a:rPr>
              <a:t>sin atractivos naturales </a:t>
            </a:r>
            <a:r>
              <a:rPr lang="en-US" sz="5400" kern="0" spc="-97" dirty="0">
                <a:solidFill>
                  <a:srgbClr val="14110D"/>
                </a:solidFill>
                <a:latin typeface="Georgia" pitchFamily="34" charset="0"/>
                <a:ea typeface="Georgia" pitchFamily="34" charset="-122"/>
                <a:cs typeface="Georgia" pitchFamily="34" charset="-120"/>
              </a:rPr>
              <a:t>.</a:t>
            </a:r>
            <a:endParaRPr lang="en-US" sz="5400" dirty="0"/>
          </a:p>
        </p:txBody>
      </p:sp>
      <p:sp>
        <p:nvSpPr>
          <p:cNvPr id="8" name="Text 6"/>
          <p:cNvSpPr/>
          <p:nvPr/>
        </p:nvSpPr>
        <p:spPr>
          <a:xfrm>
            <a:off x="857250" y="5907137"/>
            <a:ext cx="8100844" cy="1198066"/>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100" dirty="0">
                <a:solidFill>
                  <a:srgbClr val="3A342A"/>
                </a:solidFill>
                <a:latin typeface="Georgia" pitchFamily="34" charset="0"/>
                <a:ea typeface="Georgia" pitchFamily="34" charset="-122"/>
                <a:cs typeface="Georgia" pitchFamily="34" charset="-120"/>
              </a:rPr>
              <a:t>Pequeña, en el estado de Bihar, India. Sin playas, sin montañas, sin lagos. Y sin embargo, recibe más visitantes al año que muchas capitales sudamericanas.</a:t>
            </a:r>
            <a:endParaRPr lang="en-US" sz="2100" dirty="0"/>
          </a:p>
        </p:txBody>
      </p:sp>
      <p:sp>
        <p:nvSpPr>
          <p:cNvPr id="9" name="Shape 7"/>
          <p:cNvSpPr/>
          <p:nvPr/>
        </p:nvSpPr>
        <p:spPr>
          <a:xfrm>
            <a:off x="857250" y="8453438"/>
            <a:ext cx="7864897" cy="9525"/>
          </a:xfrm>
          <a:prstGeom prst="rect">
            <a:avLst/>
          </a:prstGeom>
          <a:solidFill>
            <a:srgbClr val="D9D2C0"/>
          </a:solidFill>
          <a:ln/>
        </p:spPr>
        <p:txBody>
          <a:bodyPr/>
          <a:lstStyle/>
          <a:p>
            <a:endParaRPr lang="en-AR"/>
          </a:p>
        </p:txBody>
      </p:sp>
      <p:sp>
        <p:nvSpPr>
          <p:cNvPr id="10" name="Text 8"/>
          <p:cNvSpPr/>
          <p:nvPr/>
        </p:nvSpPr>
        <p:spPr>
          <a:xfrm>
            <a:off x="857250" y="8691563"/>
            <a:ext cx="1961331"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UNESCO</a:t>
            </a:r>
            <a:endParaRPr lang="en-US" sz="975" dirty="0"/>
          </a:p>
        </p:txBody>
      </p:sp>
      <p:sp>
        <p:nvSpPr>
          <p:cNvPr id="11" name="Text 9"/>
          <p:cNvSpPr/>
          <p:nvPr/>
        </p:nvSpPr>
        <p:spPr>
          <a:xfrm>
            <a:off x="857250" y="8896350"/>
            <a:ext cx="1961331"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3A342A"/>
                </a:solidFill>
                <a:latin typeface="Georgia" pitchFamily="34" charset="0"/>
                <a:ea typeface="Georgia" pitchFamily="34" charset="-122"/>
                <a:cs typeface="Georgia" pitchFamily="34" charset="-120"/>
              </a:rPr>
              <a:t>Patrimonio Mundial</a:t>
            </a:r>
            <a:endParaRPr lang="en-US" sz="1650" dirty="0"/>
          </a:p>
        </p:txBody>
      </p:sp>
      <p:sp>
        <p:nvSpPr>
          <p:cNvPr id="12" name="Text 10"/>
          <p:cNvSpPr/>
          <p:nvPr/>
        </p:nvSpPr>
        <p:spPr>
          <a:xfrm>
            <a:off x="3199581" y="8691563"/>
            <a:ext cx="1234008"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DESDE</a:t>
            </a:r>
            <a:endParaRPr lang="en-US" sz="975" dirty="0"/>
          </a:p>
        </p:txBody>
      </p:sp>
      <p:sp>
        <p:nvSpPr>
          <p:cNvPr id="13" name="Text 11"/>
          <p:cNvSpPr/>
          <p:nvPr/>
        </p:nvSpPr>
        <p:spPr>
          <a:xfrm>
            <a:off x="3199581" y="8896350"/>
            <a:ext cx="1234008"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3A342A"/>
                </a:solidFill>
                <a:latin typeface="Georgia" pitchFamily="34" charset="0"/>
                <a:ea typeface="Georgia" pitchFamily="34" charset="-122"/>
                <a:cs typeface="Georgia" pitchFamily="34" charset="-120"/>
              </a:rPr>
              <a:t>Siglo III a.C.</a:t>
            </a:r>
            <a:endParaRPr lang="en-US" sz="1650" dirty="0"/>
          </a:p>
        </p:txBody>
      </p:sp>
      <p:sp>
        <p:nvSpPr>
          <p:cNvPr id="14" name="Text 12"/>
          <p:cNvSpPr/>
          <p:nvPr/>
        </p:nvSpPr>
        <p:spPr>
          <a:xfrm>
            <a:off x="4814590" y="8691563"/>
            <a:ext cx="1713309"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VISITANTES</a:t>
            </a:r>
            <a:endParaRPr lang="en-US" sz="975" dirty="0"/>
          </a:p>
        </p:txBody>
      </p:sp>
      <p:sp>
        <p:nvSpPr>
          <p:cNvPr id="15" name="Text 13"/>
          <p:cNvSpPr/>
          <p:nvPr/>
        </p:nvSpPr>
        <p:spPr>
          <a:xfrm>
            <a:off x="4814590" y="8896350"/>
            <a:ext cx="1713309"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3A342A"/>
                </a:solidFill>
                <a:latin typeface="Georgia" pitchFamily="34" charset="0"/>
                <a:ea typeface="Georgia" pitchFamily="34" charset="-122"/>
                <a:cs typeface="Georgia" pitchFamily="34" charset="-120"/>
              </a:rPr>
              <a:t>+3 millones / año</a:t>
            </a:r>
            <a:endParaRPr lang="en-US" sz="1650" dirty="0"/>
          </a:p>
        </p:txBody>
      </p:sp>
      <p:sp>
        <p:nvSpPr>
          <p:cNvPr id="16" name="Shape 14"/>
          <p:cNvSpPr/>
          <p:nvPr/>
        </p:nvSpPr>
        <p:spPr>
          <a:xfrm>
            <a:off x="857250" y="9134475"/>
            <a:ext cx="7864897" cy="9525"/>
          </a:xfrm>
          <a:prstGeom prst="rect">
            <a:avLst/>
          </a:prstGeom>
          <a:solidFill>
            <a:srgbClr val="D9D2C0"/>
          </a:solidFill>
          <a:ln/>
        </p:spPr>
        <p:txBody>
          <a:bodyPr/>
          <a:lstStyle/>
          <a:p>
            <a:endParaRPr lang="en-AR"/>
          </a:p>
        </p:txBody>
      </p:sp>
      <p:sp>
        <p:nvSpPr>
          <p:cNvPr id="17" name="Text 15"/>
          <p:cNvSpPr/>
          <p:nvPr/>
        </p:nvSpPr>
        <p:spPr>
          <a:xfrm>
            <a:off x="857250" y="9372600"/>
            <a:ext cx="3048767"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DE LA PATAGONIA</a:t>
            </a:r>
            <a:endParaRPr lang="en-US" sz="1050" dirty="0"/>
          </a:p>
        </p:txBody>
      </p:sp>
      <p:sp>
        <p:nvSpPr>
          <p:cNvPr id="18" name="Text 16"/>
          <p:cNvSpPr/>
          <p:nvPr/>
        </p:nvSpPr>
        <p:spPr>
          <a:xfrm>
            <a:off x="8183612" y="93726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08 / 40 </a:t>
            </a:r>
            <a:endParaRPr lang="en-US" sz="1050" dirty="0"/>
          </a:p>
        </p:txBody>
      </p:sp>
      <p:sp>
        <p:nvSpPr>
          <p:cNvPr id="19" name="Shape 17"/>
          <p:cNvSpPr/>
          <p:nvPr/>
        </p:nvSpPr>
        <p:spPr>
          <a:xfrm>
            <a:off x="9579397" y="0"/>
            <a:ext cx="8708603" cy="10287000"/>
          </a:xfrm>
          <a:prstGeom prst="rect">
            <a:avLst/>
          </a:prstGeom>
          <a:solidFill>
            <a:srgbClr val="F1ECE0"/>
          </a:solidFill>
          <a:ln/>
        </p:spPr>
        <p:txBody>
          <a:bodyPr/>
          <a:lstStyle/>
          <a:p>
            <a:endParaRPr lang="en-AR"/>
          </a:p>
        </p:txBody>
      </p:sp>
      <p:sp>
        <p:nvSpPr>
          <p:cNvPr id="20" name="Shape 18"/>
          <p:cNvSpPr/>
          <p:nvPr/>
        </p:nvSpPr>
        <p:spPr>
          <a:xfrm>
            <a:off x="9579397" y="0"/>
            <a:ext cx="9525" cy="10287000"/>
          </a:xfrm>
          <a:prstGeom prst="rect">
            <a:avLst/>
          </a:prstGeom>
          <a:solidFill>
            <a:srgbClr val="D9D2C0"/>
          </a:solidFill>
          <a:ln/>
        </p:spPr>
        <p:txBody>
          <a:bodyPr/>
          <a:lstStyle/>
          <a:p>
            <a:endParaRPr lang="en-AR"/>
          </a:p>
        </p:txBody>
      </p:sp>
      <p:sp>
        <p:nvSpPr>
          <p:cNvPr id="21" name="Text 19"/>
          <p:cNvSpPr/>
          <p:nvPr/>
        </p:nvSpPr>
        <p:spPr>
          <a:xfrm>
            <a:off x="9684172" y="133350"/>
            <a:ext cx="1681237" cy="166688"/>
          </a:xfrm>
          <a:prstGeom prst="rect">
            <a:avLst/>
          </a:prstGeom>
          <a:noFill/>
          <a:ln/>
        </p:spPr>
        <p:txBody>
          <a:bodyPr wrap="square" lIns="25400" tIns="25400" rIns="25400" bIns="25400" rtlCol="0" anchor="t">
            <a:normAutofit fontScale="92500" lnSpcReduction="10000"/>
          </a:bodyPr>
          <a:lstStyle/>
          <a:p>
            <a:pPr marL="0" indent="0" algn="ctr">
              <a:buNone/>
            </a:pPr>
            <a:r>
              <a:rPr lang="en-US" sz="900" kern="0" spc="162" dirty="0">
                <a:solidFill>
                  <a:srgbClr val="8A8170"/>
                </a:solidFill>
                <a:latin typeface="Courier New" pitchFamily="34" charset="0"/>
                <a:ea typeface="Courier New" pitchFamily="34" charset="-122"/>
                <a:cs typeface="Courier New" pitchFamily="34" charset="-120"/>
              </a:rPr>
              <a:t>[ IMG · 870×1080 ]</a:t>
            </a:r>
            <a:endParaRPr lang="en-US" sz="900" dirty="0"/>
          </a:p>
        </p:txBody>
      </p:sp>
      <p:pic>
        <p:nvPicPr>
          <p:cNvPr id="2050" name="Picture 2" descr="Pilgrims outside Mahabodhi Temple … … – License image – 71019419 ❘  lookphotos">
            <a:extLst>
              <a:ext uri="{FF2B5EF4-FFF2-40B4-BE49-F238E27FC236}">
                <a16:creationId xmlns:a16="http://schemas.microsoft.com/office/drawing/2014/main" id="{91F98EE4-D41A-EB4C-0840-B43E4BE1CDF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3588"/>
          <a:stretch>
            <a:fillRect/>
          </a:stretch>
        </p:blipFill>
        <p:spPr bwMode="auto">
          <a:xfrm>
            <a:off x="9579395" y="0"/>
            <a:ext cx="8708605" cy="1028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1ECE0"/>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5100920" y="804863"/>
            <a:ext cx="2310780"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CAPÍTULO 02 · BODH GAYA</a:t>
            </a:r>
            <a:endParaRPr lang="en-US" sz="1050" dirty="0"/>
          </a:p>
        </p:txBody>
      </p:sp>
      <p:sp>
        <p:nvSpPr>
          <p:cNvPr id="6" name="Text 4"/>
          <p:cNvSpPr/>
          <p:nvPr/>
        </p:nvSpPr>
        <p:spPr>
          <a:xfrm>
            <a:off x="952500" y="1752600"/>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POR QUÉ FUNCIONA</a:t>
            </a:r>
            <a:endParaRPr lang="en-US" sz="1350" dirty="0"/>
          </a:p>
        </p:txBody>
      </p:sp>
      <p:sp>
        <p:nvSpPr>
          <p:cNvPr id="7" name="Text 5"/>
          <p:cNvSpPr/>
          <p:nvPr/>
        </p:nvSpPr>
        <p:spPr>
          <a:xfrm>
            <a:off x="952500" y="2190750"/>
            <a:ext cx="16874490" cy="1464469"/>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No es una atracción. Es </a:t>
            </a:r>
            <a:r>
              <a:rPr lang="en-US" sz="5400" i="1" kern="0" spc="-97" dirty="0">
                <a:solidFill>
                  <a:srgbClr val="8A6420"/>
                </a:solidFill>
                <a:latin typeface="Georgia" pitchFamily="34" charset="0"/>
                <a:ea typeface="Georgia" pitchFamily="34" charset="-122"/>
                <a:cs typeface="Georgia" pitchFamily="34" charset="-120"/>
              </a:rPr>
              <a:t>un circuito.</a:t>
            </a:r>
            <a:endParaRPr lang="en-US" sz="5400" dirty="0"/>
          </a:p>
        </p:txBody>
      </p:sp>
      <p:sp>
        <p:nvSpPr>
          <p:cNvPr id="8" name="Shape 6"/>
          <p:cNvSpPr/>
          <p:nvPr/>
        </p:nvSpPr>
        <p:spPr>
          <a:xfrm>
            <a:off x="952500" y="6700242"/>
            <a:ext cx="16383000" cy="9525"/>
          </a:xfrm>
          <a:prstGeom prst="rect">
            <a:avLst/>
          </a:prstGeom>
          <a:solidFill>
            <a:srgbClr val="D9D2C0"/>
          </a:solidFill>
          <a:ln/>
        </p:spPr>
        <p:txBody>
          <a:bodyPr/>
          <a:lstStyle/>
          <a:p>
            <a:endParaRPr lang="en-AR"/>
          </a:p>
        </p:txBody>
      </p:sp>
      <p:sp>
        <p:nvSpPr>
          <p:cNvPr id="9" name="Shape 7"/>
          <p:cNvSpPr/>
          <p:nvPr/>
        </p:nvSpPr>
        <p:spPr>
          <a:xfrm>
            <a:off x="952500" y="4150519"/>
            <a:ext cx="16383000" cy="9525"/>
          </a:xfrm>
          <a:prstGeom prst="rect">
            <a:avLst/>
          </a:prstGeom>
          <a:solidFill>
            <a:srgbClr val="D9D2C0"/>
          </a:solidFill>
          <a:ln/>
        </p:spPr>
        <p:txBody>
          <a:bodyPr/>
          <a:lstStyle/>
          <a:p>
            <a:endParaRPr lang="en-AR"/>
          </a:p>
        </p:txBody>
      </p:sp>
      <p:sp>
        <p:nvSpPr>
          <p:cNvPr id="10" name="Shape 8"/>
          <p:cNvSpPr/>
          <p:nvPr/>
        </p:nvSpPr>
        <p:spPr>
          <a:xfrm>
            <a:off x="5038725" y="4160044"/>
            <a:ext cx="9525" cy="2540198"/>
          </a:xfrm>
          <a:prstGeom prst="rect">
            <a:avLst/>
          </a:prstGeom>
          <a:solidFill>
            <a:srgbClr val="D9D2C0"/>
          </a:solidFill>
          <a:ln/>
        </p:spPr>
        <p:txBody>
          <a:bodyPr/>
          <a:lstStyle/>
          <a:p>
            <a:endParaRPr lang="en-AR"/>
          </a:p>
        </p:txBody>
      </p:sp>
      <p:sp>
        <p:nvSpPr>
          <p:cNvPr id="11" name="Text 9"/>
          <p:cNvSpPr/>
          <p:nvPr/>
        </p:nvSpPr>
        <p:spPr>
          <a:xfrm>
            <a:off x="952500" y="4502944"/>
            <a:ext cx="3934111"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01</a:t>
            </a:r>
            <a:endParaRPr lang="en-US" sz="975" dirty="0"/>
          </a:p>
        </p:txBody>
      </p:sp>
      <p:sp>
        <p:nvSpPr>
          <p:cNvPr id="12" name="Text 10"/>
          <p:cNvSpPr/>
          <p:nvPr/>
        </p:nvSpPr>
        <p:spPr>
          <a:xfrm>
            <a:off x="952500" y="4802981"/>
            <a:ext cx="3934111"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Multi-templo</a:t>
            </a:r>
            <a:endParaRPr lang="en-US" sz="2100" dirty="0"/>
          </a:p>
        </p:txBody>
      </p:sp>
      <p:sp>
        <p:nvSpPr>
          <p:cNvPr id="13" name="Text 11"/>
          <p:cNvSpPr/>
          <p:nvPr/>
        </p:nvSpPr>
        <p:spPr>
          <a:xfrm>
            <a:off x="952500" y="5237262"/>
            <a:ext cx="3934111" cy="838200"/>
          </a:xfrm>
          <a:prstGeom prst="rect">
            <a:avLst/>
          </a:prstGeom>
          <a:noFill/>
          <a:ln/>
        </p:spPr>
        <p:txBody>
          <a:bodyPr wrap="square" lIns="25400" tIns="25400" rIns="25400" bIns="25400" rtlCol="0" anchor="t">
            <a:normAutofit/>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Cada escuela budista construyó el suyo: japonés, tibetano, tailandés, coreano, butanés.</a:t>
            </a:r>
            <a:endParaRPr lang="en-US" sz="1500" dirty="0"/>
          </a:p>
        </p:txBody>
      </p:sp>
      <p:sp>
        <p:nvSpPr>
          <p:cNvPr id="14" name="Shape 12"/>
          <p:cNvSpPr/>
          <p:nvPr/>
        </p:nvSpPr>
        <p:spPr>
          <a:xfrm>
            <a:off x="9134475" y="4160044"/>
            <a:ext cx="9525" cy="2540198"/>
          </a:xfrm>
          <a:prstGeom prst="rect">
            <a:avLst/>
          </a:prstGeom>
          <a:solidFill>
            <a:srgbClr val="D9D2C0"/>
          </a:solidFill>
          <a:ln/>
        </p:spPr>
        <p:txBody>
          <a:bodyPr/>
          <a:lstStyle/>
          <a:p>
            <a:endParaRPr lang="en-AR"/>
          </a:p>
        </p:txBody>
      </p:sp>
      <p:sp>
        <p:nvSpPr>
          <p:cNvPr id="15" name="Text 13"/>
          <p:cNvSpPr/>
          <p:nvPr/>
        </p:nvSpPr>
        <p:spPr>
          <a:xfrm>
            <a:off x="5314950" y="4502944"/>
            <a:ext cx="3659410"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02</a:t>
            </a:r>
            <a:endParaRPr lang="en-US" sz="975" dirty="0"/>
          </a:p>
        </p:txBody>
      </p:sp>
      <p:sp>
        <p:nvSpPr>
          <p:cNvPr id="16" name="Text 14"/>
          <p:cNvSpPr/>
          <p:nvPr/>
        </p:nvSpPr>
        <p:spPr>
          <a:xfrm>
            <a:off x="5314950" y="4802981"/>
            <a:ext cx="3659410"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Acceso libre</a:t>
            </a:r>
            <a:endParaRPr lang="en-US" sz="2100" dirty="0"/>
          </a:p>
        </p:txBody>
      </p:sp>
      <p:sp>
        <p:nvSpPr>
          <p:cNvPr id="17" name="Text 15"/>
          <p:cNvSpPr/>
          <p:nvPr/>
        </p:nvSpPr>
        <p:spPr>
          <a:xfrm>
            <a:off x="5314950" y="5237262"/>
            <a:ext cx="3659410" cy="838200"/>
          </a:xfrm>
          <a:prstGeom prst="rect">
            <a:avLst/>
          </a:prstGeom>
          <a:noFill/>
          <a:ln/>
        </p:spPr>
        <p:txBody>
          <a:bodyPr wrap="square" lIns="25400" tIns="25400" rIns="25400" bIns="25400" rtlCol="0" anchor="t">
            <a:normAutofit/>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Sin entrada paga. El visitante recorre, hace ofrendas, medita, observa ceremonias.</a:t>
            </a:r>
            <a:endParaRPr lang="en-US" sz="1500" dirty="0"/>
          </a:p>
        </p:txBody>
      </p:sp>
      <p:sp>
        <p:nvSpPr>
          <p:cNvPr id="18" name="Shape 16"/>
          <p:cNvSpPr/>
          <p:nvPr/>
        </p:nvSpPr>
        <p:spPr>
          <a:xfrm>
            <a:off x="13230225" y="4160044"/>
            <a:ext cx="9525" cy="2540198"/>
          </a:xfrm>
          <a:prstGeom prst="rect">
            <a:avLst/>
          </a:prstGeom>
          <a:solidFill>
            <a:srgbClr val="D9D2C0"/>
          </a:solidFill>
          <a:ln/>
        </p:spPr>
        <p:txBody>
          <a:bodyPr/>
          <a:lstStyle/>
          <a:p>
            <a:endParaRPr lang="en-AR"/>
          </a:p>
        </p:txBody>
      </p:sp>
      <p:sp>
        <p:nvSpPr>
          <p:cNvPr id="19" name="Text 17"/>
          <p:cNvSpPr/>
          <p:nvPr/>
        </p:nvSpPr>
        <p:spPr>
          <a:xfrm>
            <a:off x="9410700" y="4502944"/>
            <a:ext cx="3659410"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03</a:t>
            </a:r>
            <a:endParaRPr lang="en-US" sz="975" dirty="0"/>
          </a:p>
        </p:txBody>
      </p:sp>
      <p:sp>
        <p:nvSpPr>
          <p:cNvPr id="20" name="Text 18"/>
          <p:cNvSpPr/>
          <p:nvPr/>
        </p:nvSpPr>
        <p:spPr>
          <a:xfrm>
            <a:off x="9410700" y="4802981"/>
            <a:ext cx="3659410" cy="678061"/>
          </a:xfrm>
          <a:prstGeom prst="rect">
            <a:avLst/>
          </a:prstGeom>
          <a:noFill/>
          <a:ln/>
        </p:spPr>
        <p:txBody>
          <a:bodyPr wrap="square" lIns="25400" tIns="25400" rIns="25400" bIns="25400" rtlCol="0" anchor="t">
            <a:normAutofit fontScale="925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Financiamiento descentralizado</a:t>
            </a:r>
            <a:endParaRPr lang="en-US" sz="2100" dirty="0"/>
          </a:p>
        </p:txBody>
      </p:sp>
      <p:sp>
        <p:nvSpPr>
          <p:cNvPr id="21" name="Text 19"/>
          <p:cNvSpPr/>
          <p:nvPr/>
        </p:nvSpPr>
        <p:spPr>
          <a:xfrm>
            <a:off x="9410700" y="5557242"/>
            <a:ext cx="3659410" cy="83820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Cada comunidad financia su propio templo. La carga local es prácticamente nula.</a:t>
            </a:r>
            <a:endParaRPr lang="en-US" sz="1500" dirty="0"/>
          </a:p>
        </p:txBody>
      </p:sp>
      <p:sp>
        <p:nvSpPr>
          <p:cNvPr id="22" name="Text 20"/>
          <p:cNvSpPr/>
          <p:nvPr/>
        </p:nvSpPr>
        <p:spPr>
          <a:xfrm>
            <a:off x="13506450" y="4502944"/>
            <a:ext cx="3943922"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04</a:t>
            </a:r>
            <a:endParaRPr lang="en-US" sz="975" dirty="0"/>
          </a:p>
        </p:txBody>
      </p:sp>
      <p:sp>
        <p:nvSpPr>
          <p:cNvPr id="23" name="Text 21"/>
          <p:cNvSpPr/>
          <p:nvPr/>
        </p:nvSpPr>
        <p:spPr>
          <a:xfrm>
            <a:off x="13506450" y="4802981"/>
            <a:ext cx="3943922"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Economía de servicios</a:t>
            </a:r>
            <a:endParaRPr lang="en-US" sz="2100" dirty="0"/>
          </a:p>
        </p:txBody>
      </p:sp>
      <p:sp>
        <p:nvSpPr>
          <p:cNvPr id="24" name="Text 22"/>
          <p:cNvSpPr/>
          <p:nvPr/>
        </p:nvSpPr>
        <p:spPr>
          <a:xfrm>
            <a:off x="13506450" y="5237262"/>
            <a:ext cx="3943922" cy="5715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Hoteles, restaurantes, transporte, artesanías. La ciudad vive del flujo permanente.</a:t>
            </a:r>
            <a:endParaRPr lang="en-US" sz="1500" dirty="0"/>
          </a:p>
        </p:txBody>
      </p:sp>
      <p:sp>
        <p:nvSpPr>
          <p:cNvPr id="25" name="Text 23"/>
          <p:cNvSpPr/>
          <p:nvPr/>
        </p:nvSpPr>
        <p:spPr>
          <a:xfrm>
            <a:off x="952500" y="7166967"/>
            <a:ext cx="13735050" cy="39714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dirty="0">
                <a:solidFill>
                  <a:srgbClr val="3A342A"/>
                </a:solidFill>
                <a:latin typeface="Georgia" pitchFamily="34" charset="0"/>
                <a:ea typeface="Georgia" pitchFamily="34" charset="-122"/>
                <a:cs typeface="Georgia" pitchFamily="34" charset="-120"/>
              </a:rPr>
              <a:t>Cuatro elementos. Ninguno depende de la geografía. Todos son </a:t>
            </a:r>
            <a:r>
              <a:rPr lang="en-US" sz="1950" dirty="0">
                <a:solidFill>
                  <a:srgbClr val="14110D"/>
                </a:solidFill>
                <a:latin typeface="Georgia" pitchFamily="34" charset="0"/>
                <a:ea typeface="Georgia" pitchFamily="34" charset="-122"/>
                <a:cs typeface="Georgia" pitchFamily="34" charset="-120"/>
              </a:rPr>
              <a:t>trasplantables</a:t>
            </a:r>
            <a:r>
              <a:rPr lang="en-US" sz="1950" dirty="0">
                <a:solidFill>
                  <a:srgbClr val="3A342A"/>
                </a:solidFill>
                <a:latin typeface="Georgia" pitchFamily="34" charset="0"/>
                <a:ea typeface="Georgia" pitchFamily="34" charset="-122"/>
                <a:cs typeface="Georgia" pitchFamily="34" charset="-120"/>
              </a:rPr>
              <a:t>.</a:t>
            </a:r>
            <a:endParaRPr lang="en-US" sz="1950" dirty="0"/>
          </a:p>
        </p:txBody>
      </p:sp>
      <p:sp>
        <p:nvSpPr>
          <p:cNvPr id="26" name="Shape 24"/>
          <p:cNvSpPr/>
          <p:nvPr/>
        </p:nvSpPr>
        <p:spPr>
          <a:xfrm>
            <a:off x="952500" y="9134475"/>
            <a:ext cx="16383000" cy="9525"/>
          </a:xfrm>
          <a:prstGeom prst="rect">
            <a:avLst/>
          </a:prstGeom>
          <a:solidFill>
            <a:srgbClr val="D9D2C0"/>
          </a:solidFill>
          <a:ln/>
        </p:spPr>
        <p:txBody>
          <a:bodyPr/>
          <a:lstStyle/>
          <a:p>
            <a:endParaRPr lang="en-AR"/>
          </a:p>
        </p:txBody>
      </p:sp>
      <p:sp>
        <p:nvSpPr>
          <p:cNvPr id="27" name="Text 25"/>
          <p:cNvSpPr/>
          <p:nvPr/>
        </p:nvSpPr>
        <p:spPr>
          <a:xfrm>
            <a:off x="952500" y="9372600"/>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28" name="Text 26"/>
          <p:cNvSpPr/>
          <p:nvPr/>
        </p:nvSpPr>
        <p:spPr>
          <a:xfrm>
            <a:off x="16796965" y="93726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09 / 40 </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AF8F3"/>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4865697" y="804863"/>
            <a:ext cx="2546003"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CAPÍTULO 02 · COMPARATIVO</a:t>
            </a:r>
            <a:endParaRPr lang="en-US" sz="1050" dirty="0"/>
          </a:p>
        </p:txBody>
      </p:sp>
      <p:sp>
        <p:nvSpPr>
          <p:cNvPr id="6" name="Text 4"/>
          <p:cNvSpPr/>
          <p:nvPr/>
        </p:nvSpPr>
        <p:spPr>
          <a:xfrm>
            <a:off x="952500" y="1657350"/>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LO QUE REPLICAMOS</a:t>
            </a:r>
            <a:endParaRPr lang="en-US" sz="1350" dirty="0"/>
          </a:p>
        </p:txBody>
      </p:sp>
      <p:sp>
        <p:nvSpPr>
          <p:cNvPr id="7" name="Text 5"/>
          <p:cNvSpPr/>
          <p:nvPr/>
        </p:nvSpPr>
        <p:spPr>
          <a:xfrm>
            <a:off x="952500" y="2095500"/>
            <a:ext cx="16874490" cy="1464469"/>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No copiamos un lugar. Replicamos </a:t>
            </a:r>
            <a:r>
              <a:rPr lang="en-US" sz="5400" i="1" kern="0" spc="-97" dirty="0">
                <a:solidFill>
                  <a:srgbClr val="8A6420"/>
                </a:solidFill>
                <a:latin typeface="Georgia" pitchFamily="34" charset="0"/>
                <a:ea typeface="Georgia" pitchFamily="34" charset="-122"/>
                <a:cs typeface="Georgia" pitchFamily="34" charset="-120"/>
              </a:rPr>
              <a:t>una arquitectura.</a:t>
            </a:r>
            <a:endParaRPr lang="en-US" sz="5400" dirty="0"/>
          </a:p>
        </p:txBody>
      </p:sp>
      <p:sp>
        <p:nvSpPr>
          <p:cNvPr id="8" name="Text 6"/>
          <p:cNvSpPr/>
          <p:nvPr/>
        </p:nvSpPr>
        <p:spPr>
          <a:xfrm>
            <a:off x="952500" y="4055269"/>
            <a:ext cx="7882938" cy="200025"/>
          </a:xfrm>
          <a:prstGeom prst="rect">
            <a:avLst/>
          </a:prstGeom>
          <a:noFill/>
          <a:ln/>
        </p:spPr>
        <p:txBody>
          <a:bodyPr wrap="square" lIns="25400" tIns="25400" rIns="25400" bIns="25400" rtlCol="0" anchor="t">
            <a:normAutofit lnSpcReduction="10000"/>
          </a:bodyPr>
          <a:lstStyle/>
          <a:p>
            <a:pPr marL="0" indent="0" algn="l">
              <a:buNone/>
            </a:pPr>
            <a:r>
              <a:rPr lang="en-US" sz="1050" b="1" kern="0" spc="231" dirty="0">
                <a:solidFill>
                  <a:srgbClr val="8A8170"/>
                </a:solidFill>
                <a:latin typeface="Arial" pitchFamily="34" charset="0"/>
                <a:ea typeface="Arial" pitchFamily="34" charset="-122"/>
                <a:cs typeface="Arial" pitchFamily="34" charset="-120"/>
              </a:rPr>
              <a:t>CASO DE REFERENCIA</a:t>
            </a:r>
            <a:endParaRPr lang="en-US" sz="1050" dirty="0"/>
          </a:p>
        </p:txBody>
      </p:sp>
      <p:sp>
        <p:nvSpPr>
          <p:cNvPr id="9" name="Text 7"/>
          <p:cNvSpPr/>
          <p:nvPr/>
        </p:nvSpPr>
        <p:spPr>
          <a:xfrm>
            <a:off x="952500" y="4445794"/>
            <a:ext cx="7882938" cy="1158180"/>
          </a:xfrm>
          <a:prstGeom prst="rect">
            <a:avLst/>
          </a:prstGeom>
          <a:noFill/>
          <a:ln/>
        </p:spPr>
        <p:txBody>
          <a:bodyPr wrap="square" lIns="25400" tIns="25400" rIns="25400" bIns="25400" rtlCol="0" anchor="t">
            <a:normAutofit/>
          </a:bodyPr>
          <a:lstStyle/>
          <a:p>
            <a:pPr marL="0" indent="0" algn="l">
              <a:lnSpc>
                <a:spcPct val="105000"/>
              </a:lnSpc>
              <a:buNone/>
            </a:pPr>
            <a:r>
              <a:rPr lang="en-US" sz="4200" dirty="0">
                <a:solidFill>
                  <a:srgbClr val="14110D"/>
                </a:solidFill>
                <a:latin typeface="Georgia" pitchFamily="34" charset="0"/>
                <a:ea typeface="Georgia" pitchFamily="34" charset="-122"/>
                <a:cs typeface="Georgia" pitchFamily="34" charset="-120"/>
              </a:rPr>
              <a:t>Bodh Gaya </a:t>
            </a:r>
            <a:r>
              <a:rPr lang="en-US" sz="2100" dirty="0">
                <a:solidFill>
                  <a:srgbClr val="8A8170"/>
                </a:solidFill>
                <a:latin typeface="Georgia" pitchFamily="34" charset="0"/>
                <a:ea typeface="Georgia" pitchFamily="34" charset="-122"/>
                <a:cs typeface="Georgia" pitchFamily="34" charset="-120"/>
              </a:rPr>
              <a:t>Bihar, India</a:t>
            </a:r>
            <a:endParaRPr lang="en-US" sz="4200" dirty="0"/>
          </a:p>
        </p:txBody>
      </p:sp>
      <p:sp>
        <p:nvSpPr>
          <p:cNvPr id="10" name="Text 8"/>
          <p:cNvSpPr/>
          <p:nvPr/>
        </p:nvSpPr>
        <p:spPr>
          <a:xfrm>
            <a:off x="952500" y="5832574"/>
            <a:ext cx="7882938" cy="876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600" kern="0" spc="-132" dirty="0">
                <a:solidFill>
                  <a:srgbClr val="8A6420"/>
                </a:solidFill>
                <a:latin typeface="Georgia" pitchFamily="34" charset="0"/>
                <a:ea typeface="Georgia" pitchFamily="34" charset="-122"/>
                <a:cs typeface="Georgia" pitchFamily="34" charset="-120"/>
              </a:rPr>
              <a:t>+3M</a:t>
            </a:r>
            <a:endParaRPr lang="en-US" sz="6600" dirty="0"/>
          </a:p>
        </p:txBody>
      </p:sp>
      <p:sp>
        <p:nvSpPr>
          <p:cNvPr id="11" name="Text 9"/>
          <p:cNvSpPr/>
          <p:nvPr/>
        </p:nvSpPr>
        <p:spPr>
          <a:xfrm>
            <a:off x="952500" y="6746974"/>
            <a:ext cx="7882938" cy="238125"/>
          </a:xfrm>
          <a:prstGeom prst="rect">
            <a:avLst/>
          </a:prstGeom>
          <a:noFill/>
          <a:ln/>
        </p:spPr>
        <p:txBody>
          <a:bodyPr wrap="square" lIns="25400" tIns="25400" rIns="25400" bIns="25400" rtlCol="0" anchor="t">
            <a:normAutofit lnSpcReduction="10000"/>
          </a:bodyPr>
          <a:lstStyle/>
          <a:p>
            <a:pPr marL="0" indent="0" algn="l">
              <a:buNone/>
            </a:pPr>
            <a:r>
              <a:rPr lang="en-US" sz="1350" kern="0" spc="68" dirty="0">
                <a:solidFill>
                  <a:srgbClr val="8A8170"/>
                </a:solidFill>
                <a:latin typeface="Arial" pitchFamily="34" charset="0"/>
                <a:ea typeface="Arial" pitchFamily="34" charset="-122"/>
                <a:cs typeface="Arial" pitchFamily="34" charset="-120"/>
              </a:rPr>
              <a:t>VISITANTES POR AÑO</a:t>
            </a:r>
            <a:endParaRPr lang="en-US" sz="1350" dirty="0"/>
          </a:p>
        </p:txBody>
      </p:sp>
      <p:sp>
        <p:nvSpPr>
          <p:cNvPr id="12" name="Text 10"/>
          <p:cNvSpPr/>
          <p:nvPr/>
        </p:nvSpPr>
        <p:spPr>
          <a:xfrm>
            <a:off x="952500" y="7251799"/>
            <a:ext cx="7882938" cy="99804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3A342A"/>
                </a:solidFill>
                <a:latin typeface="Georgia" pitchFamily="34" charset="0"/>
                <a:ea typeface="Georgia" pitchFamily="34" charset="-122"/>
                <a:cs typeface="Georgia" pitchFamily="34" charset="-120"/>
              </a:rPr>
              <a:t>Ciudad pequeña sin atractivos naturales. Hoy es el destino de peregrinaje budista más importante del planeta. Más de una docena de naciones tienen templos propios allí.</a:t>
            </a:r>
            <a:endParaRPr lang="en-US" sz="1800" dirty="0"/>
          </a:p>
        </p:txBody>
      </p:sp>
      <p:sp>
        <p:nvSpPr>
          <p:cNvPr id="13" name="Shape 11"/>
          <p:cNvSpPr/>
          <p:nvPr/>
        </p:nvSpPr>
        <p:spPr>
          <a:xfrm>
            <a:off x="9139238" y="4055269"/>
            <a:ext cx="9525" cy="5406107"/>
          </a:xfrm>
          <a:prstGeom prst="rect">
            <a:avLst/>
          </a:prstGeom>
          <a:solidFill>
            <a:srgbClr val="D9D2C0"/>
          </a:solidFill>
          <a:ln/>
        </p:spPr>
        <p:txBody>
          <a:bodyPr/>
          <a:lstStyle/>
          <a:p>
            <a:endParaRPr lang="en-AR"/>
          </a:p>
        </p:txBody>
      </p:sp>
      <p:sp>
        <p:nvSpPr>
          <p:cNvPr id="14" name="Text 12"/>
          <p:cNvSpPr/>
          <p:nvPr/>
        </p:nvSpPr>
        <p:spPr>
          <a:xfrm>
            <a:off x="9682163" y="4055269"/>
            <a:ext cx="7882938" cy="200025"/>
          </a:xfrm>
          <a:prstGeom prst="rect">
            <a:avLst/>
          </a:prstGeom>
          <a:noFill/>
          <a:ln/>
        </p:spPr>
        <p:txBody>
          <a:bodyPr wrap="square" lIns="25400" tIns="25400" rIns="25400" bIns="25400" rtlCol="0" anchor="t">
            <a:normAutofit lnSpcReduction="10000"/>
          </a:bodyPr>
          <a:lstStyle/>
          <a:p>
            <a:pPr marL="0" indent="0" algn="l">
              <a:buNone/>
            </a:pPr>
            <a:r>
              <a:rPr lang="en-US" sz="1050" b="1" kern="0" spc="231" dirty="0">
                <a:solidFill>
                  <a:srgbClr val="8A8170"/>
                </a:solidFill>
                <a:latin typeface="Arial" pitchFamily="34" charset="0"/>
                <a:ea typeface="Arial" pitchFamily="34" charset="-122"/>
                <a:cs typeface="Arial" pitchFamily="34" charset="-120"/>
              </a:rPr>
              <a:t>NUESTRA PROPUESTA</a:t>
            </a:r>
            <a:endParaRPr lang="en-US" sz="1050" dirty="0"/>
          </a:p>
        </p:txBody>
      </p:sp>
      <p:sp>
        <p:nvSpPr>
          <p:cNvPr id="15" name="Text 13"/>
          <p:cNvSpPr/>
          <p:nvPr/>
        </p:nvSpPr>
        <p:spPr>
          <a:xfrm>
            <a:off x="9682163" y="4445794"/>
            <a:ext cx="7882938" cy="1158180"/>
          </a:xfrm>
          <a:prstGeom prst="rect">
            <a:avLst/>
          </a:prstGeom>
          <a:noFill/>
          <a:ln/>
        </p:spPr>
        <p:txBody>
          <a:bodyPr wrap="square" lIns="25400" tIns="25400" rIns="25400" bIns="25400" rtlCol="0" anchor="t">
            <a:normAutofit/>
          </a:bodyPr>
          <a:lstStyle/>
          <a:p>
            <a:pPr marL="0" indent="0" algn="l">
              <a:lnSpc>
                <a:spcPct val="105000"/>
              </a:lnSpc>
              <a:buNone/>
            </a:pPr>
            <a:r>
              <a:rPr lang="en-US" sz="4200" dirty="0">
                <a:solidFill>
                  <a:srgbClr val="14110D"/>
                </a:solidFill>
                <a:latin typeface="Georgia" pitchFamily="34" charset="0"/>
                <a:ea typeface="Georgia" pitchFamily="34" charset="-122"/>
                <a:cs typeface="Georgia" pitchFamily="34" charset="-120"/>
              </a:rPr>
              <a:t>Esquel </a:t>
            </a:r>
            <a:r>
              <a:rPr lang="en-US" sz="2100" dirty="0">
                <a:solidFill>
                  <a:srgbClr val="8A8170"/>
                </a:solidFill>
                <a:latin typeface="Georgia" pitchFamily="34" charset="0"/>
                <a:ea typeface="Georgia" pitchFamily="34" charset="-122"/>
                <a:cs typeface="Georgia" pitchFamily="34" charset="-120"/>
              </a:rPr>
              <a:t>Chubut, Argentina</a:t>
            </a:r>
            <a:endParaRPr lang="en-US" sz="4200" dirty="0"/>
          </a:p>
        </p:txBody>
      </p:sp>
      <p:sp>
        <p:nvSpPr>
          <p:cNvPr id="16" name="Text 14"/>
          <p:cNvSpPr/>
          <p:nvPr/>
        </p:nvSpPr>
        <p:spPr>
          <a:xfrm>
            <a:off x="9682163" y="5261372"/>
            <a:ext cx="7882938" cy="2049735"/>
          </a:xfrm>
          <a:prstGeom prst="rect">
            <a:avLst/>
          </a:prstGeom>
          <a:noFill/>
          <a:ln/>
        </p:spPr>
        <p:txBody>
          <a:bodyPr wrap="square" lIns="25400" tIns="25400" rIns="25400" bIns="25400" rtlCol="0" anchor="t">
            <a:normAutofit/>
          </a:bodyPr>
          <a:lstStyle/>
          <a:p>
            <a:pPr marL="0" indent="0" algn="l">
              <a:lnSpc>
                <a:spcPct val="110000"/>
              </a:lnSpc>
              <a:buNone/>
            </a:pPr>
            <a:r>
              <a:rPr lang="en-US" sz="4800" kern="0" spc="-96" dirty="0">
                <a:solidFill>
                  <a:srgbClr val="8A6420"/>
                </a:solidFill>
                <a:latin typeface="Georgia" pitchFamily="34" charset="0"/>
                <a:ea typeface="Georgia" pitchFamily="34" charset="-122"/>
                <a:cs typeface="Georgia" pitchFamily="34" charset="-120"/>
              </a:rPr>
              <a:t>Aeropuerto + Patagonia + First mover</a:t>
            </a:r>
            <a:endParaRPr lang="en-US" sz="4800" dirty="0"/>
          </a:p>
        </p:txBody>
      </p:sp>
      <p:sp>
        <p:nvSpPr>
          <p:cNvPr id="17" name="Text 15"/>
          <p:cNvSpPr/>
          <p:nvPr/>
        </p:nvSpPr>
        <p:spPr>
          <a:xfrm>
            <a:off x="9682163" y="7425408"/>
            <a:ext cx="7882938" cy="238125"/>
          </a:xfrm>
          <a:prstGeom prst="rect">
            <a:avLst/>
          </a:prstGeom>
          <a:noFill/>
          <a:ln/>
        </p:spPr>
        <p:txBody>
          <a:bodyPr wrap="square" lIns="25400" tIns="25400" rIns="25400" bIns="25400" rtlCol="0" anchor="t">
            <a:normAutofit lnSpcReduction="10000"/>
          </a:bodyPr>
          <a:lstStyle/>
          <a:p>
            <a:pPr marL="0" indent="0" algn="l">
              <a:buNone/>
            </a:pPr>
            <a:r>
              <a:rPr lang="en-US" sz="1350" kern="0" spc="68" dirty="0">
                <a:solidFill>
                  <a:srgbClr val="8A8170"/>
                </a:solidFill>
                <a:latin typeface="Arial" pitchFamily="34" charset="0"/>
                <a:ea typeface="Arial" pitchFamily="34" charset="-122"/>
                <a:cs typeface="Arial" pitchFamily="34" charset="-120"/>
              </a:rPr>
              <a:t>VENTAJAS ESTRUCTURALES</a:t>
            </a:r>
            <a:endParaRPr lang="en-US" sz="1350" dirty="0"/>
          </a:p>
        </p:txBody>
      </p:sp>
      <p:sp>
        <p:nvSpPr>
          <p:cNvPr id="18" name="Text 16"/>
          <p:cNvSpPr/>
          <p:nvPr/>
        </p:nvSpPr>
        <p:spPr>
          <a:xfrm>
            <a:off x="9682163" y="7930233"/>
            <a:ext cx="7882938" cy="99804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3A342A"/>
                </a:solidFill>
                <a:latin typeface="Georgia" pitchFamily="34" charset="0"/>
                <a:ea typeface="Georgia" pitchFamily="34" charset="-122"/>
                <a:cs typeface="Georgia" pitchFamily="34" charset="-120"/>
              </a:rPr>
              <a:t>Puerta de entrada a la Patagonia con conectividad aérea, marca global asociada a la mística austral, y la ventana de oportunidad para ser el primero en todo el continente.</a:t>
            </a:r>
            <a:endParaRPr lang="en-US" sz="1800" dirty="0"/>
          </a:p>
        </p:txBody>
      </p:sp>
      <p:sp>
        <p:nvSpPr>
          <p:cNvPr id="19" name="Shape 17"/>
          <p:cNvSpPr/>
          <p:nvPr/>
        </p:nvSpPr>
        <p:spPr>
          <a:xfrm>
            <a:off x="952500" y="9461376"/>
            <a:ext cx="16383000" cy="9525"/>
          </a:xfrm>
          <a:prstGeom prst="rect">
            <a:avLst/>
          </a:prstGeom>
          <a:solidFill>
            <a:srgbClr val="D9D2C0"/>
          </a:solidFill>
          <a:ln/>
        </p:spPr>
        <p:txBody>
          <a:bodyPr/>
          <a:lstStyle/>
          <a:p>
            <a:endParaRPr lang="en-AR"/>
          </a:p>
        </p:txBody>
      </p:sp>
      <p:sp>
        <p:nvSpPr>
          <p:cNvPr id="20" name="Text 18"/>
          <p:cNvSpPr/>
          <p:nvPr/>
        </p:nvSpPr>
        <p:spPr>
          <a:xfrm>
            <a:off x="952500" y="9699501"/>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21" name="Text 19"/>
          <p:cNvSpPr/>
          <p:nvPr/>
        </p:nvSpPr>
        <p:spPr>
          <a:xfrm>
            <a:off x="16796965" y="9699501"/>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10 / 40 </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4110D"/>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FFFFFF">
              <a:alpha val="14000"/>
            </a:srgbClr>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B58A3A"/>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FAF8F3"/>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5235089" y="804863"/>
            <a:ext cx="2176611"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CAPÍTULO 02 · MERCADO</a:t>
            </a:r>
            <a:endParaRPr lang="en-US" sz="1050" dirty="0"/>
          </a:p>
        </p:txBody>
      </p:sp>
      <p:sp>
        <p:nvSpPr>
          <p:cNvPr id="6" name="Text 4"/>
          <p:cNvSpPr/>
          <p:nvPr/>
        </p:nvSpPr>
        <p:spPr>
          <a:xfrm>
            <a:off x="952500" y="2014612"/>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FFFFFF">
                    <a:alpha val="55000"/>
                  </a:srgbClr>
                </a:solidFill>
                <a:latin typeface="Arial" pitchFamily="34" charset="0"/>
                <a:ea typeface="Arial" pitchFamily="34" charset="-122"/>
                <a:cs typeface="Arial" pitchFamily="34" charset="-120"/>
              </a:rPr>
              <a:t>TURISMO DE BIENESTAR · MERCADO GLOBAL ANUAL</a:t>
            </a:r>
            <a:endParaRPr lang="en-US" sz="1350" dirty="0"/>
          </a:p>
        </p:txBody>
      </p:sp>
      <p:sp>
        <p:nvSpPr>
          <p:cNvPr id="7" name="Text 5"/>
          <p:cNvSpPr/>
          <p:nvPr/>
        </p:nvSpPr>
        <p:spPr>
          <a:xfrm>
            <a:off x="952500" y="2490862"/>
            <a:ext cx="7111491" cy="3192735"/>
          </a:xfrm>
          <a:prstGeom prst="rect">
            <a:avLst/>
          </a:prstGeom>
          <a:noFill/>
          <a:ln/>
        </p:spPr>
        <p:txBody>
          <a:bodyPr wrap="square" lIns="25400" tIns="25400" rIns="25400" bIns="25400" rtlCol="0" anchor="t">
            <a:normAutofit fontScale="85000" lnSpcReduction="10000"/>
          </a:bodyPr>
          <a:lstStyle/>
          <a:p>
            <a:pPr marL="0" indent="0" algn="l">
              <a:lnSpc>
                <a:spcPct val="92000"/>
              </a:lnSpc>
              <a:buNone/>
            </a:pPr>
            <a:r>
              <a:rPr lang="en-US" sz="8640" kern="0" spc="-1080" dirty="0">
                <a:solidFill>
                  <a:srgbClr val="B58A3A"/>
                </a:solidFill>
                <a:latin typeface="Georgia" pitchFamily="34" charset="0"/>
                <a:ea typeface="Georgia" pitchFamily="34" charset="-122"/>
                <a:cs typeface="Georgia" pitchFamily="34" charset="-120"/>
              </a:rPr>
              <a:t>USD</a:t>
            </a:r>
            <a:r>
              <a:rPr lang="en-US" sz="27000" kern="0" spc="-1080" dirty="0">
                <a:solidFill>
                  <a:srgbClr val="FAF8F3"/>
                </a:solidFill>
                <a:latin typeface="Georgia" pitchFamily="34" charset="0"/>
                <a:ea typeface="Georgia" pitchFamily="34" charset="-122"/>
                <a:cs typeface="Georgia" pitchFamily="34" charset="-120"/>
              </a:rPr>
              <a:t>817 </a:t>
            </a:r>
            <a:r>
              <a:rPr lang="en-US" sz="8640" kern="0" spc="-1080" dirty="0">
                <a:solidFill>
                  <a:srgbClr val="B58A3A"/>
                </a:solidFill>
                <a:latin typeface="Georgia" pitchFamily="34" charset="0"/>
                <a:ea typeface="Georgia" pitchFamily="34" charset="-122"/>
                <a:cs typeface="Georgia" pitchFamily="34" charset="-120"/>
              </a:rPr>
              <a:t>B</a:t>
            </a:r>
            <a:endParaRPr lang="en-US" sz="27000" dirty="0"/>
          </a:p>
        </p:txBody>
      </p:sp>
      <p:sp>
        <p:nvSpPr>
          <p:cNvPr id="8" name="Text 6"/>
          <p:cNvSpPr/>
          <p:nvPr/>
        </p:nvSpPr>
        <p:spPr>
          <a:xfrm>
            <a:off x="952500" y="5874097"/>
            <a:ext cx="16874490" cy="361950"/>
          </a:xfrm>
          <a:prstGeom prst="rect">
            <a:avLst/>
          </a:prstGeom>
          <a:noFill/>
          <a:ln/>
        </p:spPr>
        <p:txBody>
          <a:bodyPr wrap="square" lIns="25400" tIns="25400" rIns="25400" bIns="25400" rtlCol="0" anchor="t">
            <a:normAutofit lnSpcReduction="10000"/>
          </a:bodyPr>
          <a:lstStyle/>
          <a:p>
            <a:pPr marL="0" indent="0" algn="l">
              <a:buNone/>
            </a:pPr>
            <a:r>
              <a:rPr lang="en-US" sz="2100" kern="0" spc="336" dirty="0">
                <a:solidFill>
                  <a:srgbClr val="B58A3A"/>
                </a:solidFill>
                <a:latin typeface="Arial" pitchFamily="34" charset="0"/>
                <a:ea typeface="Arial" pitchFamily="34" charset="-122"/>
                <a:cs typeface="Arial" pitchFamily="34" charset="-120"/>
              </a:rPr>
              <a:t>OCHOCIENTOS DIECISIETE MIL MILLONES DE DÓLARES</a:t>
            </a:r>
            <a:endParaRPr lang="en-US" sz="2100" dirty="0"/>
          </a:p>
        </p:txBody>
      </p:sp>
      <p:sp>
        <p:nvSpPr>
          <p:cNvPr id="9" name="Text 7"/>
          <p:cNvSpPr/>
          <p:nvPr/>
        </p:nvSpPr>
        <p:spPr>
          <a:xfrm>
            <a:off x="952500" y="6769447"/>
            <a:ext cx="11772900" cy="81141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100" dirty="0">
                <a:solidFill>
                  <a:srgbClr val="FAF8F3">
                    <a:alpha val="80000"/>
                  </a:srgbClr>
                </a:solidFill>
                <a:latin typeface="Georgia" pitchFamily="34" charset="0"/>
                <a:ea typeface="Georgia" pitchFamily="34" charset="-122"/>
                <a:cs typeface="Georgia" pitchFamily="34" charset="-120"/>
              </a:rPr>
              <a:t>No es un nicho. Es una de las grandes corrientes del turismo del siglo XXI, con tasas de crecimiento sostenidas por encima de las del turismo convencional.</a:t>
            </a:r>
            <a:endParaRPr lang="en-US" sz="2100" dirty="0"/>
          </a:p>
        </p:txBody>
      </p:sp>
      <p:sp>
        <p:nvSpPr>
          <p:cNvPr id="10" name="Text 8"/>
          <p:cNvSpPr/>
          <p:nvPr/>
        </p:nvSpPr>
        <p:spPr>
          <a:xfrm>
            <a:off x="952500" y="7847558"/>
            <a:ext cx="16874490"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9" dirty="0">
                <a:solidFill>
                  <a:srgbClr val="FAF8F3">
                    <a:alpha val="45000"/>
                  </a:srgbClr>
                </a:solidFill>
                <a:latin typeface="Arial" pitchFamily="34" charset="0"/>
                <a:ea typeface="Arial" pitchFamily="34" charset="-122"/>
                <a:cs typeface="Arial" pitchFamily="34" charset="-120"/>
              </a:rPr>
              <a:t>Fuente: Global Wellness Institute · estimación 2024</a:t>
            </a:r>
            <a:endParaRPr lang="en-US" sz="1800" dirty="0"/>
          </a:p>
        </p:txBody>
      </p:sp>
      <p:sp>
        <p:nvSpPr>
          <p:cNvPr id="11" name="Shape 9"/>
          <p:cNvSpPr/>
          <p:nvPr/>
        </p:nvSpPr>
        <p:spPr>
          <a:xfrm>
            <a:off x="952500" y="9134475"/>
            <a:ext cx="16383000" cy="9525"/>
          </a:xfrm>
          <a:prstGeom prst="rect">
            <a:avLst/>
          </a:prstGeom>
          <a:solidFill>
            <a:srgbClr val="FFFFFF">
              <a:alpha val="14000"/>
            </a:srgbClr>
          </a:solidFill>
          <a:ln/>
        </p:spPr>
        <p:txBody>
          <a:bodyPr/>
          <a:lstStyle/>
          <a:p>
            <a:endParaRPr lang="en-AR"/>
          </a:p>
        </p:txBody>
      </p:sp>
      <p:sp>
        <p:nvSpPr>
          <p:cNvPr id="12" name="Text 10"/>
          <p:cNvSpPr/>
          <p:nvPr/>
        </p:nvSpPr>
        <p:spPr>
          <a:xfrm>
            <a:off x="952500" y="9372600"/>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FAF8F3">
                    <a:alpha val="55000"/>
                  </a:srgbClr>
                </a:solidFill>
                <a:latin typeface="Arial" pitchFamily="34" charset="0"/>
                <a:ea typeface="Arial" pitchFamily="34" charset="-122"/>
                <a:cs typeface="Arial" pitchFamily="34" charset="-120"/>
              </a:rPr>
              <a:t>POLO ESPIRITUAL Y CULTURAL DE LA PATAGONIA</a:t>
            </a:r>
            <a:endParaRPr lang="en-US" sz="1050" dirty="0"/>
          </a:p>
        </p:txBody>
      </p:sp>
      <p:sp>
        <p:nvSpPr>
          <p:cNvPr id="13" name="Text 11"/>
          <p:cNvSpPr/>
          <p:nvPr/>
        </p:nvSpPr>
        <p:spPr>
          <a:xfrm>
            <a:off x="16796965" y="93726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FAF8F3">
                    <a:alpha val="55000"/>
                  </a:srgbClr>
                </a:solidFill>
                <a:latin typeface="Arial" pitchFamily="34" charset="0"/>
                <a:ea typeface="Arial" pitchFamily="34" charset="-122"/>
                <a:cs typeface="Arial" pitchFamily="34" charset="-120"/>
              </a:rPr>
              <a:t>11 / 40 </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AF8F3"/>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5249823" y="804863"/>
            <a:ext cx="2161877"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CAPÍTULO 02 · DEMANDA</a:t>
            </a:r>
            <a:endParaRPr lang="en-US" sz="1050" dirty="0"/>
          </a:p>
        </p:txBody>
      </p:sp>
      <p:sp>
        <p:nvSpPr>
          <p:cNvPr id="6" name="Text 4"/>
          <p:cNvSpPr/>
          <p:nvPr/>
        </p:nvSpPr>
        <p:spPr>
          <a:xfrm>
            <a:off x="952500" y="2441302"/>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BUDISTAS EN EL MUNDO</a:t>
            </a:r>
            <a:endParaRPr lang="en-US" sz="1350" dirty="0"/>
          </a:p>
        </p:txBody>
      </p:sp>
      <p:sp>
        <p:nvSpPr>
          <p:cNvPr id="7" name="Text 5"/>
          <p:cNvSpPr/>
          <p:nvPr/>
        </p:nvSpPr>
        <p:spPr>
          <a:xfrm>
            <a:off x="952500" y="2917552"/>
            <a:ext cx="5452401" cy="3192735"/>
          </a:xfrm>
          <a:prstGeom prst="rect">
            <a:avLst/>
          </a:prstGeom>
          <a:noFill/>
          <a:ln/>
        </p:spPr>
        <p:txBody>
          <a:bodyPr wrap="square" lIns="25400" tIns="25400" rIns="25400" bIns="25400" rtlCol="0" anchor="t">
            <a:normAutofit fontScale="77500" lnSpcReduction="20000"/>
          </a:bodyPr>
          <a:lstStyle/>
          <a:p>
            <a:pPr marL="0" indent="0" algn="l">
              <a:lnSpc>
                <a:spcPct val="92000"/>
              </a:lnSpc>
              <a:buNone/>
            </a:pPr>
            <a:r>
              <a:rPr lang="en-US" sz="27000" kern="0" spc="-1080" dirty="0">
                <a:solidFill>
                  <a:srgbClr val="14110D"/>
                </a:solidFill>
                <a:latin typeface="Georgia" pitchFamily="34" charset="0"/>
                <a:ea typeface="Georgia" pitchFamily="34" charset="-122"/>
                <a:cs typeface="Georgia" pitchFamily="34" charset="-120"/>
              </a:rPr>
              <a:t>535 </a:t>
            </a:r>
            <a:r>
              <a:rPr lang="en-US" sz="8640" kern="0" spc="-1080" dirty="0">
                <a:solidFill>
                  <a:srgbClr val="8A6420"/>
                </a:solidFill>
                <a:latin typeface="Georgia" pitchFamily="34" charset="0"/>
                <a:ea typeface="Georgia" pitchFamily="34" charset="-122"/>
                <a:cs typeface="Georgia" pitchFamily="34" charset="-120"/>
              </a:rPr>
              <a:t>M</a:t>
            </a:r>
            <a:endParaRPr lang="en-US" sz="27000" dirty="0"/>
          </a:p>
        </p:txBody>
      </p:sp>
      <p:sp>
        <p:nvSpPr>
          <p:cNvPr id="8" name="Text 6"/>
          <p:cNvSpPr/>
          <p:nvPr/>
        </p:nvSpPr>
        <p:spPr>
          <a:xfrm>
            <a:off x="952500" y="6300788"/>
            <a:ext cx="16874490" cy="361950"/>
          </a:xfrm>
          <a:prstGeom prst="rect">
            <a:avLst/>
          </a:prstGeom>
          <a:noFill/>
          <a:ln/>
        </p:spPr>
        <p:txBody>
          <a:bodyPr wrap="square" lIns="25400" tIns="25400" rIns="25400" bIns="25400" rtlCol="0" anchor="t">
            <a:normAutofit lnSpcReduction="10000"/>
          </a:bodyPr>
          <a:lstStyle/>
          <a:p>
            <a:pPr marL="0" indent="0" algn="l">
              <a:buNone/>
            </a:pPr>
            <a:r>
              <a:rPr lang="en-US" sz="2100" kern="0" spc="336" dirty="0">
                <a:solidFill>
                  <a:srgbClr val="8A6420"/>
                </a:solidFill>
                <a:latin typeface="Arial" pitchFamily="34" charset="0"/>
                <a:ea typeface="Arial" pitchFamily="34" charset="-122"/>
                <a:cs typeface="Arial" pitchFamily="34" charset="-120"/>
              </a:rPr>
              <a:t>QUINIENTOS TREINTA Y CINCO MILLONES DE PRACTICANTES</a:t>
            </a:r>
            <a:endParaRPr lang="en-US" sz="2100" dirty="0"/>
          </a:p>
        </p:txBody>
      </p:sp>
      <p:sp>
        <p:nvSpPr>
          <p:cNvPr id="9" name="Text 7"/>
          <p:cNvSpPr/>
          <p:nvPr/>
        </p:nvSpPr>
        <p:spPr>
          <a:xfrm>
            <a:off x="952500" y="7196138"/>
            <a:ext cx="11772900" cy="81141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100" dirty="0">
                <a:solidFill>
                  <a:srgbClr val="3A342A"/>
                </a:solidFill>
                <a:latin typeface="Georgia" pitchFamily="34" charset="0"/>
                <a:ea typeface="Georgia" pitchFamily="34" charset="-122"/>
                <a:cs typeface="Georgia" pitchFamily="34" charset="-120"/>
              </a:rPr>
              <a:t>Una comunidad global con tradición milenaria de peregrinaje. A esto se suman los practicantes de mindfulness, yoga y la creciente demanda de turismo espiritual no religioso.</a:t>
            </a:r>
            <a:endParaRPr lang="en-US" sz="2100" dirty="0"/>
          </a:p>
        </p:txBody>
      </p:sp>
      <p:sp>
        <p:nvSpPr>
          <p:cNvPr id="10" name="Shape 8"/>
          <p:cNvSpPr/>
          <p:nvPr/>
        </p:nvSpPr>
        <p:spPr>
          <a:xfrm>
            <a:off x="952500" y="9134475"/>
            <a:ext cx="16383000" cy="9525"/>
          </a:xfrm>
          <a:prstGeom prst="rect">
            <a:avLst/>
          </a:prstGeom>
          <a:solidFill>
            <a:srgbClr val="D9D2C0"/>
          </a:solidFill>
          <a:ln/>
        </p:spPr>
        <p:txBody>
          <a:bodyPr/>
          <a:lstStyle/>
          <a:p>
            <a:endParaRPr lang="en-AR"/>
          </a:p>
        </p:txBody>
      </p:sp>
      <p:sp>
        <p:nvSpPr>
          <p:cNvPr id="11" name="Text 9"/>
          <p:cNvSpPr/>
          <p:nvPr/>
        </p:nvSpPr>
        <p:spPr>
          <a:xfrm>
            <a:off x="952500" y="9372600"/>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12" name="Text 10"/>
          <p:cNvSpPr/>
          <p:nvPr/>
        </p:nvSpPr>
        <p:spPr>
          <a:xfrm>
            <a:off x="16806863" y="9372600"/>
            <a:ext cx="60483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12 / 40 </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1ECE0"/>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5295066" y="804863"/>
            <a:ext cx="2116634"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CAPÍTULO 02 · EL VACÍO</a:t>
            </a:r>
            <a:endParaRPr lang="en-US" sz="1050" dirty="0"/>
          </a:p>
        </p:txBody>
      </p:sp>
      <p:sp>
        <p:nvSpPr>
          <p:cNvPr id="6" name="Text 4"/>
          <p:cNvSpPr/>
          <p:nvPr/>
        </p:nvSpPr>
        <p:spPr>
          <a:xfrm>
            <a:off x="952500" y="1613148"/>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POLOS DE PEREGRINAJE BUDISTA EN SUDAMÉRICA</a:t>
            </a:r>
            <a:endParaRPr lang="en-US" sz="1350" dirty="0"/>
          </a:p>
        </p:txBody>
      </p:sp>
      <p:sp>
        <p:nvSpPr>
          <p:cNvPr id="7" name="Text 5"/>
          <p:cNvSpPr/>
          <p:nvPr/>
        </p:nvSpPr>
        <p:spPr>
          <a:xfrm>
            <a:off x="952500" y="2165598"/>
            <a:ext cx="2013272" cy="4244280"/>
          </a:xfrm>
          <a:prstGeom prst="rect">
            <a:avLst/>
          </a:prstGeom>
          <a:noFill/>
          <a:ln/>
        </p:spPr>
        <p:txBody>
          <a:bodyPr wrap="square" lIns="25400" tIns="25400" rIns="25400" bIns="25400" rtlCol="0" anchor="t">
            <a:normAutofit fontScale="92500" lnSpcReduction="20000"/>
          </a:bodyPr>
          <a:lstStyle/>
          <a:p>
            <a:pPr marL="0" indent="0" algn="l">
              <a:lnSpc>
                <a:spcPct val="92000"/>
              </a:lnSpc>
              <a:buNone/>
            </a:pPr>
            <a:r>
              <a:rPr lang="en-US" sz="36000" kern="0" spc="-1440" dirty="0">
                <a:solidFill>
                  <a:srgbClr val="8A6420"/>
                </a:solidFill>
                <a:latin typeface="Georgia" pitchFamily="34" charset="0"/>
                <a:ea typeface="Georgia" pitchFamily="34" charset="-122"/>
                <a:cs typeface="Georgia" pitchFamily="34" charset="-120"/>
              </a:rPr>
              <a:t>0</a:t>
            </a:r>
            <a:endParaRPr lang="en-US" sz="36000" dirty="0"/>
          </a:p>
        </p:txBody>
      </p:sp>
      <p:sp>
        <p:nvSpPr>
          <p:cNvPr id="8" name="Text 6"/>
          <p:cNvSpPr/>
          <p:nvPr/>
        </p:nvSpPr>
        <p:spPr>
          <a:xfrm>
            <a:off x="3346772" y="5408861"/>
            <a:ext cx="6867525" cy="1718221"/>
          </a:xfrm>
          <a:prstGeom prst="rect">
            <a:avLst/>
          </a:prstGeom>
          <a:noFill/>
          <a:ln/>
        </p:spPr>
        <p:txBody>
          <a:bodyPr wrap="square" lIns="25400" tIns="25400" rIns="25400" bIns="25400" rtlCol="0" anchor="t">
            <a:normAutofit fontScale="92500"/>
          </a:bodyPr>
          <a:lstStyle/>
          <a:p>
            <a:pPr marL="0" indent="0" algn="l">
              <a:lnSpc>
                <a:spcPct val="105000"/>
              </a:lnSpc>
              <a:buNone/>
            </a:pPr>
            <a:r>
              <a:rPr lang="en-US" sz="4200" kern="0" spc="-21" dirty="0">
                <a:solidFill>
                  <a:srgbClr val="14110D"/>
                </a:solidFill>
                <a:latin typeface="Georgia" pitchFamily="34" charset="0"/>
                <a:ea typeface="Georgia" pitchFamily="34" charset="-122"/>
                <a:cs typeface="Georgia" pitchFamily="34" charset="-120"/>
              </a:rPr>
              <a:t>Cero polos de peregrinaje budista en todo el continente.</a:t>
            </a:r>
            <a:endParaRPr lang="en-US" sz="4200" dirty="0"/>
          </a:p>
        </p:txBody>
      </p:sp>
      <p:sp>
        <p:nvSpPr>
          <p:cNvPr id="9" name="Text 7"/>
          <p:cNvSpPr/>
          <p:nvPr/>
        </p:nvSpPr>
        <p:spPr>
          <a:xfrm>
            <a:off x="3346772" y="7317580"/>
            <a:ext cx="6867525" cy="1356271"/>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950" dirty="0">
                <a:solidFill>
                  <a:srgbClr val="3A342A"/>
                </a:solidFill>
                <a:latin typeface="Georgia" pitchFamily="34" charset="0"/>
                <a:ea typeface="Georgia" pitchFamily="34" charset="-122"/>
                <a:cs typeface="Georgia" pitchFamily="34" charset="-120"/>
              </a:rPr>
              <a:t>El que llega primero se queda con esa marca para siempre. La pregunta es quién va a hacerlo, y </a:t>
            </a:r>
            <a:r>
              <a:rPr lang="en-US" sz="1950" dirty="0" err="1">
                <a:solidFill>
                  <a:srgbClr val="3A342A"/>
                </a:solidFill>
                <a:latin typeface="Georgia" pitchFamily="34" charset="0"/>
                <a:ea typeface="Georgia" pitchFamily="34" charset="-122"/>
                <a:cs typeface="Georgia" pitchFamily="34" charset="-120"/>
              </a:rPr>
              <a:t>dónde</a:t>
            </a:r>
            <a:r>
              <a:rPr lang="en-US" sz="1950" dirty="0">
                <a:solidFill>
                  <a:srgbClr val="3A342A"/>
                </a:solidFill>
                <a:latin typeface="Georgia" pitchFamily="34" charset="0"/>
                <a:ea typeface="Georgia" pitchFamily="34" charset="-122"/>
                <a:cs typeface="Georgia" pitchFamily="34" charset="-120"/>
              </a:rPr>
              <a:t>. No solo es </a:t>
            </a:r>
            <a:r>
              <a:rPr lang="en-US" sz="1950" dirty="0" err="1">
                <a:solidFill>
                  <a:srgbClr val="3A342A"/>
                </a:solidFill>
                <a:latin typeface="Georgia" pitchFamily="34" charset="0"/>
                <a:ea typeface="Georgia" pitchFamily="34" charset="-122"/>
                <a:cs typeface="Georgia" pitchFamily="34" charset="-120"/>
              </a:rPr>
              <a:t>trabajo</a:t>
            </a:r>
            <a:r>
              <a:rPr lang="en-US" sz="1950" dirty="0">
                <a:solidFill>
                  <a:srgbClr val="3A342A"/>
                </a:solidFill>
                <a:latin typeface="Georgia" pitchFamily="34" charset="0"/>
                <a:ea typeface="Georgia" pitchFamily="34" charset="-122"/>
                <a:cs typeface="Georgia" pitchFamily="34" charset="-120"/>
              </a:rPr>
              <a:t> de </a:t>
            </a:r>
            <a:r>
              <a:rPr lang="en-US" sz="1950" b="1" dirty="0" err="1">
                <a:solidFill>
                  <a:srgbClr val="3A342A"/>
                </a:solidFill>
                <a:latin typeface="Georgia" pitchFamily="34" charset="0"/>
                <a:ea typeface="Georgia" pitchFamily="34" charset="-122"/>
                <a:cs typeface="Georgia" pitchFamily="34" charset="-120"/>
              </a:rPr>
              <a:t>construcción</a:t>
            </a:r>
            <a:r>
              <a:rPr lang="en-US" sz="1950" b="1" dirty="0">
                <a:solidFill>
                  <a:srgbClr val="3A342A"/>
                </a:solidFill>
                <a:latin typeface="Georgia" pitchFamily="34" charset="0"/>
                <a:ea typeface="Georgia" pitchFamily="34" charset="-122"/>
                <a:cs typeface="Georgia" pitchFamily="34" charset="-120"/>
              </a:rPr>
              <a:t>. </a:t>
            </a:r>
            <a:r>
              <a:rPr lang="en-US" sz="1950" dirty="0">
                <a:solidFill>
                  <a:srgbClr val="3A342A"/>
                </a:solidFill>
                <a:latin typeface="Georgia" pitchFamily="34" charset="0"/>
                <a:ea typeface="Georgia" pitchFamily="34" charset="-122"/>
                <a:cs typeface="Georgia" pitchFamily="34" charset="-120"/>
              </a:rPr>
              <a:t>Es </a:t>
            </a:r>
            <a:r>
              <a:rPr lang="en-US" sz="1950" dirty="0" err="1">
                <a:solidFill>
                  <a:srgbClr val="3A342A"/>
                </a:solidFill>
                <a:latin typeface="Georgia" pitchFamily="34" charset="0"/>
                <a:ea typeface="Georgia" pitchFamily="34" charset="-122"/>
                <a:cs typeface="Georgia" pitchFamily="34" charset="-120"/>
              </a:rPr>
              <a:t>trabajo</a:t>
            </a:r>
            <a:r>
              <a:rPr lang="en-US" sz="1950" dirty="0">
                <a:solidFill>
                  <a:srgbClr val="3A342A"/>
                </a:solidFill>
                <a:latin typeface="Georgia" pitchFamily="34" charset="0"/>
                <a:ea typeface="Georgia" pitchFamily="34" charset="-122"/>
                <a:cs typeface="Georgia" pitchFamily="34" charset="-120"/>
              </a:rPr>
              <a:t> </a:t>
            </a:r>
            <a:r>
              <a:rPr lang="en-US" sz="1950" dirty="0" err="1">
                <a:solidFill>
                  <a:srgbClr val="3A342A"/>
                </a:solidFill>
                <a:latin typeface="Georgia" pitchFamily="34" charset="0"/>
                <a:ea typeface="Georgia" pitchFamily="34" charset="-122"/>
                <a:cs typeface="Georgia" pitchFamily="34" charset="-120"/>
              </a:rPr>
              <a:t>académico</a:t>
            </a:r>
            <a:r>
              <a:rPr lang="en-US" sz="1950" dirty="0">
                <a:solidFill>
                  <a:srgbClr val="3A342A"/>
                </a:solidFill>
                <a:latin typeface="Georgia" pitchFamily="34" charset="0"/>
                <a:ea typeface="Georgia" pitchFamily="34" charset="-122"/>
                <a:cs typeface="Georgia" pitchFamily="34" charset="-120"/>
              </a:rPr>
              <a:t>, de turismo y de </a:t>
            </a:r>
            <a:r>
              <a:rPr lang="en-US" sz="1950" dirty="0" err="1">
                <a:solidFill>
                  <a:srgbClr val="3A342A"/>
                </a:solidFill>
                <a:latin typeface="Georgia" pitchFamily="34" charset="0"/>
                <a:ea typeface="Georgia" pitchFamily="34" charset="-122"/>
                <a:cs typeface="Georgia" pitchFamily="34" charset="-120"/>
              </a:rPr>
              <a:t>artesanía</a:t>
            </a:r>
            <a:r>
              <a:rPr lang="en-US" sz="1950" dirty="0">
                <a:solidFill>
                  <a:srgbClr val="3A342A"/>
                </a:solidFill>
                <a:latin typeface="Georgia" pitchFamily="34" charset="0"/>
                <a:ea typeface="Georgia" pitchFamily="34" charset="-122"/>
                <a:cs typeface="Georgia" pitchFamily="34" charset="-120"/>
              </a:rPr>
              <a:t>.</a:t>
            </a:r>
            <a:endParaRPr lang="en-US" sz="1950" dirty="0"/>
          </a:p>
        </p:txBody>
      </p:sp>
      <p:sp>
        <p:nvSpPr>
          <p:cNvPr id="10" name="Shape 8"/>
          <p:cNvSpPr/>
          <p:nvPr/>
        </p:nvSpPr>
        <p:spPr>
          <a:xfrm>
            <a:off x="952500" y="9134475"/>
            <a:ext cx="16383000" cy="9525"/>
          </a:xfrm>
          <a:prstGeom prst="rect">
            <a:avLst/>
          </a:prstGeom>
          <a:solidFill>
            <a:srgbClr val="D9D2C0"/>
          </a:solidFill>
          <a:ln/>
        </p:spPr>
        <p:txBody>
          <a:bodyPr/>
          <a:lstStyle/>
          <a:p>
            <a:endParaRPr lang="en-AR"/>
          </a:p>
        </p:txBody>
      </p:sp>
      <p:sp>
        <p:nvSpPr>
          <p:cNvPr id="11" name="Text 9"/>
          <p:cNvSpPr/>
          <p:nvPr/>
        </p:nvSpPr>
        <p:spPr>
          <a:xfrm>
            <a:off x="952500" y="9372600"/>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12" name="Text 10"/>
          <p:cNvSpPr/>
          <p:nvPr/>
        </p:nvSpPr>
        <p:spPr>
          <a:xfrm>
            <a:off x="16796965" y="93726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13 / 40 </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1ECE0"/>
        </a:solidFill>
        <a:effectLst/>
      </p:bgPr>
    </p:bg>
    <p:spTree>
      <p:nvGrpSpPr>
        <p:cNvPr id="1" name=""/>
        <p:cNvGrpSpPr/>
        <p:nvPr/>
      </p:nvGrpSpPr>
      <p:grpSpPr>
        <a:xfrm>
          <a:off x="0" y="0"/>
          <a:ext cx="0" cy="0"/>
          <a:chOff x="0" y="0"/>
          <a:chExt cx="0" cy="0"/>
        </a:xfrm>
      </p:grpSpPr>
      <p:sp>
        <p:nvSpPr>
          <p:cNvPr id="2" name="Shape 0"/>
          <p:cNvSpPr/>
          <p:nvPr/>
        </p:nvSpPr>
        <p:spPr>
          <a:xfrm>
            <a:off x="952500" y="1457325"/>
            <a:ext cx="16383000" cy="9525"/>
          </a:xfrm>
          <a:prstGeom prst="rect">
            <a:avLst/>
          </a:prstGeom>
          <a:solidFill>
            <a:srgbClr val="D9D2C0"/>
          </a:solidFill>
          <a:ln/>
        </p:spPr>
        <p:txBody>
          <a:bodyPr/>
          <a:lstStyle/>
          <a:p>
            <a:endParaRPr lang="en-AR"/>
          </a:p>
        </p:txBody>
      </p:sp>
      <p:sp>
        <p:nvSpPr>
          <p:cNvPr id="3" name="Shape 1"/>
          <p:cNvSpPr/>
          <p:nvPr/>
        </p:nvSpPr>
        <p:spPr>
          <a:xfrm>
            <a:off x="952500" y="9525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9786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6248534" y="995363"/>
            <a:ext cx="1163166"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CAPÍTULO 03</a:t>
            </a:r>
            <a:endParaRPr lang="en-US" sz="1050" dirty="0"/>
          </a:p>
        </p:txBody>
      </p:sp>
      <p:sp>
        <p:nvSpPr>
          <p:cNvPr id="6" name="Text 4"/>
          <p:cNvSpPr/>
          <p:nvPr/>
        </p:nvSpPr>
        <p:spPr>
          <a:xfrm>
            <a:off x="952500" y="3648596"/>
            <a:ext cx="8829675" cy="233362"/>
          </a:xfrm>
          <a:prstGeom prst="rect">
            <a:avLst/>
          </a:prstGeom>
          <a:noFill/>
          <a:ln/>
        </p:spPr>
        <p:txBody>
          <a:bodyPr wrap="square" lIns="25400" tIns="25400" rIns="25400" bIns="25400" rtlCol="0" anchor="t">
            <a:normAutofit lnSpcReduction="10000"/>
          </a:bodyPr>
          <a:lstStyle/>
          <a:p>
            <a:pPr marL="0" indent="0" algn="l">
              <a:buNone/>
            </a:pPr>
            <a:r>
              <a:rPr lang="en-US" sz="1275" b="1" kern="0" spc="255" dirty="0">
                <a:solidFill>
                  <a:srgbClr val="8A6420"/>
                </a:solidFill>
                <a:latin typeface="Arial" pitchFamily="34" charset="0"/>
                <a:ea typeface="Arial" pitchFamily="34" charset="-122"/>
                <a:cs typeface="Arial" pitchFamily="34" charset="-120"/>
              </a:rPr>
              <a:t>— 03</a:t>
            </a:r>
            <a:endParaRPr lang="en-US" sz="1275" dirty="0"/>
          </a:p>
        </p:txBody>
      </p:sp>
      <p:sp>
        <p:nvSpPr>
          <p:cNvPr id="7" name="Text 5"/>
          <p:cNvSpPr/>
          <p:nvPr/>
        </p:nvSpPr>
        <p:spPr>
          <a:xfrm>
            <a:off x="952500" y="4110558"/>
            <a:ext cx="8829675" cy="142488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10500" kern="0" spc="-189" dirty="0">
                <a:solidFill>
                  <a:srgbClr val="14110D"/>
                </a:solidFill>
                <a:latin typeface="Georgia" pitchFamily="34" charset="0"/>
                <a:ea typeface="Georgia" pitchFamily="34" charset="-122"/>
                <a:cs typeface="Georgia" pitchFamily="34" charset="-120"/>
              </a:rPr>
              <a:t>La Propuesta</a:t>
            </a:r>
            <a:endParaRPr lang="en-US" sz="10500" dirty="0"/>
          </a:p>
        </p:txBody>
      </p:sp>
      <p:sp>
        <p:nvSpPr>
          <p:cNvPr id="8" name="Text 6"/>
          <p:cNvSpPr/>
          <p:nvPr/>
        </p:nvSpPr>
        <p:spPr>
          <a:xfrm>
            <a:off x="952500" y="5878339"/>
            <a:ext cx="8829675" cy="92199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400" dirty="0">
                <a:solidFill>
                  <a:srgbClr val="3A342A"/>
                </a:solidFill>
                <a:latin typeface="Georgia" pitchFamily="34" charset="0"/>
                <a:ea typeface="Georgia" pitchFamily="34" charset="-122"/>
                <a:cs typeface="Georgia" pitchFamily="34" charset="-120"/>
              </a:rPr>
              <a:t>Un polo espiritual, cultural y </a:t>
            </a:r>
            <a:r>
              <a:rPr lang="en-US" sz="2400" dirty="0" err="1">
                <a:solidFill>
                  <a:srgbClr val="3A342A"/>
                </a:solidFill>
                <a:latin typeface="Georgia" pitchFamily="34" charset="0"/>
                <a:ea typeface="Georgia" pitchFamily="34" charset="-122"/>
                <a:cs typeface="Georgia" pitchFamily="34" charset="-120"/>
              </a:rPr>
              <a:t>tecnológico</a:t>
            </a:r>
            <a:r>
              <a:rPr lang="en-US" sz="2400" dirty="0">
                <a:solidFill>
                  <a:srgbClr val="3A342A"/>
                </a:solidFill>
                <a:latin typeface="Georgia" pitchFamily="34" charset="0"/>
                <a:ea typeface="Georgia" pitchFamily="34" charset="-122"/>
                <a:cs typeface="Georgia" pitchFamily="34" charset="-120"/>
              </a:rPr>
              <a:t> en tierras cercanas a Esquel. </a:t>
            </a:r>
          </a:p>
          <a:p>
            <a:pPr marL="0" indent="0" algn="l">
              <a:lnSpc>
                <a:spcPct val="145000"/>
              </a:lnSpc>
              <a:buNone/>
            </a:pPr>
            <a:r>
              <a:rPr lang="en-US" sz="2400" dirty="0">
                <a:solidFill>
                  <a:srgbClr val="3A342A"/>
                </a:solidFill>
                <a:latin typeface="Georgia" pitchFamily="34" charset="0"/>
                <a:ea typeface="Georgia" pitchFamily="34" charset="-122"/>
                <a:cs typeface="Georgia" pitchFamily="34" charset="-120"/>
              </a:rPr>
              <a:t>No un templo: un circuito.</a:t>
            </a:r>
            <a:endParaRPr lang="en-US" sz="2400" dirty="0"/>
          </a:p>
        </p:txBody>
      </p:sp>
      <p:sp>
        <p:nvSpPr>
          <p:cNvPr id="9" name="Shape 7"/>
          <p:cNvSpPr/>
          <p:nvPr/>
        </p:nvSpPr>
        <p:spPr>
          <a:xfrm>
            <a:off x="952500" y="8943975"/>
            <a:ext cx="16383000" cy="9525"/>
          </a:xfrm>
          <a:prstGeom prst="rect">
            <a:avLst/>
          </a:prstGeom>
          <a:solidFill>
            <a:srgbClr val="D9D2C0"/>
          </a:solidFill>
          <a:ln/>
        </p:spPr>
        <p:txBody>
          <a:bodyPr/>
          <a:lstStyle/>
          <a:p>
            <a:endParaRPr lang="en-AR"/>
          </a:p>
        </p:txBody>
      </p:sp>
      <p:sp>
        <p:nvSpPr>
          <p:cNvPr id="10" name="Text 8"/>
          <p:cNvSpPr/>
          <p:nvPr/>
        </p:nvSpPr>
        <p:spPr>
          <a:xfrm>
            <a:off x="952500" y="9182100"/>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11" name="Text 9"/>
          <p:cNvSpPr/>
          <p:nvPr/>
        </p:nvSpPr>
        <p:spPr>
          <a:xfrm>
            <a:off x="16796965" y="91821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14 / 40 </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3"/>
        </a:solidFill>
        <a:effectLst/>
      </p:bgPr>
    </p:bg>
    <p:spTree>
      <p:nvGrpSpPr>
        <p:cNvPr id="1" name=""/>
        <p:cNvGrpSpPr/>
        <p:nvPr/>
      </p:nvGrpSpPr>
      <p:grpSpPr>
        <a:xfrm>
          <a:off x="0" y="0"/>
          <a:ext cx="0" cy="0"/>
          <a:chOff x="0" y="0"/>
          <a:chExt cx="0" cy="0"/>
        </a:xfrm>
      </p:grpSpPr>
      <p:sp>
        <p:nvSpPr>
          <p:cNvPr id="2" name="Shape 0"/>
          <p:cNvSpPr/>
          <p:nvPr/>
        </p:nvSpPr>
        <p:spPr>
          <a:xfrm>
            <a:off x="857250" y="1266825"/>
            <a:ext cx="7429500" cy="9525"/>
          </a:xfrm>
          <a:prstGeom prst="rect">
            <a:avLst/>
          </a:prstGeom>
          <a:solidFill>
            <a:srgbClr val="D9D2C0"/>
          </a:solidFill>
          <a:ln/>
        </p:spPr>
        <p:txBody>
          <a:bodyPr/>
          <a:lstStyle/>
          <a:p>
            <a:endParaRPr lang="en-AR"/>
          </a:p>
        </p:txBody>
      </p:sp>
      <p:sp>
        <p:nvSpPr>
          <p:cNvPr id="3" name="Shape 1"/>
          <p:cNvSpPr/>
          <p:nvPr/>
        </p:nvSpPr>
        <p:spPr>
          <a:xfrm>
            <a:off x="85725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228725" y="788194"/>
            <a:ext cx="1379265"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CAPÍTULO 03</a:t>
            </a:r>
            <a:endParaRPr lang="en-US" sz="1200" dirty="0"/>
          </a:p>
        </p:txBody>
      </p:sp>
      <p:sp>
        <p:nvSpPr>
          <p:cNvPr id="5" name="Text 3"/>
          <p:cNvSpPr/>
          <p:nvPr/>
        </p:nvSpPr>
        <p:spPr>
          <a:xfrm>
            <a:off x="7376071" y="804863"/>
            <a:ext cx="986879"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IDENTIDAD</a:t>
            </a:r>
            <a:endParaRPr lang="en-US" sz="1050" dirty="0"/>
          </a:p>
        </p:txBody>
      </p:sp>
      <p:sp>
        <p:nvSpPr>
          <p:cNvPr id="6" name="Text 4"/>
          <p:cNvSpPr/>
          <p:nvPr/>
        </p:nvSpPr>
        <p:spPr>
          <a:xfrm>
            <a:off x="857250" y="3217738"/>
            <a:ext cx="7652385"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NO ES UN PARQUE TEMÁTICO</a:t>
            </a:r>
            <a:endParaRPr lang="en-US" sz="1350" dirty="0"/>
          </a:p>
        </p:txBody>
      </p:sp>
      <p:sp>
        <p:nvSpPr>
          <p:cNvPr id="7" name="Text 5"/>
          <p:cNvSpPr/>
          <p:nvPr/>
        </p:nvSpPr>
        <p:spPr>
          <a:xfrm>
            <a:off x="857250" y="3693988"/>
            <a:ext cx="7652385" cy="1318171"/>
          </a:xfrm>
          <a:prstGeom prst="rect">
            <a:avLst/>
          </a:prstGeom>
          <a:noFill/>
          <a:ln/>
        </p:spPr>
        <p:txBody>
          <a:bodyPr wrap="square" lIns="25400" tIns="25400" rIns="25400" bIns="25400" rtlCol="0" anchor="t">
            <a:normAutofit fontScale="92500"/>
          </a:bodyPr>
          <a:lstStyle/>
          <a:p>
            <a:pPr marL="0" indent="0" algn="l">
              <a:lnSpc>
                <a:spcPct val="105000"/>
              </a:lnSpc>
              <a:buNone/>
            </a:pPr>
            <a:r>
              <a:rPr lang="en-US" sz="4800" kern="0" spc="-86" dirty="0">
                <a:solidFill>
                  <a:srgbClr val="14110D"/>
                </a:solidFill>
                <a:latin typeface="Georgia" pitchFamily="34" charset="0"/>
                <a:ea typeface="Georgia" pitchFamily="34" charset="-122"/>
                <a:cs typeface="Georgia" pitchFamily="34" charset="-120"/>
              </a:rPr>
              <a:t>Es un diálogo con </a:t>
            </a:r>
            <a:r>
              <a:rPr lang="en-US" sz="4800" i="1" kern="0" spc="-86" dirty="0">
                <a:solidFill>
                  <a:srgbClr val="8A6420"/>
                </a:solidFill>
                <a:latin typeface="Georgia" pitchFamily="34" charset="0"/>
                <a:ea typeface="Georgia" pitchFamily="34" charset="-122"/>
                <a:cs typeface="Georgia" pitchFamily="34" charset="-120"/>
              </a:rPr>
              <a:t>la Patagonia.</a:t>
            </a:r>
            <a:endParaRPr lang="en-US" sz="4800" dirty="0"/>
          </a:p>
        </p:txBody>
      </p:sp>
      <p:sp>
        <p:nvSpPr>
          <p:cNvPr id="8" name="Text 6"/>
          <p:cNvSpPr/>
          <p:nvPr/>
        </p:nvSpPr>
        <p:spPr>
          <a:xfrm>
            <a:off x="857250" y="5316959"/>
            <a:ext cx="7652385" cy="1198066"/>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100" dirty="0">
                <a:solidFill>
                  <a:srgbClr val="3A342A"/>
                </a:solidFill>
                <a:latin typeface="Georgia" pitchFamily="34" charset="0"/>
                <a:ea typeface="Georgia" pitchFamily="34" charset="-122"/>
                <a:cs typeface="Georgia" pitchFamily="34" charset="-120"/>
              </a:rPr>
              <a:t>Inscribimos el polo dentro de la tradición de Chubut. Lo conectamos con los espíritus del lugar, con la cosmovisión patagónica, con los oficios y materiales locales.</a:t>
            </a:r>
            <a:endParaRPr lang="en-US" sz="2100" dirty="0"/>
          </a:p>
        </p:txBody>
      </p:sp>
      <p:sp>
        <p:nvSpPr>
          <p:cNvPr id="9" name="Text 7"/>
          <p:cNvSpPr/>
          <p:nvPr/>
        </p:nvSpPr>
        <p:spPr>
          <a:xfrm>
            <a:off x="857250" y="6705526"/>
            <a:ext cx="7652385" cy="811411"/>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2100" dirty="0">
                <a:solidFill>
                  <a:srgbClr val="3A342A"/>
                </a:solidFill>
                <a:latin typeface="Georgia" pitchFamily="34" charset="0"/>
                <a:ea typeface="Georgia" pitchFamily="34" charset="-122"/>
                <a:cs typeface="Georgia" pitchFamily="34" charset="-120"/>
              </a:rPr>
              <a:t>No es un trasplante. Es una conversación entre tradiciones milenarias.</a:t>
            </a:r>
            <a:endParaRPr lang="en-US" sz="2100" dirty="0"/>
          </a:p>
        </p:txBody>
      </p:sp>
      <p:sp>
        <p:nvSpPr>
          <p:cNvPr id="10" name="Shape 8"/>
          <p:cNvSpPr/>
          <p:nvPr/>
        </p:nvSpPr>
        <p:spPr>
          <a:xfrm>
            <a:off x="857250" y="9134475"/>
            <a:ext cx="7429500" cy="9525"/>
          </a:xfrm>
          <a:prstGeom prst="rect">
            <a:avLst/>
          </a:prstGeom>
          <a:solidFill>
            <a:srgbClr val="D9D2C0"/>
          </a:solidFill>
          <a:ln/>
        </p:spPr>
        <p:txBody>
          <a:bodyPr/>
          <a:lstStyle/>
          <a:p>
            <a:endParaRPr lang="en-AR"/>
          </a:p>
        </p:txBody>
      </p:sp>
      <p:sp>
        <p:nvSpPr>
          <p:cNvPr id="11" name="Text 9"/>
          <p:cNvSpPr/>
          <p:nvPr/>
        </p:nvSpPr>
        <p:spPr>
          <a:xfrm>
            <a:off x="857250" y="9372600"/>
            <a:ext cx="3048767"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DE LA PATAGONIA</a:t>
            </a:r>
            <a:endParaRPr lang="en-US" sz="1050" dirty="0"/>
          </a:p>
        </p:txBody>
      </p:sp>
      <p:sp>
        <p:nvSpPr>
          <p:cNvPr id="12" name="Text 10"/>
          <p:cNvSpPr/>
          <p:nvPr/>
        </p:nvSpPr>
        <p:spPr>
          <a:xfrm>
            <a:off x="7748215" y="93726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16 / 40 </a:t>
            </a:r>
            <a:endParaRPr lang="en-US" sz="1050" dirty="0"/>
          </a:p>
        </p:txBody>
      </p:sp>
      <p:sp>
        <p:nvSpPr>
          <p:cNvPr id="13" name="Shape 11"/>
          <p:cNvSpPr/>
          <p:nvPr/>
        </p:nvSpPr>
        <p:spPr>
          <a:xfrm>
            <a:off x="9144000" y="0"/>
            <a:ext cx="9144000" cy="10287000"/>
          </a:xfrm>
          <a:prstGeom prst="rect">
            <a:avLst/>
          </a:prstGeom>
          <a:solidFill>
            <a:srgbClr val="F1ECE0"/>
          </a:solidFill>
          <a:ln/>
        </p:spPr>
        <p:txBody>
          <a:bodyPr/>
          <a:lstStyle/>
          <a:p>
            <a:endParaRPr lang="en-AR"/>
          </a:p>
        </p:txBody>
      </p:sp>
      <p:sp>
        <p:nvSpPr>
          <p:cNvPr id="14" name="Shape 12"/>
          <p:cNvSpPr/>
          <p:nvPr/>
        </p:nvSpPr>
        <p:spPr>
          <a:xfrm>
            <a:off x="9144000" y="0"/>
            <a:ext cx="9525" cy="10287000"/>
          </a:xfrm>
          <a:prstGeom prst="rect">
            <a:avLst/>
          </a:prstGeom>
          <a:solidFill>
            <a:srgbClr val="D9D2C0"/>
          </a:solidFill>
          <a:ln/>
        </p:spPr>
        <p:txBody>
          <a:bodyPr/>
          <a:lstStyle/>
          <a:p>
            <a:endParaRPr lang="en-AR"/>
          </a:p>
        </p:txBody>
      </p:sp>
      <p:sp>
        <p:nvSpPr>
          <p:cNvPr id="15" name="Text 13"/>
          <p:cNvSpPr/>
          <p:nvPr/>
        </p:nvSpPr>
        <p:spPr>
          <a:xfrm>
            <a:off x="9248775" y="133350"/>
            <a:ext cx="1681237" cy="166688"/>
          </a:xfrm>
          <a:prstGeom prst="rect">
            <a:avLst/>
          </a:prstGeom>
          <a:noFill/>
          <a:ln/>
        </p:spPr>
        <p:txBody>
          <a:bodyPr wrap="square" lIns="25400" tIns="25400" rIns="25400" bIns="25400" rtlCol="0" anchor="t">
            <a:normAutofit fontScale="92500" lnSpcReduction="10000"/>
          </a:bodyPr>
          <a:lstStyle/>
          <a:p>
            <a:pPr marL="0" indent="0" algn="ctr">
              <a:buNone/>
            </a:pPr>
            <a:r>
              <a:rPr lang="en-US" sz="900" kern="0" spc="162" dirty="0">
                <a:solidFill>
                  <a:srgbClr val="8A8170"/>
                </a:solidFill>
                <a:latin typeface="Courier New" pitchFamily="34" charset="0"/>
                <a:ea typeface="Courier New" pitchFamily="34" charset="-122"/>
                <a:cs typeface="Courier New" pitchFamily="34" charset="-120"/>
              </a:rPr>
              <a:t>[ IMG · 870×1080 ]</a:t>
            </a:r>
            <a:endParaRPr lang="en-US" sz="900" dirty="0"/>
          </a:p>
        </p:txBody>
      </p:sp>
      <p:pic>
        <p:nvPicPr>
          <p:cNvPr id="3074" name="Picture 2" descr="Qué hacer en Esquel? - 🚌 Viajá en Micro con Plataforma 10">
            <a:extLst>
              <a:ext uri="{FF2B5EF4-FFF2-40B4-BE49-F238E27FC236}">
                <a16:creationId xmlns:a16="http://schemas.microsoft.com/office/drawing/2014/main" id="{0433FE25-6F5F-6D3B-F987-B40968CA950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9630"/>
          <a:stretch>
            <a:fillRect/>
          </a:stretch>
        </p:blipFill>
        <p:spPr bwMode="auto">
          <a:xfrm>
            <a:off x="9143999" y="0"/>
            <a:ext cx="9144001" cy="1028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AF8F3"/>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4994062" y="804863"/>
            <a:ext cx="241763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CAPÍTULO 03 · EL CIRCUITO</a:t>
            </a:r>
            <a:endParaRPr lang="en-US" sz="1050" dirty="0"/>
          </a:p>
        </p:txBody>
      </p:sp>
      <p:sp>
        <p:nvSpPr>
          <p:cNvPr id="6" name="Text 4"/>
          <p:cNvSpPr/>
          <p:nvPr/>
        </p:nvSpPr>
        <p:spPr>
          <a:xfrm>
            <a:off x="952500" y="1657350"/>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EL CIRCUITO</a:t>
            </a:r>
            <a:endParaRPr lang="en-US" sz="1350" dirty="0"/>
          </a:p>
        </p:txBody>
      </p:sp>
      <p:sp>
        <p:nvSpPr>
          <p:cNvPr id="7" name="Text 5"/>
          <p:cNvSpPr/>
          <p:nvPr/>
        </p:nvSpPr>
        <p:spPr>
          <a:xfrm>
            <a:off x="952500" y="2057400"/>
            <a:ext cx="16874490" cy="1464469"/>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Cuatro tradiciones, un mismo </a:t>
            </a:r>
            <a:r>
              <a:rPr lang="en-US" sz="5400" i="1" kern="0" spc="-97" dirty="0">
                <a:solidFill>
                  <a:srgbClr val="8A6420"/>
                </a:solidFill>
                <a:latin typeface="Georgia" pitchFamily="34" charset="0"/>
                <a:ea typeface="Georgia" pitchFamily="34" charset="-122"/>
                <a:cs typeface="Georgia" pitchFamily="34" charset="-120"/>
              </a:rPr>
              <a:t>recorrido</a:t>
            </a:r>
            <a:r>
              <a:rPr lang="en-US" sz="5400" kern="0" spc="-97" dirty="0">
                <a:solidFill>
                  <a:srgbClr val="14110D"/>
                </a:solidFill>
                <a:latin typeface="Georgia" pitchFamily="34" charset="0"/>
                <a:ea typeface="Georgia" pitchFamily="34" charset="-122"/>
                <a:cs typeface="Georgia" pitchFamily="34" charset="-120"/>
              </a:rPr>
              <a:t>.</a:t>
            </a:r>
            <a:endParaRPr lang="en-US" sz="5400" dirty="0"/>
          </a:p>
        </p:txBody>
      </p:sp>
      <p:sp>
        <p:nvSpPr>
          <p:cNvPr id="8" name="Shape 6"/>
          <p:cNvSpPr/>
          <p:nvPr/>
        </p:nvSpPr>
        <p:spPr>
          <a:xfrm>
            <a:off x="952500" y="8377238"/>
            <a:ext cx="16383000" cy="9525"/>
          </a:xfrm>
          <a:prstGeom prst="rect">
            <a:avLst/>
          </a:prstGeom>
          <a:solidFill>
            <a:srgbClr val="D9D2C0"/>
          </a:solidFill>
          <a:ln/>
        </p:spPr>
        <p:txBody>
          <a:bodyPr/>
          <a:lstStyle/>
          <a:p>
            <a:endParaRPr lang="en-AR"/>
          </a:p>
        </p:txBody>
      </p:sp>
      <p:sp>
        <p:nvSpPr>
          <p:cNvPr id="9" name="Shape 7"/>
          <p:cNvSpPr/>
          <p:nvPr/>
        </p:nvSpPr>
        <p:spPr>
          <a:xfrm>
            <a:off x="952500" y="3940969"/>
            <a:ext cx="16383000" cy="9525"/>
          </a:xfrm>
          <a:prstGeom prst="rect">
            <a:avLst/>
          </a:prstGeom>
          <a:solidFill>
            <a:srgbClr val="D9D2C0"/>
          </a:solidFill>
          <a:ln/>
        </p:spPr>
        <p:txBody>
          <a:bodyPr/>
          <a:lstStyle/>
          <a:p>
            <a:endParaRPr lang="en-AR"/>
          </a:p>
        </p:txBody>
      </p:sp>
      <p:sp>
        <p:nvSpPr>
          <p:cNvPr id="10" name="Shape 8"/>
          <p:cNvSpPr/>
          <p:nvPr/>
        </p:nvSpPr>
        <p:spPr>
          <a:xfrm>
            <a:off x="4219575" y="3950494"/>
            <a:ext cx="9525" cy="4426744"/>
          </a:xfrm>
          <a:prstGeom prst="rect">
            <a:avLst/>
          </a:prstGeom>
          <a:solidFill>
            <a:srgbClr val="D9D2C0"/>
          </a:solidFill>
          <a:ln/>
        </p:spPr>
        <p:txBody>
          <a:bodyPr/>
          <a:lstStyle/>
          <a:p>
            <a:endParaRPr lang="en-AR"/>
          </a:p>
        </p:txBody>
      </p:sp>
      <p:sp>
        <p:nvSpPr>
          <p:cNvPr id="11" name="Text 9"/>
          <p:cNvSpPr/>
          <p:nvPr/>
        </p:nvSpPr>
        <p:spPr>
          <a:xfrm>
            <a:off x="1181100" y="4255294"/>
            <a:ext cx="2894171" cy="166688"/>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162" dirty="0">
                <a:solidFill>
                  <a:srgbClr val="8A6420"/>
                </a:solidFill>
                <a:latin typeface="Courier New" pitchFamily="34" charset="0"/>
                <a:ea typeface="Courier New" pitchFamily="34" charset="-122"/>
                <a:cs typeface="Courier New" pitchFamily="34" charset="-120"/>
              </a:rPr>
              <a:t>PUNTO DE ENTRADA</a:t>
            </a:r>
            <a:endParaRPr lang="en-US" sz="900" dirty="0"/>
          </a:p>
        </p:txBody>
      </p:sp>
      <p:sp>
        <p:nvSpPr>
          <p:cNvPr id="12" name="Text 10"/>
          <p:cNvSpPr/>
          <p:nvPr/>
        </p:nvSpPr>
        <p:spPr>
          <a:xfrm>
            <a:off x="1181100" y="4536281"/>
            <a:ext cx="2894171" cy="651421"/>
          </a:xfrm>
          <a:prstGeom prst="rect">
            <a:avLst/>
          </a:prstGeom>
          <a:noFill/>
          <a:ln/>
        </p:spPr>
        <p:txBody>
          <a:bodyPr wrap="square" lIns="25400" tIns="25400" rIns="25400" bIns="25400" rtlCol="0" anchor="t">
            <a:normAutofit/>
          </a:bodyPr>
          <a:lstStyle/>
          <a:p>
            <a:pPr marL="0" indent="0" algn="l">
              <a:lnSpc>
                <a:spcPct val="115000"/>
              </a:lnSpc>
              <a:buNone/>
            </a:pPr>
            <a:r>
              <a:rPr lang="en-US" sz="2100" dirty="0">
                <a:solidFill>
                  <a:srgbClr val="14110D"/>
                </a:solidFill>
                <a:latin typeface="Georgia" pitchFamily="34" charset="0"/>
                <a:ea typeface="Georgia" pitchFamily="34" charset="-122"/>
                <a:cs typeface="Georgia" pitchFamily="34" charset="-120"/>
              </a:rPr>
              <a:t>Aeropuerto de Esquel</a:t>
            </a:r>
            <a:endParaRPr lang="en-US" sz="2100" dirty="0"/>
          </a:p>
        </p:txBody>
      </p:sp>
      <p:sp>
        <p:nvSpPr>
          <p:cNvPr id="13" name="Text 11"/>
          <p:cNvSpPr/>
          <p:nvPr/>
        </p:nvSpPr>
        <p:spPr>
          <a:xfrm>
            <a:off x="1181100" y="7859092"/>
            <a:ext cx="2894171" cy="25144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200" kern="0" spc="6" dirty="0">
                <a:solidFill>
                  <a:srgbClr val="8A8170"/>
                </a:solidFill>
                <a:latin typeface="Arial" pitchFamily="34" charset="0"/>
                <a:ea typeface="Arial" pitchFamily="34" charset="-122"/>
                <a:cs typeface="Arial" pitchFamily="34" charset="-120"/>
              </a:rPr>
              <a:t>Conectividad aérea directa.</a:t>
            </a:r>
            <a:endParaRPr lang="en-US" sz="1200" dirty="0"/>
          </a:p>
        </p:txBody>
      </p:sp>
      <p:sp>
        <p:nvSpPr>
          <p:cNvPr id="14" name="Shape 12"/>
          <p:cNvSpPr/>
          <p:nvPr/>
        </p:nvSpPr>
        <p:spPr>
          <a:xfrm>
            <a:off x="4229100" y="3950494"/>
            <a:ext cx="3276600" cy="4426744"/>
          </a:xfrm>
          <a:prstGeom prst="rect">
            <a:avLst/>
          </a:prstGeom>
          <a:solidFill>
            <a:srgbClr val="F1ECE0"/>
          </a:solidFill>
          <a:ln/>
        </p:spPr>
        <p:txBody>
          <a:bodyPr/>
          <a:lstStyle/>
          <a:p>
            <a:endParaRPr lang="en-AR"/>
          </a:p>
        </p:txBody>
      </p:sp>
      <p:sp>
        <p:nvSpPr>
          <p:cNvPr id="15" name="Shape 13"/>
          <p:cNvSpPr/>
          <p:nvPr/>
        </p:nvSpPr>
        <p:spPr>
          <a:xfrm>
            <a:off x="7496175" y="3950494"/>
            <a:ext cx="9525" cy="4426744"/>
          </a:xfrm>
          <a:prstGeom prst="rect">
            <a:avLst/>
          </a:prstGeom>
          <a:solidFill>
            <a:srgbClr val="D9D2C0"/>
          </a:solidFill>
          <a:ln/>
        </p:spPr>
        <p:txBody>
          <a:bodyPr/>
          <a:lstStyle/>
          <a:p>
            <a:endParaRPr lang="en-AR"/>
          </a:p>
        </p:txBody>
      </p:sp>
      <p:sp>
        <p:nvSpPr>
          <p:cNvPr id="16" name="Text 14"/>
          <p:cNvSpPr/>
          <p:nvPr/>
        </p:nvSpPr>
        <p:spPr>
          <a:xfrm>
            <a:off x="4457700" y="4255294"/>
            <a:ext cx="2894171" cy="166688"/>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162" dirty="0">
                <a:solidFill>
                  <a:srgbClr val="8A6420"/>
                </a:solidFill>
                <a:latin typeface="Courier New" pitchFamily="34" charset="0"/>
                <a:ea typeface="Courier New" pitchFamily="34" charset="-122"/>
                <a:cs typeface="Courier New" pitchFamily="34" charset="-120"/>
              </a:rPr>
              <a:t>TEMPLO · 01</a:t>
            </a:r>
            <a:endParaRPr lang="en-US" sz="900" dirty="0"/>
          </a:p>
        </p:txBody>
      </p:sp>
      <p:sp>
        <p:nvSpPr>
          <p:cNvPr id="17" name="Text 15"/>
          <p:cNvSpPr/>
          <p:nvPr/>
        </p:nvSpPr>
        <p:spPr>
          <a:xfrm>
            <a:off x="4457700" y="4536281"/>
            <a:ext cx="2894171" cy="34476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dirty="0">
                <a:solidFill>
                  <a:srgbClr val="14110D"/>
                </a:solidFill>
                <a:latin typeface="Georgia" pitchFamily="34" charset="0"/>
                <a:ea typeface="Georgia" pitchFamily="34" charset="-122"/>
                <a:cs typeface="Georgia" pitchFamily="34" charset="-120"/>
              </a:rPr>
              <a:t>Vajrayana</a:t>
            </a:r>
            <a:endParaRPr lang="en-US" sz="2100" dirty="0"/>
          </a:p>
        </p:txBody>
      </p:sp>
      <p:sp>
        <p:nvSpPr>
          <p:cNvPr id="18" name="Text 16"/>
          <p:cNvSpPr/>
          <p:nvPr/>
        </p:nvSpPr>
        <p:spPr>
          <a:xfrm>
            <a:off x="4457700" y="7645747"/>
            <a:ext cx="2894171" cy="46479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200" kern="0" spc="6" dirty="0">
                <a:solidFill>
                  <a:srgbClr val="8A8170"/>
                </a:solidFill>
                <a:latin typeface="Arial" pitchFamily="34" charset="0"/>
                <a:ea typeface="Arial" pitchFamily="34" charset="-122"/>
                <a:cs typeface="Arial" pitchFamily="34" charset="-120"/>
              </a:rPr>
              <a:t>Ruedas de mantras, banderas de oración.</a:t>
            </a:r>
            <a:endParaRPr lang="en-US" sz="1200" dirty="0"/>
          </a:p>
        </p:txBody>
      </p:sp>
      <p:sp>
        <p:nvSpPr>
          <p:cNvPr id="19" name="Shape 17"/>
          <p:cNvSpPr/>
          <p:nvPr/>
        </p:nvSpPr>
        <p:spPr>
          <a:xfrm>
            <a:off x="7505700" y="3950494"/>
            <a:ext cx="3276600" cy="4426744"/>
          </a:xfrm>
          <a:prstGeom prst="rect">
            <a:avLst/>
          </a:prstGeom>
          <a:solidFill>
            <a:srgbClr val="F1ECE0"/>
          </a:solidFill>
          <a:ln/>
        </p:spPr>
        <p:txBody>
          <a:bodyPr/>
          <a:lstStyle/>
          <a:p>
            <a:endParaRPr lang="en-AR"/>
          </a:p>
        </p:txBody>
      </p:sp>
      <p:sp>
        <p:nvSpPr>
          <p:cNvPr id="20" name="Shape 18"/>
          <p:cNvSpPr/>
          <p:nvPr/>
        </p:nvSpPr>
        <p:spPr>
          <a:xfrm>
            <a:off x="10772775" y="3950494"/>
            <a:ext cx="9525" cy="4426744"/>
          </a:xfrm>
          <a:prstGeom prst="rect">
            <a:avLst/>
          </a:prstGeom>
          <a:solidFill>
            <a:srgbClr val="D9D2C0"/>
          </a:solidFill>
          <a:ln/>
        </p:spPr>
        <p:txBody>
          <a:bodyPr/>
          <a:lstStyle/>
          <a:p>
            <a:endParaRPr lang="en-AR"/>
          </a:p>
        </p:txBody>
      </p:sp>
      <p:sp>
        <p:nvSpPr>
          <p:cNvPr id="21" name="Text 19"/>
          <p:cNvSpPr/>
          <p:nvPr/>
        </p:nvSpPr>
        <p:spPr>
          <a:xfrm>
            <a:off x="7734300" y="4255294"/>
            <a:ext cx="2894171" cy="166688"/>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162" dirty="0">
                <a:solidFill>
                  <a:srgbClr val="8A6420"/>
                </a:solidFill>
                <a:latin typeface="Courier New" pitchFamily="34" charset="0"/>
                <a:ea typeface="Courier New" pitchFamily="34" charset="-122"/>
                <a:cs typeface="Courier New" pitchFamily="34" charset="-120"/>
              </a:rPr>
              <a:t>TEMPLO · 02</a:t>
            </a:r>
            <a:endParaRPr lang="en-US" sz="900" dirty="0"/>
          </a:p>
        </p:txBody>
      </p:sp>
      <p:sp>
        <p:nvSpPr>
          <p:cNvPr id="22" name="Text 20"/>
          <p:cNvSpPr/>
          <p:nvPr/>
        </p:nvSpPr>
        <p:spPr>
          <a:xfrm>
            <a:off x="7734300" y="4536281"/>
            <a:ext cx="2894171" cy="651421"/>
          </a:xfrm>
          <a:prstGeom prst="rect">
            <a:avLst/>
          </a:prstGeom>
          <a:noFill/>
          <a:ln/>
        </p:spPr>
        <p:txBody>
          <a:bodyPr wrap="square" lIns="25400" tIns="25400" rIns="25400" bIns="25400" rtlCol="0" anchor="t">
            <a:normAutofit/>
          </a:bodyPr>
          <a:lstStyle/>
          <a:p>
            <a:pPr marL="0" indent="0" algn="l">
              <a:lnSpc>
                <a:spcPct val="115000"/>
              </a:lnSpc>
              <a:buNone/>
            </a:pPr>
            <a:r>
              <a:rPr lang="en-US" sz="2100" dirty="0">
                <a:solidFill>
                  <a:srgbClr val="14110D"/>
                </a:solidFill>
                <a:latin typeface="Georgia" pitchFamily="34" charset="0"/>
                <a:ea typeface="Georgia" pitchFamily="34" charset="-122"/>
                <a:cs typeface="Georgia" pitchFamily="34" charset="-120"/>
              </a:rPr>
              <a:t>Zen japonés</a:t>
            </a:r>
            <a:endParaRPr lang="en-US" sz="2100" dirty="0"/>
          </a:p>
        </p:txBody>
      </p:sp>
      <p:sp>
        <p:nvSpPr>
          <p:cNvPr id="23" name="Text 21"/>
          <p:cNvSpPr/>
          <p:nvPr/>
        </p:nvSpPr>
        <p:spPr>
          <a:xfrm>
            <a:off x="7734300" y="7859092"/>
            <a:ext cx="2894171" cy="25144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200" kern="0" spc="6" dirty="0">
                <a:solidFill>
                  <a:srgbClr val="8A8170"/>
                </a:solidFill>
                <a:latin typeface="Arial" pitchFamily="34" charset="0"/>
                <a:ea typeface="Arial" pitchFamily="34" charset="-122"/>
                <a:cs typeface="Arial" pitchFamily="34" charset="-120"/>
              </a:rPr>
              <a:t>Jardines secos, ceremonia del té.</a:t>
            </a:r>
            <a:endParaRPr lang="en-US" sz="1200" dirty="0"/>
          </a:p>
        </p:txBody>
      </p:sp>
      <p:sp>
        <p:nvSpPr>
          <p:cNvPr id="24" name="Shape 22"/>
          <p:cNvSpPr/>
          <p:nvPr/>
        </p:nvSpPr>
        <p:spPr>
          <a:xfrm>
            <a:off x="10782300" y="3950494"/>
            <a:ext cx="3276600" cy="4426744"/>
          </a:xfrm>
          <a:prstGeom prst="rect">
            <a:avLst/>
          </a:prstGeom>
          <a:solidFill>
            <a:srgbClr val="F1ECE0"/>
          </a:solidFill>
          <a:ln/>
        </p:spPr>
        <p:txBody>
          <a:bodyPr/>
          <a:lstStyle/>
          <a:p>
            <a:endParaRPr lang="en-AR"/>
          </a:p>
        </p:txBody>
      </p:sp>
      <p:sp>
        <p:nvSpPr>
          <p:cNvPr id="25" name="Shape 23"/>
          <p:cNvSpPr/>
          <p:nvPr/>
        </p:nvSpPr>
        <p:spPr>
          <a:xfrm>
            <a:off x="14049375" y="3950494"/>
            <a:ext cx="9525" cy="4426744"/>
          </a:xfrm>
          <a:prstGeom prst="rect">
            <a:avLst/>
          </a:prstGeom>
          <a:solidFill>
            <a:srgbClr val="D9D2C0"/>
          </a:solidFill>
          <a:ln/>
        </p:spPr>
        <p:txBody>
          <a:bodyPr/>
          <a:lstStyle/>
          <a:p>
            <a:endParaRPr lang="en-AR"/>
          </a:p>
        </p:txBody>
      </p:sp>
      <p:sp>
        <p:nvSpPr>
          <p:cNvPr id="26" name="Text 24"/>
          <p:cNvSpPr/>
          <p:nvPr/>
        </p:nvSpPr>
        <p:spPr>
          <a:xfrm>
            <a:off x="11010900" y="4255294"/>
            <a:ext cx="2894171" cy="166688"/>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162" dirty="0">
                <a:solidFill>
                  <a:srgbClr val="8A6420"/>
                </a:solidFill>
                <a:latin typeface="Courier New" pitchFamily="34" charset="0"/>
                <a:ea typeface="Courier New" pitchFamily="34" charset="-122"/>
                <a:cs typeface="Courier New" pitchFamily="34" charset="-120"/>
              </a:rPr>
              <a:t>TEMPLO · 03</a:t>
            </a:r>
            <a:endParaRPr lang="en-US" sz="900" dirty="0"/>
          </a:p>
        </p:txBody>
      </p:sp>
      <p:sp>
        <p:nvSpPr>
          <p:cNvPr id="27" name="Text 25"/>
          <p:cNvSpPr/>
          <p:nvPr/>
        </p:nvSpPr>
        <p:spPr>
          <a:xfrm>
            <a:off x="11010900" y="4536281"/>
            <a:ext cx="2894171" cy="651421"/>
          </a:xfrm>
          <a:prstGeom prst="rect">
            <a:avLst/>
          </a:prstGeom>
          <a:noFill/>
          <a:ln/>
        </p:spPr>
        <p:txBody>
          <a:bodyPr wrap="square" lIns="25400" tIns="25400" rIns="25400" bIns="25400" rtlCol="0" anchor="t">
            <a:normAutofit/>
          </a:bodyPr>
          <a:lstStyle/>
          <a:p>
            <a:pPr marL="0" indent="0" algn="l">
              <a:lnSpc>
                <a:spcPct val="115000"/>
              </a:lnSpc>
              <a:buNone/>
            </a:pPr>
            <a:r>
              <a:rPr lang="en-US" sz="2100" dirty="0">
                <a:solidFill>
                  <a:srgbClr val="14110D"/>
                </a:solidFill>
                <a:latin typeface="Georgia" pitchFamily="34" charset="0"/>
                <a:ea typeface="Georgia" pitchFamily="34" charset="-122"/>
                <a:cs typeface="Georgia" pitchFamily="34" charset="-120"/>
              </a:rPr>
              <a:t>Theravada tailandés</a:t>
            </a:r>
            <a:endParaRPr lang="en-US" sz="2100" dirty="0"/>
          </a:p>
        </p:txBody>
      </p:sp>
      <p:sp>
        <p:nvSpPr>
          <p:cNvPr id="28" name="Text 26"/>
          <p:cNvSpPr/>
          <p:nvPr/>
        </p:nvSpPr>
        <p:spPr>
          <a:xfrm>
            <a:off x="11010900" y="7859092"/>
            <a:ext cx="2894171" cy="25144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200" kern="0" spc="6" dirty="0">
                <a:solidFill>
                  <a:srgbClr val="8A8170"/>
                </a:solidFill>
                <a:latin typeface="Arial" pitchFamily="34" charset="0"/>
                <a:ea typeface="Arial" pitchFamily="34" charset="-122"/>
                <a:cs typeface="Arial" pitchFamily="34" charset="-120"/>
              </a:rPr>
              <a:t>Estupas doradas, ofrendas.</a:t>
            </a:r>
            <a:endParaRPr lang="en-US" sz="1200" dirty="0"/>
          </a:p>
        </p:txBody>
      </p:sp>
      <p:sp>
        <p:nvSpPr>
          <p:cNvPr id="29" name="Shape 27"/>
          <p:cNvSpPr/>
          <p:nvPr/>
        </p:nvSpPr>
        <p:spPr>
          <a:xfrm>
            <a:off x="14058900" y="3950494"/>
            <a:ext cx="3276600" cy="4426744"/>
          </a:xfrm>
          <a:prstGeom prst="rect">
            <a:avLst/>
          </a:prstGeom>
          <a:solidFill>
            <a:srgbClr val="F1ECE0"/>
          </a:solidFill>
          <a:ln/>
        </p:spPr>
        <p:txBody>
          <a:bodyPr/>
          <a:lstStyle/>
          <a:p>
            <a:endParaRPr lang="en-AR"/>
          </a:p>
        </p:txBody>
      </p:sp>
      <p:sp>
        <p:nvSpPr>
          <p:cNvPr id="30" name="Text 28"/>
          <p:cNvSpPr/>
          <p:nvPr/>
        </p:nvSpPr>
        <p:spPr>
          <a:xfrm>
            <a:off x="14287500" y="4255294"/>
            <a:ext cx="2903982" cy="166688"/>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162" dirty="0">
                <a:solidFill>
                  <a:srgbClr val="8A6420"/>
                </a:solidFill>
                <a:latin typeface="Courier New" pitchFamily="34" charset="0"/>
                <a:ea typeface="Courier New" pitchFamily="34" charset="-122"/>
                <a:cs typeface="Courier New" pitchFamily="34" charset="-120"/>
              </a:rPr>
              <a:t>TEMPLO · 04</a:t>
            </a:r>
            <a:endParaRPr lang="en-US" sz="900" dirty="0"/>
          </a:p>
        </p:txBody>
      </p:sp>
      <p:sp>
        <p:nvSpPr>
          <p:cNvPr id="31" name="Text 29"/>
          <p:cNvSpPr/>
          <p:nvPr/>
        </p:nvSpPr>
        <p:spPr>
          <a:xfrm>
            <a:off x="14287500" y="4536281"/>
            <a:ext cx="2903982" cy="34476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dirty="0">
                <a:solidFill>
                  <a:srgbClr val="14110D"/>
                </a:solidFill>
                <a:latin typeface="Georgia" pitchFamily="34" charset="0"/>
                <a:ea typeface="Georgia" pitchFamily="34" charset="-122"/>
                <a:cs typeface="Georgia" pitchFamily="34" charset="-120"/>
              </a:rPr>
              <a:t>Coreano / Chino</a:t>
            </a:r>
            <a:endParaRPr lang="en-US" sz="2100" dirty="0"/>
          </a:p>
        </p:txBody>
      </p:sp>
      <p:sp>
        <p:nvSpPr>
          <p:cNvPr id="32" name="Text 30"/>
          <p:cNvSpPr/>
          <p:nvPr/>
        </p:nvSpPr>
        <p:spPr>
          <a:xfrm>
            <a:off x="14287500" y="7859092"/>
            <a:ext cx="2903982" cy="25144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200" kern="0" spc="6" dirty="0">
                <a:solidFill>
                  <a:srgbClr val="8A8170"/>
                </a:solidFill>
                <a:latin typeface="Arial" pitchFamily="34" charset="0"/>
                <a:ea typeface="Arial" pitchFamily="34" charset="-122"/>
                <a:cs typeface="Arial" pitchFamily="34" charset="-120"/>
              </a:rPr>
              <a:t>Hanok-style, retiros silenciosos.</a:t>
            </a:r>
            <a:endParaRPr lang="en-US" sz="1200" dirty="0"/>
          </a:p>
        </p:txBody>
      </p:sp>
      <p:sp>
        <p:nvSpPr>
          <p:cNvPr id="33" name="Text 31"/>
          <p:cNvSpPr/>
          <p:nvPr/>
        </p:nvSpPr>
        <p:spPr>
          <a:xfrm>
            <a:off x="952500" y="8691563"/>
            <a:ext cx="3983165"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ANILLO ECONÓMICO</a:t>
            </a:r>
            <a:endParaRPr lang="en-US" sz="975" dirty="0"/>
          </a:p>
        </p:txBody>
      </p:sp>
      <p:sp>
        <p:nvSpPr>
          <p:cNvPr id="34" name="Text 32"/>
          <p:cNvSpPr/>
          <p:nvPr/>
        </p:nvSpPr>
        <p:spPr>
          <a:xfrm>
            <a:off x="952500" y="8896350"/>
            <a:ext cx="3983165"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3A342A"/>
                </a:solidFill>
                <a:latin typeface="Georgia" pitchFamily="34" charset="0"/>
                <a:ea typeface="Georgia" pitchFamily="34" charset="-122"/>
                <a:cs typeface="Georgia" pitchFamily="34" charset="-120"/>
              </a:rPr>
              <a:t>Feria artesanal permanente</a:t>
            </a:r>
            <a:endParaRPr lang="en-US" sz="1650" dirty="0"/>
          </a:p>
        </p:txBody>
      </p:sp>
      <p:sp>
        <p:nvSpPr>
          <p:cNvPr id="35" name="Text 33"/>
          <p:cNvSpPr/>
          <p:nvPr/>
        </p:nvSpPr>
        <p:spPr>
          <a:xfrm>
            <a:off x="5124450" y="8896350"/>
            <a:ext cx="3983165"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3A342A"/>
                </a:solidFill>
                <a:latin typeface="Georgia" pitchFamily="34" charset="0"/>
                <a:ea typeface="Georgia" pitchFamily="34" charset="-122"/>
                <a:cs typeface="Georgia" pitchFamily="34" charset="-120"/>
              </a:rPr>
              <a:t>Gastronomía local + asiática</a:t>
            </a:r>
            <a:endParaRPr lang="en-US" sz="1650" dirty="0"/>
          </a:p>
        </p:txBody>
      </p:sp>
      <p:sp>
        <p:nvSpPr>
          <p:cNvPr id="36" name="Text 34"/>
          <p:cNvSpPr/>
          <p:nvPr/>
        </p:nvSpPr>
        <p:spPr>
          <a:xfrm>
            <a:off x="9296400" y="8896350"/>
            <a:ext cx="3983165"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3A342A"/>
                </a:solidFill>
                <a:latin typeface="Georgia" pitchFamily="34" charset="0"/>
                <a:ea typeface="Georgia" pitchFamily="34" charset="-122"/>
                <a:cs typeface="Georgia" pitchFamily="34" charset="-120"/>
              </a:rPr>
              <a:t>Hospedaje y retiros</a:t>
            </a:r>
            <a:endParaRPr lang="en-US" sz="1650" dirty="0"/>
          </a:p>
        </p:txBody>
      </p:sp>
      <p:sp>
        <p:nvSpPr>
          <p:cNvPr id="37" name="Text 35"/>
          <p:cNvSpPr/>
          <p:nvPr/>
        </p:nvSpPr>
        <p:spPr>
          <a:xfrm>
            <a:off x="13468350" y="8896350"/>
            <a:ext cx="3983165"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3A342A"/>
                </a:solidFill>
                <a:latin typeface="Georgia" pitchFamily="34" charset="0"/>
                <a:ea typeface="Georgia" pitchFamily="34" charset="-122"/>
                <a:cs typeface="Georgia" pitchFamily="34" charset="-120"/>
              </a:rPr>
              <a:t>Estudio para podcasts y transmisiones</a:t>
            </a:r>
            <a:endParaRPr lang="en-US" sz="1650" dirty="0"/>
          </a:p>
        </p:txBody>
      </p:sp>
      <p:sp>
        <p:nvSpPr>
          <p:cNvPr id="38" name="Shape 36"/>
          <p:cNvSpPr/>
          <p:nvPr/>
        </p:nvSpPr>
        <p:spPr>
          <a:xfrm>
            <a:off x="952500" y="9134475"/>
            <a:ext cx="16383000" cy="9525"/>
          </a:xfrm>
          <a:prstGeom prst="rect">
            <a:avLst/>
          </a:prstGeom>
          <a:solidFill>
            <a:srgbClr val="D9D2C0"/>
          </a:solidFill>
          <a:ln/>
        </p:spPr>
        <p:txBody>
          <a:bodyPr/>
          <a:lstStyle/>
          <a:p>
            <a:endParaRPr lang="en-AR"/>
          </a:p>
        </p:txBody>
      </p:sp>
      <p:sp>
        <p:nvSpPr>
          <p:cNvPr id="39" name="Text 37"/>
          <p:cNvSpPr/>
          <p:nvPr/>
        </p:nvSpPr>
        <p:spPr>
          <a:xfrm>
            <a:off x="952500" y="9372600"/>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40" name="Text 38"/>
          <p:cNvSpPr/>
          <p:nvPr/>
        </p:nvSpPr>
        <p:spPr>
          <a:xfrm>
            <a:off x="16796965" y="93726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15 / 40 </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AF8F3"/>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4994062" y="804863"/>
            <a:ext cx="2417638" cy="190500"/>
          </a:xfrm>
          <a:prstGeom prst="rect">
            <a:avLst/>
          </a:prstGeom>
          <a:noFill/>
          <a:ln/>
        </p:spPr>
        <p:txBody>
          <a:bodyPr wrap="square" lIns="25400" tIns="25400" rIns="25400" bIns="25400" rtlCol="0" anchor="t">
            <a:normAutofit fontScale="850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CAPÍTULO 03 · EL ECOSISTEMA</a:t>
            </a:r>
            <a:endParaRPr lang="en-US" sz="1050" dirty="0"/>
          </a:p>
        </p:txBody>
      </p:sp>
      <p:sp>
        <p:nvSpPr>
          <p:cNvPr id="6" name="Text 4"/>
          <p:cNvSpPr/>
          <p:nvPr/>
        </p:nvSpPr>
        <p:spPr>
          <a:xfrm>
            <a:off x="952500" y="1657350"/>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MÁS QUE UN CIRCUITO</a:t>
            </a:r>
            <a:endParaRPr lang="en-US" sz="1350" dirty="0"/>
          </a:p>
        </p:txBody>
      </p:sp>
      <p:sp>
        <p:nvSpPr>
          <p:cNvPr id="7" name="Text 5"/>
          <p:cNvSpPr/>
          <p:nvPr/>
        </p:nvSpPr>
        <p:spPr>
          <a:xfrm>
            <a:off x="952500" y="2057400"/>
            <a:ext cx="16874490" cy="1464469"/>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Cinco motores, un mismo </a:t>
            </a:r>
            <a:r>
              <a:rPr lang="en-US" sz="5400" i="1" kern="0" spc="-97" dirty="0">
                <a:solidFill>
                  <a:srgbClr val="8A6420"/>
                </a:solidFill>
                <a:latin typeface="Georgia" pitchFamily="34" charset="0"/>
                <a:ea typeface="Georgia" pitchFamily="34" charset="-122"/>
                <a:cs typeface="Georgia" pitchFamily="34" charset="-120"/>
              </a:rPr>
              <a:t>ecosistema</a:t>
            </a:r>
            <a:r>
              <a:rPr lang="en-US" sz="5400" kern="0" spc="-97" dirty="0">
                <a:solidFill>
                  <a:srgbClr val="14110D"/>
                </a:solidFill>
                <a:latin typeface="Georgia" pitchFamily="34" charset="0"/>
                <a:ea typeface="Georgia" pitchFamily="34" charset="-122"/>
                <a:cs typeface="Georgia" pitchFamily="34" charset="-120"/>
              </a:rPr>
              <a:t>.</a:t>
            </a:r>
            <a:endParaRPr lang="en-US" sz="5400" dirty="0"/>
          </a:p>
        </p:txBody>
      </p:sp>
      <p:sp>
        <p:nvSpPr>
          <p:cNvPr id="8" name="Shape 6"/>
          <p:cNvSpPr/>
          <p:nvPr/>
        </p:nvSpPr>
        <p:spPr>
          <a:xfrm>
            <a:off x="952500" y="8377238"/>
            <a:ext cx="16383000" cy="9525"/>
          </a:xfrm>
          <a:prstGeom prst="rect">
            <a:avLst/>
          </a:prstGeom>
          <a:solidFill>
            <a:srgbClr val="D9D2C0"/>
          </a:solidFill>
          <a:ln/>
        </p:spPr>
        <p:txBody>
          <a:bodyPr/>
          <a:lstStyle/>
          <a:p>
            <a:endParaRPr lang="en-AR"/>
          </a:p>
        </p:txBody>
      </p:sp>
      <p:sp>
        <p:nvSpPr>
          <p:cNvPr id="9" name="Shape 7"/>
          <p:cNvSpPr/>
          <p:nvPr/>
        </p:nvSpPr>
        <p:spPr>
          <a:xfrm>
            <a:off x="952500" y="3940969"/>
            <a:ext cx="16383000" cy="9525"/>
          </a:xfrm>
          <a:prstGeom prst="rect">
            <a:avLst/>
          </a:prstGeom>
          <a:solidFill>
            <a:srgbClr val="D9D2C0"/>
          </a:solidFill>
          <a:ln/>
        </p:spPr>
        <p:txBody>
          <a:bodyPr/>
          <a:lstStyle/>
          <a:p>
            <a:endParaRPr lang="en-AR"/>
          </a:p>
        </p:txBody>
      </p:sp>
      <p:sp>
        <p:nvSpPr>
          <p:cNvPr id="10" name="Shape 8"/>
          <p:cNvSpPr/>
          <p:nvPr/>
        </p:nvSpPr>
        <p:spPr>
          <a:xfrm>
            <a:off x="4219575" y="3950494"/>
            <a:ext cx="9525" cy="4426744"/>
          </a:xfrm>
          <a:prstGeom prst="rect">
            <a:avLst/>
          </a:prstGeom>
          <a:solidFill>
            <a:srgbClr val="D9D2C0"/>
          </a:solidFill>
          <a:ln/>
        </p:spPr>
        <p:txBody>
          <a:bodyPr/>
          <a:lstStyle/>
          <a:p>
            <a:endParaRPr lang="en-AR"/>
          </a:p>
        </p:txBody>
      </p:sp>
      <p:sp>
        <p:nvSpPr>
          <p:cNvPr id="11" name="Text 9"/>
          <p:cNvSpPr/>
          <p:nvPr/>
        </p:nvSpPr>
        <p:spPr>
          <a:xfrm>
            <a:off x="1181100" y="4255294"/>
            <a:ext cx="2894171" cy="166688"/>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162" dirty="0">
                <a:solidFill>
                  <a:srgbClr val="8A6420"/>
                </a:solidFill>
                <a:latin typeface="Courier New" pitchFamily="34" charset="0"/>
                <a:ea typeface="Courier New" pitchFamily="34" charset="-122"/>
                <a:cs typeface="Courier New" pitchFamily="34" charset="-120"/>
              </a:rPr>
              <a:t>MOTOR · 01</a:t>
            </a:r>
            <a:endParaRPr lang="en-US" sz="900" dirty="0"/>
          </a:p>
        </p:txBody>
      </p:sp>
      <p:sp>
        <p:nvSpPr>
          <p:cNvPr id="12" name="Text 10"/>
          <p:cNvSpPr/>
          <p:nvPr/>
        </p:nvSpPr>
        <p:spPr>
          <a:xfrm>
            <a:off x="1181100" y="4536281"/>
            <a:ext cx="2894171" cy="651421"/>
          </a:xfrm>
          <a:prstGeom prst="rect">
            <a:avLst/>
          </a:prstGeom>
          <a:noFill/>
          <a:ln/>
        </p:spPr>
        <p:txBody>
          <a:bodyPr wrap="square" lIns="25400" tIns="25400" rIns="25400" bIns="25400" rtlCol="0" anchor="t">
            <a:normAutofit/>
          </a:bodyPr>
          <a:lstStyle/>
          <a:p>
            <a:pPr marL="0" indent="0" algn="l">
              <a:lnSpc>
                <a:spcPct val="115000"/>
              </a:lnSpc>
              <a:buNone/>
            </a:pPr>
            <a:r>
              <a:rPr lang="en-US" sz="2100" dirty="0">
                <a:solidFill>
                  <a:srgbClr val="14110D"/>
                </a:solidFill>
                <a:latin typeface="Georgia" pitchFamily="34" charset="0"/>
                <a:ea typeface="Georgia" pitchFamily="34" charset="-122"/>
                <a:cs typeface="Georgia" pitchFamily="34" charset="-120"/>
              </a:rPr>
              <a:t>Centro de Estudios</a:t>
            </a:r>
            <a:endParaRPr lang="en-US" sz="2100" dirty="0"/>
          </a:p>
        </p:txBody>
      </p:sp>
      <p:sp>
        <p:nvSpPr>
          <p:cNvPr id="13" name="Text 11"/>
          <p:cNvSpPr/>
          <p:nvPr/>
        </p:nvSpPr>
        <p:spPr>
          <a:xfrm>
            <a:off x="1181100" y="7859092"/>
            <a:ext cx="2894171" cy="251445"/>
          </a:xfrm>
          <a:prstGeom prst="rect">
            <a:avLst/>
          </a:prstGeom>
          <a:noFill/>
          <a:ln/>
        </p:spPr>
        <p:txBody>
          <a:bodyPr wrap="square" lIns="25400" tIns="25400" rIns="25400" bIns="25400" rtlCol="0" anchor="t">
            <a:normAutofit fontScale="85000" lnSpcReduction="10000"/>
          </a:bodyPr>
          <a:lstStyle/>
          <a:p>
            <a:pPr marL="0" indent="0" algn="l">
              <a:lnSpc>
                <a:spcPct val="140000"/>
              </a:lnSpc>
              <a:buNone/>
            </a:pPr>
            <a:r>
              <a:rPr lang="en-US" sz="1200" kern="0" spc="6" dirty="0">
                <a:solidFill>
                  <a:srgbClr val="8A8170"/>
                </a:solidFill>
                <a:latin typeface="Arial" pitchFamily="34" charset="0"/>
                <a:ea typeface="Arial" pitchFamily="34" charset="-122"/>
                <a:cs typeface="Arial" pitchFamily="34" charset="-120"/>
              </a:rPr>
              <a:t>La primera universidad budista del hemisferio sur.</a:t>
            </a:r>
            <a:endParaRPr lang="en-US" sz="1200" dirty="0"/>
          </a:p>
        </p:txBody>
      </p:sp>
      <p:sp>
        <p:nvSpPr>
          <p:cNvPr id="14" name="Shape 12"/>
          <p:cNvSpPr/>
          <p:nvPr/>
        </p:nvSpPr>
        <p:spPr>
          <a:xfrm>
            <a:off x="4229100" y="3950494"/>
            <a:ext cx="3276600" cy="4426744"/>
          </a:xfrm>
          <a:prstGeom prst="rect">
            <a:avLst/>
          </a:prstGeom>
          <a:solidFill>
            <a:srgbClr val="F1ECE0"/>
          </a:solidFill>
          <a:ln/>
        </p:spPr>
        <p:txBody>
          <a:bodyPr/>
          <a:lstStyle/>
          <a:p>
            <a:endParaRPr lang="en-AR"/>
          </a:p>
        </p:txBody>
      </p:sp>
      <p:sp>
        <p:nvSpPr>
          <p:cNvPr id="15" name="Shape 13"/>
          <p:cNvSpPr/>
          <p:nvPr/>
        </p:nvSpPr>
        <p:spPr>
          <a:xfrm>
            <a:off x="7496175" y="3950494"/>
            <a:ext cx="9525" cy="4426744"/>
          </a:xfrm>
          <a:prstGeom prst="rect">
            <a:avLst/>
          </a:prstGeom>
          <a:solidFill>
            <a:srgbClr val="D9D2C0"/>
          </a:solidFill>
          <a:ln/>
        </p:spPr>
        <p:txBody>
          <a:bodyPr/>
          <a:lstStyle/>
          <a:p>
            <a:endParaRPr lang="en-AR"/>
          </a:p>
        </p:txBody>
      </p:sp>
      <p:sp>
        <p:nvSpPr>
          <p:cNvPr id="16" name="Text 14"/>
          <p:cNvSpPr/>
          <p:nvPr/>
        </p:nvSpPr>
        <p:spPr>
          <a:xfrm>
            <a:off x="4457700" y="4255294"/>
            <a:ext cx="2894171" cy="166688"/>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162" dirty="0">
                <a:solidFill>
                  <a:srgbClr val="8A6420"/>
                </a:solidFill>
                <a:latin typeface="Courier New" pitchFamily="34" charset="0"/>
                <a:ea typeface="Courier New" pitchFamily="34" charset="-122"/>
                <a:cs typeface="Courier New" pitchFamily="34" charset="-120"/>
              </a:rPr>
              <a:t>MOTOR · 02</a:t>
            </a:r>
            <a:endParaRPr lang="en-US" sz="900" dirty="0"/>
          </a:p>
        </p:txBody>
      </p:sp>
      <p:sp>
        <p:nvSpPr>
          <p:cNvPr id="17" name="Text 15"/>
          <p:cNvSpPr/>
          <p:nvPr/>
        </p:nvSpPr>
        <p:spPr>
          <a:xfrm>
            <a:off x="4457700" y="4536281"/>
            <a:ext cx="2894171" cy="34476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dirty="0">
                <a:solidFill>
                  <a:srgbClr val="14110D"/>
                </a:solidFill>
                <a:latin typeface="Georgia" pitchFamily="34" charset="0"/>
                <a:ea typeface="Georgia" pitchFamily="34" charset="-122"/>
                <a:cs typeface="Georgia" pitchFamily="34" charset="-120"/>
              </a:rPr>
              <a:t>Kalachakra Lab</a:t>
            </a:r>
            <a:endParaRPr lang="en-US" sz="2100" dirty="0"/>
          </a:p>
        </p:txBody>
      </p:sp>
      <p:sp>
        <p:nvSpPr>
          <p:cNvPr id="18" name="Text 16"/>
          <p:cNvSpPr/>
          <p:nvPr/>
        </p:nvSpPr>
        <p:spPr>
          <a:xfrm>
            <a:off x="4457700" y="7852917"/>
            <a:ext cx="2894171" cy="46479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200" kern="0" spc="6" dirty="0">
                <a:solidFill>
                  <a:srgbClr val="8A8170"/>
                </a:solidFill>
                <a:latin typeface="Arial" pitchFamily="34" charset="0"/>
                <a:ea typeface="Arial" pitchFamily="34" charset="-122"/>
                <a:cs typeface="Arial" pitchFamily="34" charset="-120"/>
              </a:rPr>
              <a:t>AI contemplativa, residencias técnicas, capital cripto/IA.</a:t>
            </a:r>
            <a:endParaRPr lang="en-US" sz="1200" dirty="0"/>
          </a:p>
        </p:txBody>
      </p:sp>
      <p:sp>
        <p:nvSpPr>
          <p:cNvPr id="19" name="Shape 17"/>
          <p:cNvSpPr/>
          <p:nvPr/>
        </p:nvSpPr>
        <p:spPr>
          <a:xfrm>
            <a:off x="7505700" y="3950494"/>
            <a:ext cx="3276600" cy="4426744"/>
          </a:xfrm>
          <a:prstGeom prst="rect">
            <a:avLst/>
          </a:prstGeom>
          <a:solidFill>
            <a:srgbClr val="F1ECE0"/>
          </a:solidFill>
          <a:ln/>
        </p:spPr>
        <p:txBody>
          <a:bodyPr/>
          <a:lstStyle/>
          <a:p>
            <a:endParaRPr lang="en-AR"/>
          </a:p>
        </p:txBody>
      </p:sp>
      <p:sp>
        <p:nvSpPr>
          <p:cNvPr id="20" name="Shape 18"/>
          <p:cNvSpPr/>
          <p:nvPr/>
        </p:nvSpPr>
        <p:spPr>
          <a:xfrm>
            <a:off x="10772775" y="3950494"/>
            <a:ext cx="9525" cy="4426744"/>
          </a:xfrm>
          <a:prstGeom prst="rect">
            <a:avLst/>
          </a:prstGeom>
          <a:solidFill>
            <a:srgbClr val="D9D2C0"/>
          </a:solidFill>
          <a:ln/>
        </p:spPr>
        <p:txBody>
          <a:bodyPr/>
          <a:lstStyle/>
          <a:p>
            <a:endParaRPr lang="en-AR"/>
          </a:p>
        </p:txBody>
      </p:sp>
      <p:sp>
        <p:nvSpPr>
          <p:cNvPr id="21" name="Text 19"/>
          <p:cNvSpPr/>
          <p:nvPr/>
        </p:nvSpPr>
        <p:spPr>
          <a:xfrm>
            <a:off x="7734300" y="4255294"/>
            <a:ext cx="2894171" cy="166688"/>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162" dirty="0">
                <a:solidFill>
                  <a:srgbClr val="8A6420"/>
                </a:solidFill>
                <a:latin typeface="Courier New" pitchFamily="34" charset="0"/>
                <a:ea typeface="Courier New" pitchFamily="34" charset="-122"/>
                <a:cs typeface="Courier New" pitchFamily="34" charset="-120"/>
              </a:rPr>
              <a:t>MOTOR · 03</a:t>
            </a:r>
            <a:endParaRPr lang="en-US" sz="900" dirty="0"/>
          </a:p>
        </p:txBody>
      </p:sp>
      <p:sp>
        <p:nvSpPr>
          <p:cNvPr id="22" name="Text 20"/>
          <p:cNvSpPr/>
          <p:nvPr/>
        </p:nvSpPr>
        <p:spPr>
          <a:xfrm>
            <a:off x="7734300" y="4536281"/>
            <a:ext cx="2894171" cy="651421"/>
          </a:xfrm>
          <a:prstGeom prst="rect">
            <a:avLst/>
          </a:prstGeom>
          <a:noFill/>
          <a:ln/>
        </p:spPr>
        <p:txBody>
          <a:bodyPr wrap="square" lIns="25400" tIns="25400" rIns="25400" bIns="25400" rtlCol="0" anchor="t">
            <a:normAutofit/>
          </a:bodyPr>
          <a:lstStyle/>
          <a:p>
            <a:pPr marL="0" indent="0" algn="l">
              <a:lnSpc>
                <a:spcPct val="115000"/>
              </a:lnSpc>
              <a:buNone/>
            </a:pPr>
            <a:r>
              <a:rPr lang="en-US" sz="2100" dirty="0">
                <a:solidFill>
                  <a:srgbClr val="14110D"/>
                </a:solidFill>
                <a:latin typeface="Georgia" pitchFamily="34" charset="0"/>
                <a:ea typeface="Georgia" pitchFamily="34" charset="-122"/>
                <a:cs typeface="Georgia" pitchFamily="34" charset="-120"/>
              </a:rPr>
              <a:t>Centros de Retiro</a:t>
            </a:r>
            <a:endParaRPr lang="en-US" sz="2100" dirty="0"/>
          </a:p>
        </p:txBody>
      </p:sp>
      <p:sp>
        <p:nvSpPr>
          <p:cNvPr id="23" name="Text 21"/>
          <p:cNvSpPr/>
          <p:nvPr/>
        </p:nvSpPr>
        <p:spPr>
          <a:xfrm>
            <a:off x="7734300" y="7859092"/>
            <a:ext cx="2894171" cy="251445"/>
          </a:xfrm>
          <a:prstGeom prst="rect">
            <a:avLst/>
          </a:prstGeom>
          <a:noFill/>
          <a:ln/>
        </p:spPr>
        <p:txBody>
          <a:bodyPr wrap="square" lIns="25400" tIns="25400" rIns="25400" bIns="25400" rtlCol="0" anchor="t">
            <a:normAutofit fontScale="70000" lnSpcReduction="20000"/>
          </a:bodyPr>
          <a:lstStyle/>
          <a:p>
            <a:pPr marL="0" indent="0" algn="l">
              <a:lnSpc>
                <a:spcPct val="140000"/>
              </a:lnSpc>
              <a:buNone/>
            </a:pPr>
            <a:r>
              <a:rPr lang="en-US" sz="1200" kern="0" spc="6" dirty="0">
                <a:solidFill>
                  <a:srgbClr val="8A8170"/>
                </a:solidFill>
                <a:latin typeface="Arial" pitchFamily="34" charset="0"/>
                <a:ea typeface="Arial" pitchFamily="34" charset="-122"/>
                <a:cs typeface="Arial" pitchFamily="34" charset="-120"/>
              </a:rPr>
              <a:t>Hermitages, centros medianos y mayor. Flujo recurrente.</a:t>
            </a:r>
            <a:endParaRPr lang="en-US" sz="1200" dirty="0"/>
          </a:p>
        </p:txBody>
      </p:sp>
      <p:sp>
        <p:nvSpPr>
          <p:cNvPr id="24" name="Shape 22"/>
          <p:cNvSpPr/>
          <p:nvPr/>
        </p:nvSpPr>
        <p:spPr>
          <a:xfrm>
            <a:off x="10782300" y="3950494"/>
            <a:ext cx="3276600" cy="4426744"/>
          </a:xfrm>
          <a:prstGeom prst="rect">
            <a:avLst/>
          </a:prstGeom>
          <a:solidFill>
            <a:srgbClr val="F1ECE0"/>
          </a:solidFill>
          <a:ln/>
        </p:spPr>
        <p:txBody>
          <a:bodyPr/>
          <a:lstStyle/>
          <a:p>
            <a:endParaRPr lang="en-AR"/>
          </a:p>
        </p:txBody>
      </p:sp>
      <p:sp>
        <p:nvSpPr>
          <p:cNvPr id="25" name="Shape 23"/>
          <p:cNvSpPr/>
          <p:nvPr/>
        </p:nvSpPr>
        <p:spPr>
          <a:xfrm>
            <a:off x="14049375" y="3950494"/>
            <a:ext cx="9525" cy="4426744"/>
          </a:xfrm>
          <a:prstGeom prst="rect">
            <a:avLst/>
          </a:prstGeom>
          <a:solidFill>
            <a:srgbClr val="D9D2C0"/>
          </a:solidFill>
          <a:ln/>
        </p:spPr>
        <p:txBody>
          <a:bodyPr/>
          <a:lstStyle/>
          <a:p>
            <a:endParaRPr lang="en-AR"/>
          </a:p>
        </p:txBody>
      </p:sp>
      <p:sp>
        <p:nvSpPr>
          <p:cNvPr id="26" name="Text 24"/>
          <p:cNvSpPr/>
          <p:nvPr/>
        </p:nvSpPr>
        <p:spPr>
          <a:xfrm>
            <a:off x="11010900" y="4255294"/>
            <a:ext cx="2894171" cy="166688"/>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162" dirty="0">
                <a:solidFill>
                  <a:srgbClr val="8A6420"/>
                </a:solidFill>
                <a:latin typeface="Courier New" pitchFamily="34" charset="0"/>
                <a:ea typeface="Courier New" pitchFamily="34" charset="-122"/>
                <a:cs typeface="Courier New" pitchFamily="34" charset="-120"/>
              </a:rPr>
              <a:t>MOTOR · 04</a:t>
            </a:r>
            <a:endParaRPr lang="en-US" sz="900" dirty="0"/>
          </a:p>
        </p:txBody>
      </p:sp>
      <p:sp>
        <p:nvSpPr>
          <p:cNvPr id="27" name="Text 25"/>
          <p:cNvSpPr/>
          <p:nvPr/>
        </p:nvSpPr>
        <p:spPr>
          <a:xfrm>
            <a:off x="11010900" y="4536281"/>
            <a:ext cx="2894171" cy="651421"/>
          </a:xfrm>
          <a:prstGeom prst="rect">
            <a:avLst/>
          </a:prstGeom>
          <a:noFill/>
          <a:ln/>
        </p:spPr>
        <p:txBody>
          <a:bodyPr wrap="square" lIns="25400" tIns="25400" rIns="25400" bIns="25400" rtlCol="0" anchor="t">
            <a:normAutofit fontScale="92500"/>
          </a:bodyPr>
          <a:lstStyle/>
          <a:p>
            <a:pPr marL="0" indent="0" algn="l">
              <a:lnSpc>
                <a:spcPct val="115000"/>
              </a:lnSpc>
              <a:buNone/>
            </a:pPr>
            <a:r>
              <a:rPr lang="en-US" sz="2100" dirty="0">
                <a:solidFill>
                  <a:srgbClr val="14110D"/>
                </a:solidFill>
                <a:latin typeface="Georgia" pitchFamily="34" charset="0"/>
                <a:ea typeface="Georgia" pitchFamily="34" charset="-122"/>
                <a:cs typeface="Georgia" pitchFamily="34" charset="-120"/>
              </a:rPr>
              <a:t>Industria de Merchandise</a:t>
            </a:r>
            <a:endParaRPr lang="en-US" sz="2100" dirty="0"/>
          </a:p>
        </p:txBody>
      </p:sp>
      <p:sp>
        <p:nvSpPr>
          <p:cNvPr id="28" name="Text 26"/>
          <p:cNvSpPr/>
          <p:nvPr/>
        </p:nvSpPr>
        <p:spPr>
          <a:xfrm>
            <a:off x="11010900" y="7859092"/>
            <a:ext cx="2894171" cy="251445"/>
          </a:xfrm>
          <a:prstGeom prst="rect">
            <a:avLst/>
          </a:prstGeom>
          <a:noFill/>
          <a:ln/>
        </p:spPr>
        <p:txBody>
          <a:bodyPr wrap="square" lIns="25400" tIns="25400" rIns="25400" bIns="25400" rtlCol="0" anchor="t">
            <a:normAutofit fontScale="70000" lnSpcReduction="20000"/>
          </a:bodyPr>
          <a:lstStyle/>
          <a:p>
            <a:pPr marL="0" indent="0" algn="l">
              <a:lnSpc>
                <a:spcPct val="140000"/>
              </a:lnSpc>
              <a:buNone/>
            </a:pPr>
            <a:r>
              <a:rPr lang="en-US" sz="1200" kern="0" spc="6" dirty="0">
                <a:solidFill>
                  <a:srgbClr val="8A8170"/>
                </a:solidFill>
                <a:latin typeface="Arial" pitchFamily="34" charset="0"/>
                <a:ea typeface="Arial" pitchFamily="34" charset="-122"/>
                <a:cs typeface="Arial" pitchFamily="34" charset="-120"/>
              </a:rPr>
              <a:t>Producción y exportación a las Américas. Empleo calificado.</a:t>
            </a:r>
            <a:endParaRPr lang="en-US" sz="1200" dirty="0"/>
          </a:p>
        </p:txBody>
      </p:sp>
      <p:sp>
        <p:nvSpPr>
          <p:cNvPr id="29" name="Shape 27"/>
          <p:cNvSpPr/>
          <p:nvPr/>
        </p:nvSpPr>
        <p:spPr>
          <a:xfrm>
            <a:off x="14058900" y="3950494"/>
            <a:ext cx="3276600" cy="4426744"/>
          </a:xfrm>
          <a:prstGeom prst="rect">
            <a:avLst/>
          </a:prstGeom>
          <a:solidFill>
            <a:srgbClr val="F1ECE0"/>
          </a:solidFill>
          <a:ln/>
        </p:spPr>
        <p:txBody>
          <a:bodyPr/>
          <a:lstStyle/>
          <a:p>
            <a:endParaRPr lang="en-AR"/>
          </a:p>
        </p:txBody>
      </p:sp>
      <p:sp>
        <p:nvSpPr>
          <p:cNvPr id="30" name="Text 28"/>
          <p:cNvSpPr/>
          <p:nvPr/>
        </p:nvSpPr>
        <p:spPr>
          <a:xfrm>
            <a:off x="14287500" y="4255294"/>
            <a:ext cx="2903982" cy="166688"/>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162" dirty="0">
                <a:solidFill>
                  <a:srgbClr val="8A6420"/>
                </a:solidFill>
                <a:latin typeface="Courier New" pitchFamily="34" charset="0"/>
                <a:ea typeface="Courier New" pitchFamily="34" charset="-122"/>
                <a:cs typeface="Courier New" pitchFamily="34" charset="-120"/>
              </a:rPr>
              <a:t>MOTOR · 05</a:t>
            </a:r>
            <a:endParaRPr lang="en-US" sz="900" dirty="0"/>
          </a:p>
        </p:txBody>
      </p:sp>
      <p:sp>
        <p:nvSpPr>
          <p:cNvPr id="31" name="Text 29"/>
          <p:cNvSpPr/>
          <p:nvPr/>
        </p:nvSpPr>
        <p:spPr>
          <a:xfrm>
            <a:off x="14287500" y="4536281"/>
            <a:ext cx="2903982" cy="34476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dirty="0">
                <a:solidFill>
                  <a:srgbClr val="14110D"/>
                </a:solidFill>
                <a:latin typeface="Georgia" pitchFamily="34" charset="0"/>
                <a:ea typeface="Georgia" pitchFamily="34" charset="-122"/>
                <a:cs typeface="Georgia" pitchFamily="34" charset="-120"/>
              </a:rPr>
              <a:t>Coalición Patagónica</a:t>
            </a:r>
            <a:endParaRPr lang="en-US" sz="2100" dirty="0"/>
          </a:p>
        </p:txBody>
      </p:sp>
      <p:sp>
        <p:nvSpPr>
          <p:cNvPr id="32" name="Text 30"/>
          <p:cNvSpPr/>
          <p:nvPr/>
        </p:nvSpPr>
        <p:spPr>
          <a:xfrm>
            <a:off x="14287500" y="7859092"/>
            <a:ext cx="2903982" cy="251445"/>
          </a:xfrm>
          <a:prstGeom prst="rect">
            <a:avLst/>
          </a:prstGeom>
          <a:noFill/>
          <a:ln/>
        </p:spPr>
        <p:txBody>
          <a:bodyPr wrap="square" lIns="25400" tIns="25400" rIns="25400" bIns="25400" rtlCol="0" anchor="t">
            <a:normAutofit fontScale="70000" lnSpcReduction="20000"/>
          </a:bodyPr>
          <a:lstStyle/>
          <a:p>
            <a:pPr marL="0" indent="0" algn="l">
              <a:lnSpc>
                <a:spcPct val="140000"/>
              </a:lnSpc>
              <a:buNone/>
            </a:pPr>
            <a:r>
              <a:rPr lang="en-US" sz="1200" kern="0" spc="6" dirty="0">
                <a:solidFill>
                  <a:srgbClr val="8A8170"/>
                </a:solidFill>
                <a:latin typeface="Arial" pitchFamily="34" charset="0"/>
                <a:ea typeface="Arial" pitchFamily="34" charset="-122"/>
                <a:cs typeface="Arial" pitchFamily="34" charset="-120"/>
              </a:rPr>
              <a:t>El polo como vidriera de las marcas premium argentinas.</a:t>
            </a:r>
            <a:endParaRPr lang="en-US" sz="1200" dirty="0"/>
          </a:p>
        </p:txBody>
      </p:sp>
      <p:sp>
        <p:nvSpPr>
          <p:cNvPr id="33" name="Text 31"/>
          <p:cNvSpPr/>
          <p:nvPr/>
        </p:nvSpPr>
        <p:spPr>
          <a:xfrm>
            <a:off x="952500" y="8691563"/>
            <a:ext cx="3983165"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EL CIRCUITO ESPIRITUAL ARTICULA TODO</a:t>
            </a:r>
            <a:endParaRPr lang="en-US" sz="975" dirty="0"/>
          </a:p>
        </p:txBody>
      </p:sp>
      <p:sp>
        <p:nvSpPr>
          <p:cNvPr id="34" name="Text 32"/>
          <p:cNvSpPr/>
          <p:nvPr/>
        </p:nvSpPr>
        <p:spPr>
          <a:xfrm>
            <a:off x="952500" y="8896350"/>
            <a:ext cx="3983165"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3A342A"/>
                </a:solidFill>
                <a:latin typeface="Georgia" pitchFamily="34" charset="0"/>
                <a:ea typeface="Georgia" pitchFamily="34" charset="-122"/>
                <a:cs typeface="Georgia" pitchFamily="34" charset="-120"/>
              </a:rPr>
              <a:t>Templos atraen el flujo</a:t>
            </a:r>
            <a:endParaRPr lang="en-US" sz="1650" dirty="0"/>
          </a:p>
        </p:txBody>
      </p:sp>
      <p:sp>
        <p:nvSpPr>
          <p:cNvPr id="35" name="Text 33"/>
          <p:cNvSpPr/>
          <p:nvPr/>
        </p:nvSpPr>
        <p:spPr>
          <a:xfrm>
            <a:off x="5124450" y="8896350"/>
            <a:ext cx="3983165"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3A342A"/>
                </a:solidFill>
                <a:latin typeface="Georgia" pitchFamily="34" charset="0"/>
                <a:ea typeface="Georgia" pitchFamily="34" charset="-122"/>
                <a:cs typeface="Georgia" pitchFamily="34" charset="-120"/>
              </a:rPr>
              <a:t>Centro y Lab dan profundidad</a:t>
            </a:r>
            <a:endParaRPr lang="en-US" sz="1650" dirty="0"/>
          </a:p>
        </p:txBody>
      </p:sp>
      <p:sp>
        <p:nvSpPr>
          <p:cNvPr id="36" name="Text 34"/>
          <p:cNvSpPr/>
          <p:nvPr/>
        </p:nvSpPr>
        <p:spPr>
          <a:xfrm>
            <a:off x="9296400" y="8896350"/>
            <a:ext cx="3983165"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3A342A"/>
                </a:solidFill>
                <a:latin typeface="Georgia" pitchFamily="34" charset="0"/>
                <a:ea typeface="Georgia" pitchFamily="34" charset="-122"/>
                <a:cs typeface="Georgia" pitchFamily="34" charset="-120"/>
              </a:rPr>
              <a:t>Retiros sostienen la operación</a:t>
            </a:r>
            <a:endParaRPr lang="en-US" sz="1650" dirty="0"/>
          </a:p>
        </p:txBody>
      </p:sp>
      <p:sp>
        <p:nvSpPr>
          <p:cNvPr id="37" name="Text 35"/>
          <p:cNvSpPr/>
          <p:nvPr/>
        </p:nvSpPr>
        <p:spPr>
          <a:xfrm>
            <a:off x="13468350" y="8896350"/>
            <a:ext cx="3983165"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3A342A"/>
                </a:solidFill>
                <a:latin typeface="Georgia" pitchFamily="34" charset="0"/>
                <a:ea typeface="Georgia" pitchFamily="34" charset="-122"/>
                <a:cs typeface="Georgia" pitchFamily="34" charset="-120"/>
              </a:rPr>
              <a:t>Merch y Coalición exportan valor</a:t>
            </a:r>
            <a:endParaRPr lang="en-US" sz="1650" dirty="0"/>
          </a:p>
        </p:txBody>
      </p:sp>
      <p:sp>
        <p:nvSpPr>
          <p:cNvPr id="38" name="Shape 36"/>
          <p:cNvSpPr/>
          <p:nvPr/>
        </p:nvSpPr>
        <p:spPr>
          <a:xfrm>
            <a:off x="952500" y="9134475"/>
            <a:ext cx="16383000" cy="9525"/>
          </a:xfrm>
          <a:prstGeom prst="rect">
            <a:avLst/>
          </a:prstGeom>
          <a:solidFill>
            <a:srgbClr val="D9D2C0"/>
          </a:solidFill>
          <a:ln/>
        </p:spPr>
        <p:txBody>
          <a:bodyPr/>
          <a:lstStyle/>
          <a:p>
            <a:endParaRPr lang="en-AR"/>
          </a:p>
        </p:txBody>
      </p:sp>
      <p:sp>
        <p:nvSpPr>
          <p:cNvPr id="39" name="Text 37"/>
          <p:cNvSpPr/>
          <p:nvPr/>
        </p:nvSpPr>
        <p:spPr>
          <a:xfrm>
            <a:off x="952500" y="9372600"/>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40" name="Text 38"/>
          <p:cNvSpPr/>
          <p:nvPr/>
        </p:nvSpPr>
        <p:spPr>
          <a:xfrm>
            <a:off x="16796965" y="93726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17 / 40 </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1ECE0"/>
        </a:solidFill>
        <a:effectLst/>
      </p:bgPr>
    </p:bg>
    <p:spTree>
      <p:nvGrpSpPr>
        <p:cNvPr id="1" name=""/>
        <p:cNvGrpSpPr/>
        <p:nvPr/>
      </p:nvGrpSpPr>
      <p:grpSpPr>
        <a:xfrm>
          <a:off x="0" y="0"/>
          <a:ext cx="0" cy="0"/>
          <a:chOff x="0" y="0"/>
          <a:chExt cx="0" cy="0"/>
        </a:xfrm>
      </p:grpSpPr>
      <p:sp>
        <p:nvSpPr>
          <p:cNvPr id="2" name="Shape 0"/>
          <p:cNvSpPr/>
          <p:nvPr/>
        </p:nvSpPr>
        <p:spPr>
          <a:xfrm>
            <a:off x="952500" y="1457325"/>
            <a:ext cx="16383000" cy="9525"/>
          </a:xfrm>
          <a:prstGeom prst="rect">
            <a:avLst/>
          </a:prstGeom>
          <a:solidFill>
            <a:srgbClr val="D9D2C0"/>
          </a:solidFill>
          <a:ln/>
        </p:spPr>
        <p:txBody>
          <a:bodyPr/>
          <a:lstStyle/>
          <a:p>
            <a:endParaRPr lang="en-AR"/>
          </a:p>
        </p:txBody>
      </p:sp>
      <p:sp>
        <p:nvSpPr>
          <p:cNvPr id="3" name="Shape 1"/>
          <p:cNvSpPr/>
          <p:nvPr/>
        </p:nvSpPr>
        <p:spPr>
          <a:xfrm>
            <a:off x="952500" y="9525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9786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6248534" y="995363"/>
            <a:ext cx="1163166"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CAPÍTULO 04</a:t>
            </a:r>
            <a:endParaRPr lang="en-US" sz="1050" dirty="0"/>
          </a:p>
        </p:txBody>
      </p:sp>
      <p:sp>
        <p:nvSpPr>
          <p:cNvPr id="6" name="Text 4"/>
          <p:cNvSpPr/>
          <p:nvPr/>
        </p:nvSpPr>
        <p:spPr>
          <a:xfrm>
            <a:off x="952500" y="3648596"/>
            <a:ext cx="8829675" cy="233362"/>
          </a:xfrm>
          <a:prstGeom prst="rect">
            <a:avLst/>
          </a:prstGeom>
          <a:noFill/>
          <a:ln/>
        </p:spPr>
        <p:txBody>
          <a:bodyPr wrap="square" lIns="25400" tIns="25400" rIns="25400" bIns="25400" rtlCol="0" anchor="t">
            <a:normAutofit lnSpcReduction="10000"/>
          </a:bodyPr>
          <a:lstStyle/>
          <a:p>
            <a:pPr marL="0" indent="0" algn="l">
              <a:buNone/>
            </a:pPr>
            <a:r>
              <a:rPr lang="en-US" sz="1275" b="1" kern="0" spc="255" dirty="0">
                <a:solidFill>
                  <a:srgbClr val="8A6420"/>
                </a:solidFill>
                <a:latin typeface="Arial" pitchFamily="34" charset="0"/>
                <a:ea typeface="Arial" pitchFamily="34" charset="-122"/>
                <a:cs typeface="Arial" pitchFamily="34" charset="-120"/>
              </a:rPr>
              <a:t>— 04</a:t>
            </a:r>
            <a:endParaRPr lang="en-US" sz="1275" dirty="0"/>
          </a:p>
        </p:txBody>
      </p:sp>
      <p:sp>
        <p:nvSpPr>
          <p:cNvPr id="7" name="Text 5"/>
          <p:cNvSpPr/>
          <p:nvPr/>
        </p:nvSpPr>
        <p:spPr>
          <a:xfrm>
            <a:off x="952500" y="4110558"/>
            <a:ext cx="8829675" cy="1424880"/>
          </a:xfrm>
          <a:prstGeom prst="rect">
            <a:avLst/>
          </a:prstGeom>
          <a:noFill/>
          <a:ln/>
        </p:spPr>
        <p:txBody>
          <a:bodyPr wrap="square" lIns="25400" tIns="25400" rIns="25400" bIns="25400" rtlCol="0" anchor="t">
            <a:normAutofit fontScale="77500" lnSpcReduction="20000"/>
          </a:bodyPr>
          <a:lstStyle/>
          <a:p>
            <a:pPr marL="0" indent="0" algn="l">
              <a:lnSpc>
                <a:spcPct val="104000"/>
              </a:lnSpc>
              <a:buNone/>
            </a:pPr>
            <a:r>
              <a:rPr lang="en-US" sz="10500" kern="0" spc="-189" dirty="0">
                <a:solidFill>
                  <a:srgbClr val="14110D"/>
                </a:solidFill>
                <a:latin typeface="Georgia" pitchFamily="34" charset="0"/>
                <a:ea typeface="Georgia" pitchFamily="34" charset="-122"/>
                <a:cs typeface="Georgia" pitchFamily="34" charset="-120"/>
              </a:rPr>
              <a:t>Los Cinco Motores</a:t>
            </a:r>
            <a:endParaRPr lang="en-US" sz="10500" dirty="0"/>
          </a:p>
        </p:txBody>
      </p:sp>
      <p:sp>
        <p:nvSpPr>
          <p:cNvPr id="8" name="Text 6"/>
          <p:cNvSpPr/>
          <p:nvPr/>
        </p:nvSpPr>
        <p:spPr>
          <a:xfrm>
            <a:off x="952500" y="5878339"/>
            <a:ext cx="8829675" cy="92199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400" dirty="0">
                <a:solidFill>
                  <a:srgbClr val="3A342A"/>
                </a:solidFill>
                <a:latin typeface="Georgia" pitchFamily="34" charset="0"/>
                <a:ea typeface="Georgia" pitchFamily="34" charset="-122"/>
                <a:cs typeface="Georgia" pitchFamily="34" charset="-120"/>
              </a:rPr>
              <a:t>Cinco líneas independientes y complementarias que multiplican el impacto del polo. Ninguna implica caja para el municipio.</a:t>
            </a:r>
            <a:endParaRPr lang="en-US" sz="2400" dirty="0"/>
          </a:p>
        </p:txBody>
      </p:sp>
      <p:sp>
        <p:nvSpPr>
          <p:cNvPr id="9" name="Shape 7"/>
          <p:cNvSpPr/>
          <p:nvPr/>
        </p:nvSpPr>
        <p:spPr>
          <a:xfrm>
            <a:off x="952500" y="8943975"/>
            <a:ext cx="16383000" cy="9525"/>
          </a:xfrm>
          <a:prstGeom prst="rect">
            <a:avLst/>
          </a:prstGeom>
          <a:solidFill>
            <a:srgbClr val="D9D2C0"/>
          </a:solidFill>
          <a:ln/>
        </p:spPr>
        <p:txBody>
          <a:bodyPr/>
          <a:lstStyle/>
          <a:p>
            <a:endParaRPr lang="en-AR"/>
          </a:p>
        </p:txBody>
      </p:sp>
      <p:sp>
        <p:nvSpPr>
          <p:cNvPr id="10" name="Text 8"/>
          <p:cNvSpPr/>
          <p:nvPr/>
        </p:nvSpPr>
        <p:spPr>
          <a:xfrm>
            <a:off x="952500" y="9182100"/>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11" name="Text 9"/>
          <p:cNvSpPr/>
          <p:nvPr/>
        </p:nvSpPr>
        <p:spPr>
          <a:xfrm>
            <a:off x="16796965" y="91821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18 / 40 </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7">
    <p:bg>
      <p:bgPr>
        <a:solidFill>
          <a:srgbClr val="FAF8F3"/>
        </a:solidFill>
        <a:effectLst/>
      </p:bgPr>
    </p:bg>
    <p:spTree>
      <p:nvGrpSpPr>
        <p:cNvPr id="1" name=""/>
        <p:cNvGrpSpPr/>
        <p:nvPr/>
      </p:nvGrpSpPr>
      <p:grpSpPr>
        <a:xfrm>
          <a:off x="0" y="0"/>
          <a:ext cx="0" cy="0"/>
          <a:chOff x="0" y="0"/>
          <a:chExt cx="0" cy="0"/>
        </a:xfrm>
      </p:grpSpPr>
      <p:sp>
        <p:nvSpPr>
          <p:cNvPr id="2" name="Shape 0"/>
          <p:cNvSpPr/>
          <p:nvPr/>
        </p:nvSpPr>
        <p:spPr>
          <a:xfrm>
            <a:off x="857250" y="1266825"/>
            <a:ext cx="7864897" cy="9525"/>
          </a:xfrm>
          <a:prstGeom prst="rect">
            <a:avLst/>
          </a:prstGeom>
          <a:solidFill>
            <a:srgbClr val="D9D2C0"/>
          </a:solidFill>
          <a:ln/>
        </p:spPr>
        <p:txBody>
          <a:bodyPr/>
          <a:lstStyle/>
          <a:p>
            <a:endParaRPr lang="en-AR"/>
          </a:p>
        </p:txBody>
      </p:sp>
      <p:sp>
        <p:nvSpPr>
          <p:cNvPr id="3" name="Shape 1"/>
          <p:cNvSpPr/>
          <p:nvPr/>
        </p:nvSpPr>
        <p:spPr>
          <a:xfrm>
            <a:off x="85725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228725" y="788194"/>
            <a:ext cx="2128093"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CAP 04 · MOTOR 01</a:t>
            </a:r>
            <a:endParaRPr lang="en-US" sz="1200" dirty="0"/>
          </a:p>
        </p:txBody>
      </p:sp>
      <p:sp>
        <p:nvSpPr>
          <p:cNvPr id="5" name="Text 3"/>
          <p:cNvSpPr/>
          <p:nvPr/>
        </p:nvSpPr>
        <p:spPr>
          <a:xfrm>
            <a:off x="7119565" y="804863"/>
            <a:ext cx="1678781" cy="190500"/>
          </a:xfrm>
          <a:prstGeom prst="rect">
            <a:avLst/>
          </a:prstGeom>
          <a:noFill/>
          <a:ln/>
        </p:spPr>
        <p:txBody>
          <a:bodyPr wrap="square" lIns="25400" tIns="25400" rIns="25400" bIns="25400" rtlCol="0" anchor="t">
            <a:normAutofit fontScale="47500" lnSpcReduction="2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CENTRO DE ESTUDIOS BUDISTAS</a:t>
            </a:r>
            <a:endParaRPr lang="en-US" sz="1050" dirty="0"/>
          </a:p>
        </p:txBody>
      </p:sp>
      <p:sp>
        <p:nvSpPr>
          <p:cNvPr id="6" name="Text 4"/>
          <p:cNvSpPr/>
          <p:nvPr/>
        </p:nvSpPr>
        <p:spPr>
          <a:xfrm>
            <a:off x="857250" y="2948434"/>
            <a:ext cx="8100844"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LA PIEZA QUE LEGITIMA</a:t>
            </a:r>
            <a:endParaRPr lang="en-US" sz="1350" dirty="0"/>
          </a:p>
        </p:txBody>
      </p:sp>
      <p:sp>
        <p:nvSpPr>
          <p:cNvPr id="7" name="Text 5"/>
          <p:cNvSpPr/>
          <p:nvPr/>
        </p:nvSpPr>
        <p:spPr>
          <a:xfrm>
            <a:off x="857250" y="3424684"/>
            <a:ext cx="8100844" cy="2177653"/>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La primera universidad </a:t>
            </a:r>
            <a:r>
              <a:rPr lang="en-US" sz="5400" i="1" kern="0" spc="-97" dirty="0">
                <a:solidFill>
                  <a:srgbClr val="8A6420"/>
                </a:solidFill>
                <a:latin typeface="Georgia" pitchFamily="34" charset="0"/>
                <a:ea typeface="Georgia" pitchFamily="34" charset="-122"/>
                <a:cs typeface="Georgia" pitchFamily="34" charset="-120"/>
              </a:rPr>
              <a:t>budista del hemisferio sur </a:t>
            </a:r>
            <a:r>
              <a:rPr lang="en-US" sz="5400" kern="0" spc="-97" dirty="0">
                <a:solidFill>
                  <a:srgbClr val="14110D"/>
                </a:solidFill>
                <a:latin typeface="Georgia" pitchFamily="34" charset="0"/>
                <a:ea typeface="Georgia" pitchFamily="34" charset="-122"/>
                <a:cs typeface="Georgia" pitchFamily="34" charset="-120"/>
              </a:rPr>
              <a:t>.</a:t>
            </a:r>
            <a:endParaRPr lang="en-US" sz="5400" dirty="0"/>
          </a:p>
        </p:txBody>
      </p:sp>
      <p:sp>
        <p:nvSpPr>
          <p:cNvPr id="8" name="Text 6"/>
          <p:cNvSpPr/>
          <p:nvPr/>
        </p:nvSpPr>
        <p:spPr>
          <a:xfrm>
            <a:off x="857250" y="5907137"/>
            <a:ext cx="8100844" cy="1198066"/>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100" dirty="0">
                <a:solidFill>
                  <a:srgbClr val="3A342A"/>
                </a:solidFill>
                <a:latin typeface="Georgia" pitchFamily="34" charset="0"/>
                <a:ea typeface="Georgia" pitchFamily="34" charset="-122"/>
                <a:cs typeface="Georgia" pitchFamily="34" charset="-120"/>
              </a:rPr>
              <a:t>Una institución académica especializada que articula tres ejes: filosofía budista (lógica, epistemología, madhyamaka), tradiciones contemplativas vivas (Vajrayana, Zen, Theravada, Bön) y diálogo budismo-ciencias.</a:t>
            </a:r>
            <a:endParaRPr lang="en-US" sz="2100" dirty="0"/>
          </a:p>
        </p:txBody>
      </p:sp>
      <p:sp>
        <p:nvSpPr>
          <p:cNvPr id="9" name="Shape 7"/>
          <p:cNvSpPr/>
          <p:nvPr/>
        </p:nvSpPr>
        <p:spPr>
          <a:xfrm>
            <a:off x="857250" y="8453438"/>
            <a:ext cx="7864897" cy="9525"/>
          </a:xfrm>
          <a:prstGeom prst="rect">
            <a:avLst/>
          </a:prstGeom>
          <a:solidFill>
            <a:srgbClr val="D9D2C0"/>
          </a:solidFill>
          <a:ln/>
        </p:spPr>
        <p:txBody>
          <a:bodyPr/>
          <a:lstStyle/>
          <a:p>
            <a:endParaRPr lang="en-AR"/>
          </a:p>
        </p:txBody>
      </p:sp>
      <p:sp>
        <p:nvSpPr>
          <p:cNvPr id="10" name="Text 8"/>
          <p:cNvSpPr/>
          <p:nvPr/>
        </p:nvSpPr>
        <p:spPr>
          <a:xfrm>
            <a:off x="857250" y="8691563"/>
            <a:ext cx="1961331"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MODELO</a:t>
            </a:r>
            <a:endParaRPr lang="en-US" sz="975" dirty="0"/>
          </a:p>
        </p:txBody>
      </p:sp>
      <p:sp>
        <p:nvSpPr>
          <p:cNvPr id="11" name="Text 9"/>
          <p:cNvSpPr/>
          <p:nvPr/>
        </p:nvSpPr>
        <p:spPr>
          <a:xfrm>
            <a:off x="857250" y="8896350"/>
            <a:ext cx="1961331"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3A342A"/>
                </a:solidFill>
                <a:latin typeface="Georgia" pitchFamily="34" charset="0"/>
                <a:ea typeface="Georgia" pitchFamily="34" charset="-122"/>
                <a:cs typeface="Georgia" pitchFamily="34" charset="-120"/>
              </a:rPr>
              <a:t>Naropa + Rangjung</a:t>
            </a:r>
            <a:endParaRPr lang="en-US" sz="1650" dirty="0"/>
          </a:p>
        </p:txBody>
      </p:sp>
      <p:sp>
        <p:nvSpPr>
          <p:cNvPr id="12" name="Text 10"/>
          <p:cNvSpPr/>
          <p:nvPr/>
        </p:nvSpPr>
        <p:spPr>
          <a:xfrm>
            <a:off x="3199581" y="8691563"/>
            <a:ext cx="1234008"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IDIOMAS</a:t>
            </a:r>
            <a:endParaRPr lang="en-US" sz="975" dirty="0"/>
          </a:p>
        </p:txBody>
      </p:sp>
      <p:sp>
        <p:nvSpPr>
          <p:cNvPr id="13" name="Text 11"/>
          <p:cNvSpPr/>
          <p:nvPr/>
        </p:nvSpPr>
        <p:spPr>
          <a:xfrm>
            <a:off x="3199581" y="8896350"/>
            <a:ext cx="1234008"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3A342A"/>
                </a:solidFill>
                <a:latin typeface="Georgia" pitchFamily="34" charset="0"/>
                <a:ea typeface="Georgia" pitchFamily="34" charset="-122"/>
                <a:cs typeface="Georgia" pitchFamily="34" charset="-120"/>
              </a:rPr>
              <a:t>ES · EN · PT</a:t>
            </a:r>
            <a:endParaRPr lang="en-US" sz="1650" dirty="0"/>
          </a:p>
        </p:txBody>
      </p:sp>
      <p:sp>
        <p:nvSpPr>
          <p:cNvPr id="14" name="Text 12"/>
          <p:cNvSpPr/>
          <p:nvPr/>
        </p:nvSpPr>
        <p:spPr>
          <a:xfrm>
            <a:off x="4814590" y="8691563"/>
            <a:ext cx="1713309"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BASE EXISTENTE</a:t>
            </a:r>
            <a:endParaRPr lang="en-US" sz="975" dirty="0"/>
          </a:p>
        </p:txBody>
      </p:sp>
      <p:sp>
        <p:nvSpPr>
          <p:cNvPr id="15" name="Text 13"/>
          <p:cNvSpPr/>
          <p:nvPr/>
        </p:nvSpPr>
        <p:spPr>
          <a:xfrm>
            <a:off x="4814590" y="8896350"/>
            <a:ext cx="1713309"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3A342A"/>
                </a:solidFill>
                <a:latin typeface="Georgia" pitchFamily="34" charset="0"/>
                <a:ea typeface="Georgia" pitchFamily="34" charset="-122"/>
                <a:cs typeface="Georgia" pitchFamily="34" charset="-120"/>
              </a:rPr>
              <a:t>Revista Sonam</a:t>
            </a:r>
            <a:endParaRPr lang="en-US" sz="1650" dirty="0"/>
          </a:p>
        </p:txBody>
      </p:sp>
      <p:sp>
        <p:nvSpPr>
          <p:cNvPr id="16" name="Shape 14"/>
          <p:cNvSpPr/>
          <p:nvPr/>
        </p:nvSpPr>
        <p:spPr>
          <a:xfrm>
            <a:off x="857250" y="9134475"/>
            <a:ext cx="7864897" cy="9525"/>
          </a:xfrm>
          <a:prstGeom prst="rect">
            <a:avLst/>
          </a:prstGeom>
          <a:solidFill>
            <a:srgbClr val="D9D2C0"/>
          </a:solidFill>
          <a:ln/>
        </p:spPr>
        <p:txBody>
          <a:bodyPr/>
          <a:lstStyle/>
          <a:p>
            <a:endParaRPr lang="en-AR"/>
          </a:p>
        </p:txBody>
      </p:sp>
      <p:sp>
        <p:nvSpPr>
          <p:cNvPr id="17" name="Text 15"/>
          <p:cNvSpPr/>
          <p:nvPr/>
        </p:nvSpPr>
        <p:spPr>
          <a:xfrm>
            <a:off x="857250" y="9372600"/>
            <a:ext cx="3048767"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DE LA PATAGONIA</a:t>
            </a:r>
            <a:endParaRPr lang="en-US" sz="1050" dirty="0"/>
          </a:p>
        </p:txBody>
      </p:sp>
      <p:sp>
        <p:nvSpPr>
          <p:cNvPr id="18" name="Text 16"/>
          <p:cNvSpPr/>
          <p:nvPr/>
        </p:nvSpPr>
        <p:spPr>
          <a:xfrm>
            <a:off x="8183612" y="93726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19 / 40 </a:t>
            </a:r>
            <a:endParaRPr lang="en-US" sz="1050" dirty="0"/>
          </a:p>
        </p:txBody>
      </p:sp>
      <p:sp>
        <p:nvSpPr>
          <p:cNvPr id="19" name="Shape 17"/>
          <p:cNvSpPr/>
          <p:nvPr/>
        </p:nvSpPr>
        <p:spPr>
          <a:xfrm>
            <a:off x="9579397" y="0"/>
            <a:ext cx="8708603" cy="10287000"/>
          </a:xfrm>
          <a:prstGeom prst="rect">
            <a:avLst/>
          </a:prstGeom>
          <a:solidFill>
            <a:srgbClr val="F1ECE0"/>
          </a:solidFill>
          <a:ln/>
        </p:spPr>
        <p:txBody>
          <a:bodyPr/>
          <a:lstStyle/>
          <a:p>
            <a:endParaRPr lang="en-AR"/>
          </a:p>
        </p:txBody>
      </p:sp>
      <p:sp>
        <p:nvSpPr>
          <p:cNvPr id="20" name="Shape 18"/>
          <p:cNvSpPr/>
          <p:nvPr/>
        </p:nvSpPr>
        <p:spPr>
          <a:xfrm>
            <a:off x="9579397" y="0"/>
            <a:ext cx="9525" cy="10287000"/>
          </a:xfrm>
          <a:prstGeom prst="rect">
            <a:avLst/>
          </a:prstGeom>
          <a:solidFill>
            <a:srgbClr val="D9D2C0"/>
          </a:solidFill>
          <a:ln/>
        </p:spPr>
        <p:txBody>
          <a:bodyPr/>
          <a:lstStyle/>
          <a:p>
            <a:endParaRPr lang="en-AR"/>
          </a:p>
        </p:txBody>
      </p:sp>
      <p:sp>
        <p:nvSpPr>
          <p:cNvPr id="21" name="Text 19"/>
          <p:cNvSpPr/>
          <p:nvPr/>
        </p:nvSpPr>
        <p:spPr>
          <a:xfrm>
            <a:off x="9684172" y="133350"/>
            <a:ext cx="1681237" cy="166688"/>
          </a:xfrm>
          <a:prstGeom prst="rect">
            <a:avLst/>
          </a:prstGeom>
          <a:noFill/>
          <a:ln/>
        </p:spPr>
        <p:txBody>
          <a:bodyPr wrap="square" lIns="25400" tIns="25400" rIns="25400" bIns="25400" rtlCol="0" anchor="t">
            <a:normAutofit fontScale="92500" lnSpcReduction="10000"/>
          </a:bodyPr>
          <a:lstStyle/>
          <a:p>
            <a:pPr marL="0" indent="0" algn="ctr">
              <a:buNone/>
            </a:pPr>
            <a:r>
              <a:rPr lang="en-US" sz="900" kern="0" spc="162" dirty="0">
                <a:solidFill>
                  <a:srgbClr val="8A8170"/>
                </a:solidFill>
                <a:latin typeface="Courier New" pitchFamily="34" charset="0"/>
                <a:ea typeface="Courier New" pitchFamily="34" charset="-122"/>
                <a:cs typeface="Courier New" pitchFamily="34" charset="-120"/>
              </a:rPr>
              <a:t>[ IMG · 870×1080 ]</a:t>
            </a:r>
            <a:endParaRPr lang="en-US" sz="900" dirty="0"/>
          </a:p>
        </p:txBody>
      </p:sp>
      <p:pic>
        <p:nvPicPr>
          <p:cNvPr id="2050" name="Picture 2">
            <a:extLst>
              <a:ext uri="{FF2B5EF4-FFF2-40B4-BE49-F238E27FC236}">
                <a16:creationId xmlns:a16="http://schemas.microsoft.com/office/drawing/2014/main" id="{91F98EE4-D41A-EB4C-0840-B43E4BE1CDFB}"/>
              </a:ext>
            </a:extLst>
          </p:cNvPr>
          <p:cNvPicPr>
            <a:picLocks noChangeAspect="1" noChangeArrowheads="1"/>
          </p:cNvPicPr>
          <p:nvPr/>
        </p:nvPicPr>
        <p:blipFill>
          <a:blip r:embed="rId2"/>
          <a:srcRect l="21781" r="21781"/>
          <a:stretch/>
        </p:blipFill>
        <p:spPr bwMode="auto">
          <a:xfrm>
            <a:off x="9579395" y="0"/>
            <a:ext cx="8708605" cy="1028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8">
    <p:bg>
      <p:bgPr>
        <a:solidFill>
          <a:srgbClr val="F1ECE0"/>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5100920" y="804863"/>
            <a:ext cx="2310780"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 04 · MOTOR 01</a:t>
            </a:r>
            <a:endParaRPr lang="en-US" sz="1050" dirty="0"/>
          </a:p>
        </p:txBody>
      </p:sp>
      <p:sp>
        <p:nvSpPr>
          <p:cNvPr id="6" name="Text 4"/>
          <p:cNvSpPr/>
          <p:nvPr/>
        </p:nvSpPr>
        <p:spPr>
          <a:xfrm>
            <a:off x="952500" y="1752600"/>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QUÉ PRODUCE EL CENTRO</a:t>
            </a:r>
            <a:endParaRPr lang="en-US" sz="1350" dirty="0"/>
          </a:p>
        </p:txBody>
      </p:sp>
      <p:sp>
        <p:nvSpPr>
          <p:cNvPr id="7" name="Text 5"/>
          <p:cNvSpPr/>
          <p:nvPr/>
        </p:nvSpPr>
        <p:spPr>
          <a:xfrm>
            <a:off x="952500" y="2190750"/>
            <a:ext cx="16874490" cy="1464469"/>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No es divulgación. Es </a:t>
            </a:r>
            <a:r>
              <a:rPr lang="en-US" sz="5400" i="1" kern="0" spc="-97" dirty="0">
                <a:solidFill>
                  <a:srgbClr val="8A6420"/>
                </a:solidFill>
                <a:latin typeface="Georgia" pitchFamily="34" charset="0"/>
                <a:ea typeface="Georgia" pitchFamily="34" charset="-122"/>
                <a:cs typeface="Georgia" pitchFamily="34" charset="-120"/>
              </a:rPr>
              <a:t>academia rigurosa.</a:t>
            </a:r>
            <a:endParaRPr lang="en-US" sz="5400" dirty="0"/>
          </a:p>
        </p:txBody>
      </p:sp>
      <p:sp>
        <p:nvSpPr>
          <p:cNvPr id="8" name="Shape 6"/>
          <p:cNvSpPr/>
          <p:nvPr/>
        </p:nvSpPr>
        <p:spPr>
          <a:xfrm>
            <a:off x="952500" y="6700242"/>
            <a:ext cx="16383000" cy="9525"/>
          </a:xfrm>
          <a:prstGeom prst="rect">
            <a:avLst/>
          </a:prstGeom>
          <a:solidFill>
            <a:srgbClr val="D9D2C0"/>
          </a:solidFill>
          <a:ln/>
        </p:spPr>
        <p:txBody>
          <a:bodyPr/>
          <a:lstStyle/>
          <a:p>
            <a:endParaRPr lang="en-AR"/>
          </a:p>
        </p:txBody>
      </p:sp>
      <p:sp>
        <p:nvSpPr>
          <p:cNvPr id="9" name="Shape 7"/>
          <p:cNvSpPr/>
          <p:nvPr/>
        </p:nvSpPr>
        <p:spPr>
          <a:xfrm>
            <a:off x="952500" y="4150519"/>
            <a:ext cx="16383000" cy="9525"/>
          </a:xfrm>
          <a:prstGeom prst="rect">
            <a:avLst/>
          </a:prstGeom>
          <a:solidFill>
            <a:srgbClr val="D9D2C0"/>
          </a:solidFill>
          <a:ln/>
        </p:spPr>
        <p:txBody>
          <a:bodyPr/>
          <a:lstStyle/>
          <a:p>
            <a:endParaRPr lang="en-AR"/>
          </a:p>
        </p:txBody>
      </p:sp>
      <p:sp>
        <p:nvSpPr>
          <p:cNvPr id="10" name="Shape 8"/>
          <p:cNvSpPr/>
          <p:nvPr/>
        </p:nvSpPr>
        <p:spPr>
          <a:xfrm>
            <a:off x="5038725" y="4160044"/>
            <a:ext cx="9525" cy="2540198"/>
          </a:xfrm>
          <a:prstGeom prst="rect">
            <a:avLst/>
          </a:prstGeom>
          <a:solidFill>
            <a:srgbClr val="D9D2C0"/>
          </a:solidFill>
          <a:ln/>
        </p:spPr>
        <p:txBody>
          <a:bodyPr/>
          <a:lstStyle/>
          <a:p>
            <a:endParaRPr lang="en-AR"/>
          </a:p>
        </p:txBody>
      </p:sp>
      <p:sp>
        <p:nvSpPr>
          <p:cNvPr id="11" name="Text 9"/>
          <p:cNvSpPr/>
          <p:nvPr/>
        </p:nvSpPr>
        <p:spPr>
          <a:xfrm>
            <a:off x="952500" y="4502944"/>
            <a:ext cx="3934111"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01</a:t>
            </a:r>
            <a:endParaRPr lang="en-US" sz="975" dirty="0"/>
          </a:p>
        </p:txBody>
      </p:sp>
      <p:sp>
        <p:nvSpPr>
          <p:cNvPr id="12" name="Text 10"/>
          <p:cNvSpPr/>
          <p:nvPr/>
        </p:nvSpPr>
        <p:spPr>
          <a:xfrm>
            <a:off x="952500" y="4802981"/>
            <a:ext cx="3934111"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Programas académicos</a:t>
            </a:r>
            <a:endParaRPr lang="en-US" sz="2100" dirty="0"/>
          </a:p>
        </p:txBody>
      </p:sp>
      <p:sp>
        <p:nvSpPr>
          <p:cNvPr id="13" name="Text 11"/>
          <p:cNvSpPr/>
          <p:nvPr/>
        </p:nvSpPr>
        <p:spPr>
          <a:xfrm>
            <a:off x="952500" y="5237262"/>
            <a:ext cx="3934111" cy="8382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Diplomaturas, maestría en estudios budistas con universidades aliadas, programas de verano internacionales.</a:t>
            </a:r>
            <a:endParaRPr lang="en-US" sz="1500" dirty="0"/>
          </a:p>
        </p:txBody>
      </p:sp>
      <p:sp>
        <p:nvSpPr>
          <p:cNvPr id="14" name="Shape 12"/>
          <p:cNvSpPr/>
          <p:nvPr/>
        </p:nvSpPr>
        <p:spPr>
          <a:xfrm>
            <a:off x="9134475" y="4160044"/>
            <a:ext cx="9525" cy="2540198"/>
          </a:xfrm>
          <a:prstGeom prst="rect">
            <a:avLst/>
          </a:prstGeom>
          <a:solidFill>
            <a:srgbClr val="D9D2C0"/>
          </a:solidFill>
          <a:ln/>
        </p:spPr>
        <p:txBody>
          <a:bodyPr/>
          <a:lstStyle/>
          <a:p>
            <a:endParaRPr lang="en-AR"/>
          </a:p>
        </p:txBody>
      </p:sp>
      <p:sp>
        <p:nvSpPr>
          <p:cNvPr id="15" name="Text 13"/>
          <p:cNvSpPr/>
          <p:nvPr/>
        </p:nvSpPr>
        <p:spPr>
          <a:xfrm>
            <a:off x="5314950" y="4502944"/>
            <a:ext cx="3659410"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02</a:t>
            </a:r>
            <a:endParaRPr lang="en-US" sz="975" dirty="0"/>
          </a:p>
        </p:txBody>
      </p:sp>
      <p:sp>
        <p:nvSpPr>
          <p:cNvPr id="16" name="Text 14"/>
          <p:cNvSpPr/>
          <p:nvPr/>
        </p:nvSpPr>
        <p:spPr>
          <a:xfrm>
            <a:off x="5314950" y="4802981"/>
            <a:ext cx="3659410"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Investigación y publicaciones</a:t>
            </a:r>
            <a:endParaRPr lang="en-US" sz="2100" dirty="0"/>
          </a:p>
        </p:txBody>
      </p:sp>
      <p:sp>
        <p:nvSpPr>
          <p:cNvPr id="17" name="Text 15"/>
          <p:cNvSpPr/>
          <p:nvPr/>
        </p:nvSpPr>
        <p:spPr>
          <a:xfrm>
            <a:off x="5314950" y="5237262"/>
            <a:ext cx="3659410" cy="8382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Sonam como revista oficial. Traducciones de textos clásicos del tibetano, sánscrito y chino al español.</a:t>
            </a:r>
            <a:endParaRPr lang="en-US" sz="1500" dirty="0"/>
          </a:p>
        </p:txBody>
      </p:sp>
      <p:sp>
        <p:nvSpPr>
          <p:cNvPr id="18" name="Shape 16"/>
          <p:cNvSpPr/>
          <p:nvPr/>
        </p:nvSpPr>
        <p:spPr>
          <a:xfrm>
            <a:off x="13230225" y="4160044"/>
            <a:ext cx="9525" cy="2540198"/>
          </a:xfrm>
          <a:prstGeom prst="rect">
            <a:avLst/>
          </a:prstGeom>
          <a:solidFill>
            <a:srgbClr val="D9D2C0"/>
          </a:solidFill>
          <a:ln/>
        </p:spPr>
        <p:txBody>
          <a:bodyPr/>
          <a:lstStyle/>
          <a:p>
            <a:endParaRPr lang="en-AR"/>
          </a:p>
        </p:txBody>
      </p:sp>
      <p:sp>
        <p:nvSpPr>
          <p:cNvPr id="19" name="Text 17"/>
          <p:cNvSpPr/>
          <p:nvPr/>
        </p:nvSpPr>
        <p:spPr>
          <a:xfrm>
            <a:off x="9410700" y="4502944"/>
            <a:ext cx="3659410"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03</a:t>
            </a:r>
            <a:endParaRPr lang="en-US" sz="975" dirty="0"/>
          </a:p>
        </p:txBody>
      </p:sp>
      <p:sp>
        <p:nvSpPr>
          <p:cNvPr id="20" name="Text 18"/>
          <p:cNvSpPr/>
          <p:nvPr/>
        </p:nvSpPr>
        <p:spPr>
          <a:xfrm>
            <a:off x="9410700" y="4802981"/>
            <a:ext cx="3659410" cy="678061"/>
          </a:xfrm>
          <a:prstGeom prst="rect">
            <a:avLst/>
          </a:prstGeom>
          <a:noFill/>
          <a:ln/>
        </p:spPr>
        <p:txBody>
          <a:bodyPr wrap="square" lIns="25400" tIns="25400" rIns="25400" bIns="25400" rtlCol="0" anchor="t">
            <a:normAutofit/>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Eventos académicos</a:t>
            </a:r>
            <a:endParaRPr lang="en-US" sz="2100" dirty="0"/>
          </a:p>
        </p:txBody>
      </p:sp>
      <p:sp>
        <p:nvSpPr>
          <p:cNvPr id="21" name="Text 19"/>
          <p:cNvSpPr/>
          <p:nvPr/>
        </p:nvSpPr>
        <p:spPr>
          <a:xfrm>
            <a:off x="9389745" y="5237262"/>
            <a:ext cx="3659410" cy="8382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Jornadas Budistas anuales, congresos internacionales, coloquios con universidades asiáticas y americanas.</a:t>
            </a:r>
            <a:endParaRPr lang="en-US" sz="1500" dirty="0"/>
          </a:p>
        </p:txBody>
      </p:sp>
      <p:sp>
        <p:nvSpPr>
          <p:cNvPr id="22" name="Text 20"/>
          <p:cNvSpPr/>
          <p:nvPr/>
        </p:nvSpPr>
        <p:spPr>
          <a:xfrm>
            <a:off x="13506450" y="4502944"/>
            <a:ext cx="3943922"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04</a:t>
            </a:r>
            <a:endParaRPr lang="en-US" sz="975" dirty="0"/>
          </a:p>
        </p:txBody>
      </p:sp>
      <p:sp>
        <p:nvSpPr>
          <p:cNvPr id="23" name="Text 21"/>
          <p:cNvSpPr/>
          <p:nvPr/>
        </p:nvSpPr>
        <p:spPr>
          <a:xfrm>
            <a:off x="13506450" y="4802981"/>
            <a:ext cx="3943922"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Formación de maestros locales</a:t>
            </a:r>
            <a:endParaRPr lang="en-US" sz="2100" dirty="0"/>
          </a:p>
        </p:txBody>
      </p:sp>
      <p:sp>
        <p:nvSpPr>
          <p:cNvPr id="24" name="Text 22"/>
          <p:cNvSpPr/>
          <p:nvPr/>
        </p:nvSpPr>
        <p:spPr>
          <a:xfrm>
            <a:off x="13506450" y="5237262"/>
            <a:ext cx="3943922" cy="571500"/>
          </a:xfrm>
          <a:prstGeom prst="rect">
            <a:avLst/>
          </a:prstGeom>
          <a:noFill/>
          <a:ln/>
        </p:spPr>
        <p:txBody>
          <a:bodyPr wrap="square" lIns="25400" tIns="25400" rIns="25400" bIns="25400" rtlCol="0" anchor="t">
            <a:normAutofit fontScale="70000" lnSpcReduction="200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Programa estructurado para que practicantes latinoamericanos puedan formarse seriamente sin viajar a Asia o EE.UU.</a:t>
            </a:r>
            <a:endParaRPr lang="en-US" sz="1500" dirty="0"/>
          </a:p>
        </p:txBody>
      </p:sp>
      <p:sp>
        <p:nvSpPr>
          <p:cNvPr id="25" name="Text 23"/>
          <p:cNvSpPr/>
          <p:nvPr/>
        </p:nvSpPr>
        <p:spPr>
          <a:xfrm>
            <a:off x="952500" y="7166967"/>
            <a:ext cx="13735050" cy="39714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dirty="0">
                <a:solidFill>
                  <a:srgbClr val="3A342A"/>
                </a:solidFill>
                <a:latin typeface="Georgia" pitchFamily="34" charset="0"/>
                <a:ea typeface="Georgia" pitchFamily="34" charset="-122"/>
                <a:cs typeface="Georgia" pitchFamily="34" charset="-120"/>
              </a:rPr>
              <a:t>El Centro convierte al polo en destino </a:t>
            </a:r>
            <a:r>
              <a:rPr lang="en-US" sz="1950" dirty="0">
                <a:solidFill>
                  <a:srgbClr val="14110D"/>
                </a:solidFill>
                <a:latin typeface="Georgia" pitchFamily="34" charset="0"/>
                <a:ea typeface="Georgia" pitchFamily="34" charset="-122"/>
                <a:cs typeface="Georgia" pitchFamily="34" charset="-120"/>
              </a:rPr>
              <a:t>académico</a:t>
            </a:r>
            <a:r>
              <a:rPr lang="en-US" sz="1950" dirty="0">
                <a:solidFill>
                  <a:srgbClr val="3A342A"/>
                </a:solidFill>
                <a:latin typeface="Georgia" pitchFamily="34" charset="0"/>
                <a:ea typeface="Georgia" pitchFamily="34" charset="-122"/>
                <a:cs typeface="Georgia" pitchFamily="34" charset="-120"/>
              </a:rPr>
              <a:t>.</a:t>
            </a:r>
            <a:endParaRPr lang="en-US" sz="1950" dirty="0"/>
          </a:p>
        </p:txBody>
      </p:sp>
      <p:sp>
        <p:nvSpPr>
          <p:cNvPr id="26" name="Shape 24"/>
          <p:cNvSpPr/>
          <p:nvPr/>
        </p:nvSpPr>
        <p:spPr>
          <a:xfrm>
            <a:off x="952500" y="9134475"/>
            <a:ext cx="16383000" cy="9525"/>
          </a:xfrm>
          <a:prstGeom prst="rect">
            <a:avLst/>
          </a:prstGeom>
          <a:solidFill>
            <a:srgbClr val="D9D2C0"/>
          </a:solidFill>
          <a:ln/>
        </p:spPr>
        <p:txBody>
          <a:bodyPr/>
          <a:lstStyle/>
          <a:p>
            <a:endParaRPr lang="en-AR"/>
          </a:p>
        </p:txBody>
      </p:sp>
      <p:sp>
        <p:nvSpPr>
          <p:cNvPr id="27" name="Text 25"/>
          <p:cNvSpPr/>
          <p:nvPr/>
        </p:nvSpPr>
        <p:spPr>
          <a:xfrm>
            <a:off x="952500" y="9372600"/>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28" name="Text 26"/>
          <p:cNvSpPr/>
          <p:nvPr/>
        </p:nvSpPr>
        <p:spPr>
          <a:xfrm>
            <a:off x="16796965" y="93726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20 / 40 </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8">
    <p:bg>
      <p:bgPr>
        <a:solidFill>
          <a:srgbClr val="F1ECE0"/>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5100920" y="804863"/>
            <a:ext cx="2310780"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 04 · MOTOR 01</a:t>
            </a:r>
            <a:endParaRPr lang="en-US" sz="1050" dirty="0"/>
          </a:p>
        </p:txBody>
      </p:sp>
      <p:sp>
        <p:nvSpPr>
          <p:cNvPr id="6" name="Text 4"/>
          <p:cNvSpPr/>
          <p:nvPr/>
        </p:nvSpPr>
        <p:spPr>
          <a:xfrm>
            <a:off x="952500" y="1752600"/>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LA PIEZA QUE CIERRA EL SISTEMA</a:t>
            </a:r>
            <a:endParaRPr lang="en-US" sz="1350" dirty="0"/>
          </a:p>
        </p:txBody>
      </p:sp>
      <p:sp>
        <p:nvSpPr>
          <p:cNvPr id="7" name="Text 5"/>
          <p:cNvSpPr/>
          <p:nvPr/>
        </p:nvSpPr>
        <p:spPr>
          <a:xfrm>
            <a:off x="952500" y="2190750"/>
            <a:ext cx="16874490" cy="1464469"/>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Sin él, el polo es destino. Con él, es </a:t>
            </a:r>
            <a:r>
              <a:rPr lang="en-US" sz="5400" i="1" kern="0" spc="-97" dirty="0">
                <a:solidFill>
                  <a:srgbClr val="8A6420"/>
                </a:solidFill>
                <a:latin typeface="Georgia" pitchFamily="34" charset="0"/>
                <a:ea typeface="Georgia" pitchFamily="34" charset="-122"/>
                <a:cs typeface="Georgia" pitchFamily="34" charset="-120"/>
              </a:rPr>
              <a:t>referencia.</a:t>
            </a:r>
            <a:endParaRPr lang="en-US" sz="5400" dirty="0"/>
          </a:p>
        </p:txBody>
      </p:sp>
      <p:sp>
        <p:nvSpPr>
          <p:cNvPr id="8" name="Shape 6"/>
          <p:cNvSpPr/>
          <p:nvPr/>
        </p:nvSpPr>
        <p:spPr>
          <a:xfrm>
            <a:off x="952500" y="6700242"/>
            <a:ext cx="16383000" cy="9525"/>
          </a:xfrm>
          <a:prstGeom prst="rect">
            <a:avLst/>
          </a:prstGeom>
          <a:solidFill>
            <a:srgbClr val="D9D2C0"/>
          </a:solidFill>
          <a:ln/>
        </p:spPr>
        <p:txBody>
          <a:bodyPr/>
          <a:lstStyle/>
          <a:p>
            <a:endParaRPr lang="en-AR"/>
          </a:p>
        </p:txBody>
      </p:sp>
      <p:sp>
        <p:nvSpPr>
          <p:cNvPr id="9" name="Shape 7"/>
          <p:cNvSpPr/>
          <p:nvPr/>
        </p:nvSpPr>
        <p:spPr>
          <a:xfrm>
            <a:off x="952500" y="4150519"/>
            <a:ext cx="16383000" cy="9525"/>
          </a:xfrm>
          <a:prstGeom prst="rect">
            <a:avLst/>
          </a:prstGeom>
          <a:solidFill>
            <a:srgbClr val="D9D2C0"/>
          </a:solidFill>
          <a:ln/>
        </p:spPr>
        <p:txBody>
          <a:bodyPr/>
          <a:lstStyle/>
          <a:p>
            <a:endParaRPr lang="en-AR"/>
          </a:p>
        </p:txBody>
      </p:sp>
      <p:sp>
        <p:nvSpPr>
          <p:cNvPr id="10" name="Shape 8"/>
          <p:cNvSpPr/>
          <p:nvPr/>
        </p:nvSpPr>
        <p:spPr>
          <a:xfrm>
            <a:off x="5038725" y="4160044"/>
            <a:ext cx="9525" cy="2540198"/>
          </a:xfrm>
          <a:prstGeom prst="rect">
            <a:avLst/>
          </a:prstGeom>
          <a:solidFill>
            <a:srgbClr val="D9D2C0"/>
          </a:solidFill>
          <a:ln/>
        </p:spPr>
        <p:txBody>
          <a:bodyPr/>
          <a:lstStyle/>
          <a:p>
            <a:endParaRPr lang="en-AR"/>
          </a:p>
        </p:txBody>
      </p:sp>
      <p:sp>
        <p:nvSpPr>
          <p:cNvPr id="11" name="Text 9"/>
          <p:cNvSpPr/>
          <p:nvPr/>
        </p:nvSpPr>
        <p:spPr>
          <a:xfrm>
            <a:off x="952500" y="4502944"/>
            <a:ext cx="3934111"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01</a:t>
            </a:r>
            <a:endParaRPr lang="en-US" sz="975" dirty="0"/>
          </a:p>
        </p:txBody>
      </p:sp>
      <p:sp>
        <p:nvSpPr>
          <p:cNvPr id="12" name="Text 10"/>
          <p:cNvSpPr/>
          <p:nvPr/>
        </p:nvSpPr>
        <p:spPr>
          <a:xfrm>
            <a:off x="952500" y="4802981"/>
            <a:ext cx="3934111"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Con los templos</a:t>
            </a:r>
            <a:endParaRPr lang="en-US" sz="2100" dirty="0"/>
          </a:p>
        </p:txBody>
      </p:sp>
      <p:sp>
        <p:nvSpPr>
          <p:cNvPr id="13" name="Text 11"/>
          <p:cNvSpPr/>
          <p:nvPr/>
        </p:nvSpPr>
        <p:spPr>
          <a:xfrm>
            <a:off x="952500" y="5236263"/>
            <a:ext cx="3934111" cy="8382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Maestros y monjes residentes enseñan en el Centro. El circuito espiritual se vuelve circuito de aprendizaje.</a:t>
            </a:r>
            <a:endParaRPr lang="en-US" sz="1500" dirty="0"/>
          </a:p>
        </p:txBody>
      </p:sp>
      <p:sp>
        <p:nvSpPr>
          <p:cNvPr id="14" name="Shape 12"/>
          <p:cNvSpPr/>
          <p:nvPr/>
        </p:nvSpPr>
        <p:spPr>
          <a:xfrm>
            <a:off x="9134475" y="4160044"/>
            <a:ext cx="9525" cy="2540198"/>
          </a:xfrm>
          <a:prstGeom prst="rect">
            <a:avLst/>
          </a:prstGeom>
          <a:solidFill>
            <a:srgbClr val="D9D2C0"/>
          </a:solidFill>
          <a:ln/>
        </p:spPr>
        <p:txBody>
          <a:bodyPr/>
          <a:lstStyle/>
          <a:p>
            <a:endParaRPr lang="en-AR"/>
          </a:p>
        </p:txBody>
      </p:sp>
      <p:sp>
        <p:nvSpPr>
          <p:cNvPr id="15" name="Text 13"/>
          <p:cNvSpPr/>
          <p:nvPr/>
        </p:nvSpPr>
        <p:spPr>
          <a:xfrm>
            <a:off x="5314950" y="4502944"/>
            <a:ext cx="3659410"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02</a:t>
            </a:r>
            <a:endParaRPr lang="en-US" sz="975" dirty="0"/>
          </a:p>
        </p:txBody>
      </p:sp>
      <p:sp>
        <p:nvSpPr>
          <p:cNvPr id="16" name="Text 14"/>
          <p:cNvSpPr/>
          <p:nvPr/>
        </p:nvSpPr>
        <p:spPr>
          <a:xfrm>
            <a:off x="5314950" y="4802981"/>
            <a:ext cx="3659410"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Con Kalachakra Lab</a:t>
            </a:r>
            <a:endParaRPr lang="en-US" sz="2100" dirty="0"/>
          </a:p>
        </p:txBody>
      </p:sp>
      <p:sp>
        <p:nvSpPr>
          <p:cNvPr id="17" name="Text 15"/>
          <p:cNvSpPr/>
          <p:nvPr/>
        </p:nvSpPr>
        <p:spPr>
          <a:xfrm>
            <a:off x="5314950" y="5236263"/>
            <a:ext cx="3659410" cy="8382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El diálogo budismo-ciencias del Centro alimenta la investigación en AI contemplativa del Lab. Se retroalimentan.</a:t>
            </a:r>
            <a:endParaRPr lang="en-US" sz="1500" dirty="0"/>
          </a:p>
        </p:txBody>
      </p:sp>
      <p:sp>
        <p:nvSpPr>
          <p:cNvPr id="18" name="Shape 16"/>
          <p:cNvSpPr/>
          <p:nvPr/>
        </p:nvSpPr>
        <p:spPr>
          <a:xfrm>
            <a:off x="13230225" y="4160044"/>
            <a:ext cx="9525" cy="2540198"/>
          </a:xfrm>
          <a:prstGeom prst="rect">
            <a:avLst/>
          </a:prstGeom>
          <a:solidFill>
            <a:srgbClr val="D9D2C0"/>
          </a:solidFill>
          <a:ln/>
        </p:spPr>
        <p:txBody>
          <a:bodyPr/>
          <a:lstStyle/>
          <a:p>
            <a:endParaRPr lang="en-AR"/>
          </a:p>
        </p:txBody>
      </p:sp>
      <p:sp>
        <p:nvSpPr>
          <p:cNvPr id="19" name="Text 17"/>
          <p:cNvSpPr/>
          <p:nvPr/>
        </p:nvSpPr>
        <p:spPr>
          <a:xfrm>
            <a:off x="9410700" y="4502944"/>
            <a:ext cx="3659410"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03</a:t>
            </a:r>
            <a:endParaRPr lang="en-US" sz="975" dirty="0"/>
          </a:p>
        </p:txBody>
      </p:sp>
      <p:sp>
        <p:nvSpPr>
          <p:cNvPr id="20" name="Text 18"/>
          <p:cNvSpPr/>
          <p:nvPr/>
        </p:nvSpPr>
        <p:spPr>
          <a:xfrm>
            <a:off x="9410700" y="4802981"/>
            <a:ext cx="3659410" cy="678061"/>
          </a:xfrm>
          <a:prstGeom prst="rect">
            <a:avLst/>
          </a:prstGeom>
          <a:noFill/>
          <a:ln/>
        </p:spPr>
        <p:txBody>
          <a:bodyPr wrap="square" lIns="25400" tIns="25400" rIns="25400" bIns="25400" rtlCol="0" anchor="t">
            <a:normAutofit/>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Con los retiros</a:t>
            </a:r>
            <a:endParaRPr lang="en-US" sz="2100" dirty="0"/>
          </a:p>
        </p:txBody>
      </p:sp>
      <p:sp>
        <p:nvSpPr>
          <p:cNvPr id="21" name="Text 19"/>
          <p:cNvSpPr/>
          <p:nvPr/>
        </p:nvSpPr>
        <p:spPr>
          <a:xfrm>
            <a:off x="9389745" y="5236263"/>
            <a:ext cx="3659410" cy="8382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El rigor académico distingue al polo de un retiro de turismo wellness genérico. Atrae maestros internacionales serios.</a:t>
            </a:r>
            <a:endParaRPr lang="en-US" sz="1500" dirty="0"/>
          </a:p>
        </p:txBody>
      </p:sp>
      <p:sp>
        <p:nvSpPr>
          <p:cNvPr id="22" name="Text 20"/>
          <p:cNvSpPr/>
          <p:nvPr/>
        </p:nvSpPr>
        <p:spPr>
          <a:xfrm>
            <a:off x="13506450" y="4502944"/>
            <a:ext cx="3943922"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04</a:t>
            </a:r>
            <a:endParaRPr lang="en-US" sz="975" dirty="0"/>
          </a:p>
        </p:txBody>
      </p:sp>
      <p:sp>
        <p:nvSpPr>
          <p:cNvPr id="23" name="Text 21"/>
          <p:cNvSpPr/>
          <p:nvPr/>
        </p:nvSpPr>
        <p:spPr>
          <a:xfrm>
            <a:off x="13506450" y="4802981"/>
            <a:ext cx="3943922"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Con el merchandise</a:t>
            </a:r>
            <a:endParaRPr lang="en-US" sz="2100" dirty="0"/>
          </a:p>
        </p:txBody>
      </p:sp>
      <p:sp>
        <p:nvSpPr>
          <p:cNvPr id="24" name="Text 22"/>
          <p:cNvSpPr/>
          <p:nvPr/>
        </p:nvSpPr>
        <p:spPr>
          <a:xfrm>
            <a:off x="13506450" y="5236263"/>
            <a:ext cx="3943922" cy="571500"/>
          </a:xfrm>
          <a:prstGeom prst="rect">
            <a:avLst/>
          </a:prstGeom>
          <a:noFill/>
          <a:ln/>
        </p:spPr>
        <p:txBody>
          <a:bodyPr wrap="square" lIns="25400" tIns="25400" rIns="25400" bIns="25400" rtlCol="0" anchor="t">
            <a:normAutofit fontScale="70000" lnSpcReduction="200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La autoridad académica del Centro sostiene la consagración y el linaje que dan valor a los objetos rituales.</a:t>
            </a:r>
            <a:endParaRPr lang="en-US" sz="1500" dirty="0"/>
          </a:p>
        </p:txBody>
      </p:sp>
      <p:sp>
        <p:nvSpPr>
          <p:cNvPr id="25" name="Text 23"/>
          <p:cNvSpPr/>
          <p:nvPr/>
        </p:nvSpPr>
        <p:spPr>
          <a:xfrm>
            <a:off x="952500" y="7166967"/>
            <a:ext cx="13735050" cy="39714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dirty="0">
                <a:solidFill>
                  <a:srgbClr val="3A342A"/>
                </a:solidFill>
                <a:latin typeface="Georgia" pitchFamily="34" charset="0"/>
                <a:ea typeface="Georgia" pitchFamily="34" charset="-122"/>
                <a:cs typeface="Georgia" pitchFamily="34" charset="-120"/>
              </a:rPr>
              <a:t>Templos atraen, retiros sostienen, Lab innova, merch exporta. El Centro da </a:t>
            </a:r>
            <a:r>
              <a:rPr lang="en-US" sz="1950" dirty="0">
                <a:solidFill>
                  <a:srgbClr val="14110D"/>
                </a:solidFill>
                <a:latin typeface="Georgia" pitchFamily="34" charset="0"/>
                <a:ea typeface="Georgia" pitchFamily="34" charset="-122"/>
                <a:cs typeface="Georgia" pitchFamily="34" charset="-120"/>
              </a:rPr>
              <a:t>legitimidad</a:t>
            </a:r>
            <a:r>
              <a:rPr lang="en-US" sz="1950" dirty="0">
                <a:solidFill>
                  <a:srgbClr val="3A342A"/>
                </a:solidFill>
                <a:latin typeface="Georgia" pitchFamily="34" charset="0"/>
                <a:ea typeface="Georgia" pitchFamily="34" charset="-122"/>
                <a:cs typeface="Georgia" pitchFamily="34" charset="-120"/>
              </a:rPr>
              <a:t>.</a:t>
            </a:r>
            <a:endParaRPr lang="en-US" sz="1950" dirty="0"/>
          </a:p>
        </p:txBody>
      </p:sp>
      <p:sp>
        <p:nvSpPr>
          <p:cNvPr id="26" name="Shape 24"/>
          <p:cNvSpPr/>
          <p:nvPr/>
        </p:nvSpPr>
        <p:spPr>
          <a:xfrm>
            <a:off x="952500" y="9134475"/>
            <a:ext cx="16383000" cy="9525"/>
          </a:xfrm>
          <a:prstGeom prst="rect">
            <a:avLst/>
          </a:prstGeom>
          <a:solidFill>
            <a:srgbClr val="D9D2C0"/>
          </a:solidFill>
          <a:ln/>
        </p:spPr>
        <p:txBody>
          <a:bodyPr/>
          <a:lstStyle/>
          <a:p>
            <a:endParaRPr lang="en-AR"/>
          </a:p>
        </p:txBody>
      </p:sp>
      <p:sp>
        <p:nvSpPr>
          <p:cNvPr id="27" name="Text 25"/>
          <p:cNvSpPr/>
          <p:nvPr/>
        </p:nvSpPr>
        <p:spPr>
          <a:xfrm>
            <a:off x="952500" y="9372600"/>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28" name="Text 26"/>
          <p:cNvSpPr/>
          <p:nvPr/>
        </p:nvSpPr>
        <p:spPr>
          <a:xfrm>
            <a:off x="16796965" y="93726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21 / 40 </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7">
    <p:bg>
      <p:bgPr>
        <a:solidFill>
          <a:srgbClr val="FAF8F3"/>
        </a:solidFill>
        <a:effectLst/>
      </p:bgPr>
    </p:bg>
    <p:spTree>
      <p:nvGrpSpPr>
        <p:cNvPr id="1" name=""/>
        <p:cNvGrpSpPr/>
        <p:nvPr/>
      </p:nvGrpSpPr>
      <p:grpSpPr>
        <a:xfrm>
          <a:off x="0" y="0"/>
          <a:ext cx="0" cy="0"/>
          <a:chOff x="0" y="0"/>
          <a:chExt cx="0" cy="0"/>
        </a:xfrm>
      </p:grpSpPr>
      <p:sp>
        <p:nvSpPr>
          <p:cNvPr id="2" name="Shape 0"/>
          <p:cNvSpPr/>
          <p:nvPr/>
        </p:nvSpPr>
        <p:spPr>
          <a:xfrm>
            <a:off x="857250" y="1266825"/>
            <a:ext cx="7864897" cy="9525"/>
          </a:xfrm>
          <a:prstGeom prst="rect">
            <a:avLst/>
          </a:prstGeom>
          <a:solidFill>
            <a:srgbClr val="D9D2C0"/>
          </a:solidFill>
          <a:ln/>
        </p:spPr>
        <p:txBody>
          <a:bodyPr/>
          <a:lstStyle/>
          <a:p>
            <a:endParaRPr lang="en-AR"/>
          </a:p>
        </p:txBody>
      </p:sp>
      <p:sp>
        <p:nvSpPr>
          <p:cNvPr id="3" name="Shape 1"/>
          <p:cNvSpPr/>
          <p:nvPr/>
        </p:nvSpPr>
        <p:spPr>
          <a:xfrm>
            <a:off x="85725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228725" y="788194"/>
            <a:ext cx="2128093"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CAP 04 · MOTOR 02</a:t>
            </a:r>
            <a:endParaRPr lang="en-US" sz="1200" dirty="0"/>
          </a:p>
        </p:txBody>
      </p:sp>
      <p:sp>
        <p:nvSpPr>
          <p:cNvPr id="5" name="Text 3"/>
          <p:cNvSpPr/>
          <p:nvPr/>
        </p:nvSpPr>
        <p:spPr>
          <a:xfrm>
            <a:off x="7119565" y="804863"/>
            <a:ext cx="1678781"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KALACHAKRA LAB</a:t>
            </a:r>
            <a:endParaRPr lang="en-US" sz="1050" dirty="0"/>
          </a:p>
        </p:txBody>
      </p:sp>
      <p:sp>
        <p:nvSpPr>
          <p:cNvPr id="6" name="Text 4"/>
          <p:cNvSpPr/>
          <p:nvPr/>
        </p:nvSpPr>
        <p:spPr>
          <a:xfrm>
            <a:off x="857250" y="2948434"/>
            <a:ext cx="8100844"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EL REINO DEL CONOCIMIENTO</a:t>
            </a:r>
            <a:endParaRPr lang="en-US" sz="1350" dirty="0"/>
          </a:p>
        </p:txBody>
      </p:sp>
      <p:sp>
        <p:nvSpPr>
          <p:cNvPr id="7" name="Text 5"/>
          <p:cNvSpPr/>
          <p:nvPr/>
        </p:nvSpPr>
        <p:spPr>
          <a:xfrm>
            <a:off x="857250" y="3424684"/>
            <a:ext cx="8100844" cy="2177653"/>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Las naciones budistas son las </a:t>
            </a:r>
            <a:r>
              <a:rPr lang="en-US" sz="5400" i="1" kern="0" spc="-97" dirty="0">
                <a:solidFill>
                  <a:srgbClr val="8A6420"/>
                </a:solidFill>
                <a:latin typeface="Georgia" pitchFamily="34" charset="0"/>
                <a:ea typeface="Georgia" pitchFamily="34" charset="-122"/>
                <a:cs typeface="Georgia" pitchFamily="34" charset="-120"/>
              </a:rPr>
              <a:t>potencias tecnológicas </a:t>
            </a:r>
            <a:r>
              <a:rPr lang="en-US" sz="5400" kern="0" spc="-97" dirty="0">
                <a:solidFill>
                  <a:srgbClr val="14110D"/>
                </a:solidFill>
                <a:latin typeface="Georgia" pitchFamily="34" charset="0"/>
                <a:ea typeface="Georgia" pitchFamily="34" charset="-122"/>
                <a:cs typeface="Georgia" pitchFamily="34" charset="-120"/>
              </a:rPr>
              <a:t>.</a:t>
            </a:r>
            <a:endParaRPr lang="en-US" sz="5400" dirty="0"/>
          </a:p>
        </p:txBody>
      </p:sp>
      <p:sp>
        <p:nvSpPr>
          <p:cNvPr id="8" name="Text 6"/>
          <p:cNvSpPr/>
          <p:nvPr/>
        </p:nvSpPr>
        <p:spPr>
          <a:xfrm>
            <a:off x="857250" y="5907137"/>
            <a:ext cx="8100844" cy="1198066"/>
          </a:xfrm>
          <a:prstGeom prst="rect">
            <a:avLst/>
          </a:prstGeom>
          <a:noFill/>
          <a:ln/>
        </p:spPr>
        <p:txBody>
          <a:bodyPr wrap="square" lIns="25400" tIns="25400" rIns="25400" bIns="25400" rtlCol="0" anchor="t">
            <a:normAutofit fontScale="70000" lnSpcReduction="20000"/>
          </a:bodyPr>
          <a:lstStyle/>
          <a:p>
            <a:pPr marL="0" indent="0" algn="l">
              <a:lnSpc>
                <a:spcPct val="145000"/>
              </a:lnSpc>
              <a:buNone/>
            </a:pPr>
            <a:r>
              <a:rPr lang="en-US" sz="2100" dirty="0">
                <a:solidFill>
                  <a:srgbClr val="3A342A"/>
                </a:solidFill>
                <a:latin typeface="Georgia" pitchFamily="34" charset="0"/>
                <a:ea typeface="Georgia" pitchFamily="34" charset="-122"/>
                <a:cs typeface="Georgia" pitchFamily="34" charset="-120"/>
              </a:rPr>
              <a:t>En la tradición Kalachakra, Shambhala no es solo un reino místico: es donde florecen sabiduría contemplativa y artes del conocimiento. Japón, Corea, China, Taiwán, India, Bután: las mismas naciones que aportan templos al polo concentran el liderazgo tecnológico del siglo XXI.</a:t>
            </a:r>
            <a:endParaRPr lang="en-US" sz="2100" dirty="0"/>
          </a:p>
        </p:txBody>
      </p:sp>
      <p:sp>
        <p:nvSpPr>
          <p:cNvPr id="9" name="Shape 7"/>
          <p:cNvSpPr/>
          <p:nvPr/>
        </p:nvSpPr>
        <p:spPr>
          <a:xfrm>
            <a:off x="857250" y="8453438"/>
            <a:ext cx="7864897" cy="9525"/>
          </a:xfrm>
          <a:prstGeom prst="rect">
            <a:avLst/>
          </a:prstGeom>
          <a:solidFill>
            <a:srgbClr val="D9D2C0"/>
          </a:solidFill>
          <a:ln/>
        </p:spPr>
        <p:txBody>
          <a:bodyPr/>
          <a:lstStyle/>
          <a:p>
            <a:endParaRPr lang="en-AR"/>
          </a:p>
        </p:txBody>
      </p:sp>
      <p:sp>
        <p:nvSpPr>
          <p:cNvPr id="10" name="Text 8"/>
          <p:cNvSpPr/>
          <p:nvPr/>
        </p:nvSpPr>
        <p:spPr>
          <a:xfrm>
            <a:off x="857250" y="8691563"/>
            <a:ext cx="1961331"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I+D ASIA BUDISTA</a:t>
            </a:r>
            <a:endParaRPr lang="en-US" sz="975" dirty="0"/>
          </a:p>
        </p:txBody>
      </p:sp>
      <p:sp>
        <p:nvSpPr>
          <p:cNvPr id="11" name="Text 9"/>
          <p:cNvSpPr/>
          <p:nvPr/>
        </p:nvSpPr>
        <p:spPr>
          <a:xfrm>
            <a:off x="857250" y="8896350"/>
            <a:ext cx="1961331"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3A342A"/>
                </a:solidFill>
                <a:latin typeface="Georgia" pitchFamily="34" charset="0"/>
                <a:ea typeface="Georgia" pitchFamily="34" charset="-122"/>
                <a:cs typeface="Georgia" pitchFamily="34" charset="-120"/>
              </a:rPr>
              <a:t>~40% gasto global</a:t>
            </a:r>
            <a:endParaRPr lang="en-US" sz="1650" dirty="0"/>
          </a:p>
        </p:txBody>
      </p:sp>
      <p:sp>
        <p:nvSpPr>
          <p:cNvPr id="12" name="Text 10"/>
          <p:cNvSpPr/>
          <p:nvPr/>
        </p:nvSpPr>
        <p:spPr>
          <a:xfrm>
            <a:off x="3199581" y="8691563"/>
            <a:ext cx="1234008" cy="185738"/>
          </a:xfrm>
          <a:prstGeom prst="rect">
            <a:avLst/>
          </a:prstGeom>
          <a:noFill/>
          <a:ln/>
        </p:spPr>
        <p:txBody>
          <a:bodyPr wrap="square" lIns="25400" tIns="25400" rIns="25400" bIns="25400" rtlCol="0" anchor="t">
            <a:normAutofit fontScale="70000" lnSpcReduction="2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UNICORNIOS ASIA</a:t>
            </a:r>
            <a:endParaRPr lang="en-US" sz="975" dirty="0"/>
          </a:p>
        </p:txBody>
      </p:sp>
      <p:sp>
        <p:nvSpPr>
          <p:cNvPr id="13" name="Text 11"/>
          <p:cNvSpPr/>
          <p:nvPr/>
        </p:nvSpPr>
        <p:spPr>
          <a:xfrm>
            <a:off x="3199581" y="8982075"/>
            <a:ext cx="1234008" cy="276225"/>
          </a:xfrm>
          <a:prstGeom prst="rect">
            <a:avLst/>
          </a:prstGeom>
          <a:noFill/>
          <a:ln/>
        </p:spPr>
        <p:txBody>
          <a:bodyPr wrap="square" lIns="25400" tIns="25400" rIns="25400" bIns="25400" rtlCol="0" anchor="t">
            <a:normAutofit fontScale="77500" lnSpcReduction="20000"/>
          </a:bodyPr>
          <a:lstStyle/>
          <a:p>
            <a:pPr marL="0" indent="0" algn="l">
              <a:buNone/>
            </a:pPr>
            <a:r>
              <a:rPr lang="en-US" sz="1650" dirty="0">
                <a:solidFill>
                  <a:srgbClr val="3A342A"/>
                </a:solidFill>
                <a:latin typeface="Georgia" pitchFamily="34" charset="0"/>
                <a:ea typeface="Georgia" pitchFamily="34" charset="-122"/>
                <a:cs typeface="Georgia" pitchFamily="34" charset="-120"/>
              </a:rPr>
              <a:t>+400 empresas</a:t>
            </a:r>
            <a:endParaRPr lang="en-US" sz="1650" dirty="0"/>
          </a:p>
        </p:txBody>
      </p:sp>
      <p:sp>
        <p:nvSpPr>
          <p:cNvPr id="14" name="Text 12"/>
          <p:cNvSpPr/>
          <p:nvPr/>
        </p:nvSpPr>
        <p:spPr>
          <a:xfrm>
            <a:off x="4814590" y="8691563"/>
            <a:ext cx="1713309"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NACIONES SOCIAS</a:t>
            </a:r>
            <a:endParaRPr lang="en-US" sz="975" dirty="0"/>
          </a:p>
        </p:txBody>
      </p:sp>
      <p:sp>
        <p:nvSpPr>
          <p:cNvPr id="15" name="Text 13"/>
          <p:cNvSpPr/>
          <p:nvPr/>
        </p:nvSpPr>
        <p:spPr>
          <a:xfrm>
            <a:off x="4814590" y="8896350"/>
            <a:ext cx="1713309"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3A342A"/>
                </a:solidFill>
                <a:latin typeface="Georgia" pitchFamily="34" charset="0"/>
                <a:ea typeface="Georgia" pitchFamily="34" charset="-122"/>
                <a:cs typeface="Georgia" pitchFamily="34" charset="-120"/>
              </a:rPr>
              <a:t>JP · KR · CN · IN</a:t>
            </a:r>
            <a:endParaRPr lang="en-US" sz="1650" dirty="0"/>
          </a:p>
        </p:txBody>
      </p:sp>
      <p:sp>
        <p:nvSpPr>
          <p:cNvPr id="16" name="Shape 14"/>
          <p:cNvSpPr/>
          <p:nvPr/>
        </p:nvSpPr>
        <p:spPr>
          <a:xfrm>
            <a:off x="857250" y="9134475"/>
            <a:ext cx="7864897" cy="9525"/>
          </a:xfrm>
          <a:prstGeom prst="rect">
            <a:avLst/>
          </a:prstGeom>
          <a:solidFill>
            <a:srgbClr val="D9D2C0"/>
          </a:solidFill>
          <a:ln/>
        </p:spPr>
        <p:txBody>
          <a:bodyPr/>
          <a:lstStyle/>
          <a:p>
            <a:endParaRPr lang="en-AR"/>
          </a:p>
        </p:txBody>
      </p:sp>
      <p:sp>
        <p:nvSpPr>
          <p:cNvPr id="17" name="Text 15"/>
          <p:cNvSpPr/>
          <p:nvPr/>
        </p:nvSpPr>
        <p:spPr>
          <a:xfrm>
            <a:off x="857250" y="9372600"/>
            <a:ext cx="3048767"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DE LA PATAGONIA</a:t>
            </a:r>
            <a:endParaRPr lang="en-US" sz="1050" dirty="0"/>
          </a:p>
        </p:txBody>
      </p:sp>
      <p:sp>
        <p:nvSpPr>
          <p:cNvPr id="18" name="Text 16"/>
          <p:cNvSpPr/>
          <p:nvPr/>
        </p:nvSpPr>
        <p:spPr>
          <a:xfrm>
            <a:off x="8183612" y="93726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22 / 40 </a:t>
            </a:r>
            <a:endParaRPr lang="en-US" sz="1050" dirty="0"/>
          </a:p>
        </p:txBody>
      </p:sp>
      <p:sp>
        <p:nvSpPr>
          <p:cNvPr id="19" name="Shape 17"/>
          <p:cNvSpPr/>
          <p:nvPr/>
        </p:nvSpPr>
        <p:spPr>
          <a:xfrm>
            <a:off x="9579397" y="0"/>
            <a:ext cx="8708603" cy="10287000"/>
          </a:xfrm>
          <a:prstGeom prst="rect">
            <a:avLst/>
          </a:prstGeom>
          <a:solidFill>
            <a:srgbClr val="F1ECE0"/>
          </a:solidFill>
          <a:ln/>
        </p:spPr>
        <p:txBody>
          <a:bodyPr/>
          <a:lstStyle/>
          <a:p>
            <a:endParaRPr lang="en-AR"/>
          </a:p>
        </p:txBody>
      </p:sp>
      <p:sp>
        <p:nvSpPr>
          <p:cNvPr id="20" name="Shape 18"/>
          <p:cNvSpPr/>
          <p:nvPr/>
        </p:nvSpPr>
        <p:spPr>
          <a:xfrm>
            <a:off x="9579397" y="0"/>
            <a:ext cx="9525" cy="10287000"/>
          </a:xfrm>
          <a:prstGeom prst="rect">
            <a:avLst/>
          </a:prstGeom>
          <a:solidFill>
            <a:srgbClr val="D9D2C0"/>
          </a:solidFill>
          <a:ln/>
        </p:spPr>
        <p:txBody>
          <a:bodyPr/>
          <a:lstStyle/>
          <a:p>
            <a:endParaRPr lang="en-AR"/>
          </a:p>
        </p:txBody>
      </p:sp>
      <p:sp>
        <p:nvSpPr>
          <p:cNvPr id="21" name="Text 19"/>
          <p:cNvSpPr/>
          <p:nvPr/>
        </p:nvSpPr>
        <p:spPr>
          <a:xfrm>
            <a:off x="9684172" y="133350"/>
            <a:ext cx="1681237" cy="166688"/>
          </a:xfrm>
          <a:prstGeom prst="rect">
            <a:avLst/>
          </a:prstGeom>
          <a:noFill/>
          <a:ln/>
        </p:spPr>
        <p:txBody>
          <a:bodyPr wrap="square" lIns="25400" tIns="25400" rIns="25400" bIns="25400" rtlCol="0" anchor="t">
            <a:normAutofit fontScale="92500" lnSpcReduction="10000"/>
          </a:bodyPr>
          <a:lstStyle/>
          <a:p>
            <a:pPr marL="0" indent="0" algn="ctr">
              <a:buNone/>
            </a:pPr>
            <a:r>
              <a:rPr lang="en-US" sz="900" kern="0" spc="162" dirty="0">
                <a:solidFill>
                  <a:srgbClr val="8A8170"/>
                </a:solidFill>
                <a:latin typeface="Courier New" pitchFamily="34" charset="0"/>
                <a:ea typeface="Courier New" pitchFamily="34" charset="-122"/>
                <a:cs typeface="Courier New" pitchFamily="34" charset="-120"/>
              </a:rPr>
              <a:t>[ IMG · 870×1080 ]</a:t>
            </a:r>
            <a:endParaRPr lang="en-US" sz="900" dirty="0"/>
          </a:p>
        </p:txBody>
      </p:sp>
      <p:pic>
        <p:nvPicPr>
          <p:cNvPr id="2050" name="Picture 2">
            <a:extLst>
              <a:ext uri="{FF2B5EF4-FFF2-40B4-BE49-F238E27FC236}">
                <a16:creationId xmlns:a16="http://schemas.microsoft.com/office/drawing/2014/main" id="{91F98EE4-D41A-EB4C-0840-B43E4BE1CDFB}"/>
              </a:ext>
            </a:extLst>
          </p:cNvPr>
          <p:cNvPicPr>
            <a:picLocks noChangeAspect="1" noChangeArrowheads="1"/>
          </p:cNvPicPr>
          <p:nvPr/>
        </p:nvPicPr>
        <p:blipFill>
          <a:blip r:embed="rId2"/>
          <a:srcRect l="18282" r="18282"/>
          <a:stretch/>
        </p:blipFill>
        <p:spPr bwMode="auto">
          <a:xfrm>
            <a:off x="9579395" y="0"/>
            <a:ext cx="8708605" cy="1028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bg>
      <p:bgPr>
        <a:solidFill>
          <a:srgbClr val="FAF8F3"/>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3820849" y="804863"/>
            <a:ext cx="3620090"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 04 · MOTOR 02</a:t>
            </a:r>
            <a:endParaRPr lang="en-US" sz="1050" dirty="0"/>
          </a:p>
        </p:txBody>
      </p:sp>
      <p:sp>
        <p:nvSpPr>
          <p:cNvPr id="6" name="Text 4"/>
          <p:cNvSpPr/>
          <p:nvPr/>
        </p:nvSpPr>
        <p:spPr>
          <a:xfrm>
            <a:off x="952500" y="1657350"/>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CONECTA YA TRABAJA EN IA</a:t>
            </a:r>
            <a:endParaRPr lang="en-US" sz="1350" dirty="0"/>
          </a:p>
        </p:txBody>
      </p:sp>
      <p:sp>
        <p:nvSpPr>
          <p:cNvPr id="7" name="Text 5"/>
          <p:cNvSpPr/>
          <p:nvPr/>
        </p:nvSpPr>
        <p:spPr>
          <a:xfrm>
            <a:off x="952500" y="2057400"/>
            <a:ext cx="16874490" cy="1464469"/>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El Lab no es una idea. Es una </a:t>
            </a:r>
            <a:r>
              <a:rPr lang="en-US" sz="5400" i="1" kern="0" spc="-97" dirty="0">
                <a:solidFill>
                  <a:srgbClr val="8A6420"/>
                </a:solidFill>
                <a:latin typeface="Georgia" pitchFamily="34" charset="0"/>
                <a:ea typeface="Georgia" pitchFamily="34" charset="-122"/>
                <a:cs typeface="Georgia" pitchFamily="34" charset="-120"/>
              </a:rPr>
              <a:t>extensión de Conecta.</a:t>
            </a:r>
            <a:endParaRPr lang="en-US" sz="5400" dirty="0"/>
          </a:p>
        </p:txBody>
      </p:sp>
      <p:sp>
        <p:nvSpPr>
          <p:cNvPr id="8" name="Shape 6"/>
          <p:cNvSpPr/>
          <p:nvPr/>
        </p:nvSpPr>
        <p:spPr>
          <a:xfrm>
            <a:off x="952500" y="4285283"/>
            <a:ext cx="5242545" cy="14288"/>
          </a:xfrm>
          <a:prstGeom prst="rect">
            <a:avLst/>
          </a:prstGeom>
          <a:solidFill>
            <a:srgbClr val="14110D"/>
          </a:solidFill>
          <a:ln/>
        </p:spPr>
        <p:txBody>
          <a:bodyPr/>
          <a:lstStyle/>
          <a:p>
            <a:endParaRPr lang="en-AR"/>
          </a:p>
        </p:txBody>
      </p:sp>
      <p:sp>
        <p:nvSpPr>
          <p:cNvPr id="9" name="Text 7"/>
          <p:cNvSpPr/>
          <p:nvPr/>
        </p:nvSpPr>
        <p:spPr>
          <a:xfrm>
            <a:off x="1143000" y="3940969"/>
            <a:ext cx="5018821" cy="210964"/>
          </a:xfrm>
          <a:prstGeom prst="rect">
            <a:avLst/>
          </a:prstGeom>
          <a:noFill/>
          <a:ln/>
        </p:spPr>
        <p:txBody>
          <a:bodyPr wrap="square" lIns="25400" tIns="25400" rIns="25400" bIns="25400" rtlCol="0" anchor="t">
            <a:normAutofit fontScale="85000" lnSpcReduction="10000"/>
          </a:bodyPr>
          <a:lstStyle/>
          <a:p>
            <a:pPr marL="0" indent="0" algn="l">
              <a:lnSpc>
                <a:spcPct val="135000"/>
              </a:lnSpc>
              <a:buNone/>
            </a:pPr>
            <a:r>
              <a:rPr lang="en-US" sz="1050" b="1" kern="0" spc="210" dirty="0">
                <a:solidFill>
                  <a:srgbClr val="8A8170"/>
                </a:solidFill>
                <a:latin typeface="Arial" pitchFamily="34" charset="0"/>
                <a:ea typeface="Arial" pitchFamily="34" charset="-122"/>
                <a:cs typeface="Arial" pitchFamily="34" charset="-120"/>
              </a:rPr>
              <a:t>CAPACIDAD ACTUAL</a:t>
            </a:r>
            <a:endParaRPr lang="en-US" sz="1050" dirty="0"/>
          </a:p>
        </p:txBody>
      </p:sp>
      <p:sp>
        <p:nvSpPr>
          <p:cNvPr id="10" name="Shape 8"/>
          <p:cNvSpPr/>
          <p:nvPr/>
        </p:nvSpPr>
        <p:spPr>
          <a:xfrm>
            <a:off x="6195045" y="4285283"/>
            <a:ext cx="7536210" cy="14288"/>
          </a:xfrm>
          <a:prstGeom prst="rect">
            <a:avLst/>
          </a:prstGeom>
          <a:solidFill>
            <a:srgbClr val="14110D"/>
          </a:solidFill>
          <a:ln/>
        </p:spPr>
        <p:txBody>
          <a:bodyPr/>
          <a:lstStyle/>
          <a:p>
            <a:endParaRPr lang="en-AR"/>
          </a:p>
        </p:txBody>
      </p:sp>
      <p:sp>
        <p:nvSpPr>
          <p:cNvPr id="11" name="Text 9"/>
          <p:cNvSpPr/>
          <p:nvPr/>
        </p:nvSpPr>
        <p:spPr>
          <a:xfrm>
            <a:off x="6385545" y="3940969"/>
            <a:ext cx="7381296" cy="210964"/>
          </a:xfrm>
          <a:prstGeom prst="rect">
            <a:avLst/>
          </a:prstGeom>
          <a:noFill/>
          <a:ln/>
        </p:spPr>
        <p:txBody>
          <a:bodyPr wrap="square" lIns="25400" tIns="25400" rIns="25400" bIns="25400" rtlCol="0" anchor="t">
            <a:normAutofit fontScale="85000" lnSpcReduction="10000"/>
          </a:bodyPr>
          <a:lstStyle/>
          <a:p>
            <a:pPr marL="0" indent="0" algn="l">
              <a:lnSpc>
                <a:spcPct val="135000"/>
              </a:lnSpc>
              <a:buNone/>
            </a:pPr>
            <a:r>
              <a:rPr lang="en-US" sz="1050" b="1" kern="0" spc="210" dirty="0">
                <a:solidFill>
                  <a:srgbClr val="8A8170"/>
                </a:solidFill>
                <a:latin typeface="Arial" pitchFamily="34" charset="0"/>
                <a:ea typeface="Arial" pitchFamily="34" charset="-122"/>
                <a:cs typeface="Arial" pitchFamily="34" charset="-120"/>
              </a:rPr>
              <a:t>QUÉ ES</a:t>
            </a:r>
            <a:endParaRPr lang="en-US" sz="1050" dirty="0"/>
          </a:p>
        </p:txBody>
      </p:sp>
      <p:sp>
        <p:nvSpPr>
          <p:cNvPr id="12" name="Shape 10"/>
          <p:cNvSpPr/>
          <p:nvPr/>
        </p:nvSpPr>
        <p:spPr>
          <a:xfrm>
            <a:off x="13731255" y="4285283"/>
            <a:ext cx="3604245" cy="14288"/>
          </a:xfrm>
          <a:prstGeom prst="rect">
            <a:avLst/>
          </a:prstGeom>
          <a:solidFill>
            <a:srgbClr val="14110D"/>
          </a:solidFill>
          <a:ln/>
        </p:spPr>
        <p:txBody>
          <a:bodyPr/>
          <a:lstStyle/>
          <a:p>
            <a:endParaRPr lang="en-AR"/>
          </a:p>
        </p:txBody>
      </p:sp>
      <p:sp>
        <p:nvSpPr>
          <p:cNvPr id="13" name="Text 11"/>
          <p:cNvSpPr/>
          <p:nvPr/>
        </p:nvSpPr>
        <p:spPr>
          <a:xfrm>
            <a:off x="13921755" y="3940969"/>
            <a:ext cx="3331372" cy="210964"/>
          </a:xfrm>
          <a:prstGeom prst="rect">
            <a:avLst/>
          </a:prstGeom>
          <a:noFill/>
          <a:ln/>
        </p:spPr>
        <p:txBody>
          <a:bodyPr wrap="square" lIns="25400" tIns="25400" rIns="25400" bIns="25400" rtlCol="0" anchor="t">
            <a:normAutofit fontScale="85000" lnSpcReduction="10000"/>
          </a:bodyPr>
          <a:lstStyle/>
          <a:p>
            <a:pPr marL="0" indent="0" algn="l">
              <a:lnSpc>
                <a:spcPct val="135000"/>
              </a:lnSpc>
              <a:buNone/>
            </a:pPr>
            <a:r>
              <a:rPr lang="en-US" sz="1050" b="1" kern="0" spc="210" dirty="0">
                <a:solidFill>
                  <a:srgbClr val="8A8170"/>
                </a:solidFill>
                <a:latin typeface="Arial" pitchFamily="34" charset="0"/>
                <a:ea typeface="Arial" pitchFamily="34" charset="-122"/>
                <a:cs typeface="Arial" pitchFamily="34" charset="-120"/>
              </a:rPr>
              <a:t>SEÑAL</a:t>
            </a:r>
            <a:endParaRPr lang="en-US" sz="1050" dirty="0"/>
          </a:p>
        </p:txBody>
      </p:sp>
      <p:sp>
        <p:nvSpPr>
          <p:cNvPr id="14" name="Shape 12"/>
          <p:cNvSpPr/>
          <p:nvPr/>
        </p:nvSpPr>
        <p:spPr>
          <a:xfrm>
            <a:off x="952500" y="5465787"/>
            <a:ext cx="5242545" cy="9525"/>
          </a:xfrm>
          <a:prstGeom prst="rect">
            <a:avLst/>
          </a:prstGeom>
          <a:solidFill>
            <a:srgbClr val="D9D2C0"/>
          </a:solidFill>
          <a:ln/>
        </p:spPr>
        <p:txBody>
          <a:bodyPr/>
          <a:lstStyle/>
          <a:p>
            <a:endParaRPr lang="en-AR"/>
          </a:p>
        </p:txBody>
      </p:sp>
      <p:sp>
        <p:nvSpPr>
          <p:cNvPr id="15" name="Text 13"/>
          <p:cNvSpPr/>
          <p:nvPr/>
        </p:nvSpPr>
        <p:spPr>
          <a:xfrm>
            <a:off x="1143000" y="4547220"/>
            <a:ext cx="5018821" cy="709017"/>
          </a:xfrm>
          <a:prstGeom prst="rect">
            <a:avLst/>
          </a:prstGeom>
          <a:noFill/>
          <a:ln/>
        </p:spPr>
        <p:txBody>
          <a:bodyPr wrap="square" lIns="25400" tIns="25400" rIns="25400" bIns="25400" rtlCol="0" anchor="t">
            <a:normAutofit/>
          </a:bodyPr>
          <a:lstStyle/>
          <a:p>
            <a:pPr marL="0" indent="0" algn="l">
              <a:lnSpc>
                <a:spcPct val="135000"/>
              </a:lnSpc>
              <a:buNone/>
            </a:pPr>
            <a:r>
              <a:rPr lang="en-US" sz="1650" b="1" kern="0" spc="66" dirty="0">
                <a:solidFill>
                  <a:srgbClr val="14110D"/>
                </a:solidFill>
                <a:latin typeface="Georgia" pitchFamily="34" charset="0"/>
                <a:ea typeface="Georgia" pitchFamily="34" charset="-122"/>
                <a:cs typeface="Georgia" pitchFamily="34" charset="-120"/>
              </a:rPr>
              <a:t>Estrategia de IA empresarial </a:t>
            </a:r>
            <a:r>
              <a:rPr lang="en-US" sz="1350" kern="0" spc="66" dirty="0">
                <a:solidFill>
                  <a:srgbClr val="8A8170"/>
                </a:solidFill>
                <a:latin typeface="Georgia" pitchFamily="34" charset="0"/>
                <a:ea typeface="Georgia" pitchFamily="34" charset="-122"/>
                <a:cs typeface="Georgia" pitchFamily="34" charset="-120"/>
              </a:rPr>
              <a:t>Consultoría aplicada en transformación.</a:t>
            </a:r>
            <a:endParaRPr lang="en-US" sz="1650" dirty="0"/>
          </a:p>
        </p:txBody>
      </p:sp>
      <p:sp>
        <p:nvSpPr>
          <p:cNvPr id="16" name="Shape 14"/>
          <p:cNvSpPr/>
          <p:nvPr/>
        </p:nvSpPr>
        <p:spPr>
          <a:xfrm>
            <a:off x="6195045" y="5465787"/>
            <a:ext cx="7536210" cy="9525"/>
          </a:xfrm>
          <a:prstGeom prst="rect">
            <a:avLst/>
          </a:prstGeom>
          <a:solidFill>
            <a:srgbClr val="D9D2C0"/>
          </a:solidFill>
          <a:ln/>
        </p:spPr>
        <p:txBody>
          <a:bodyPr/>
          <a:lstStyle/>
          <a:p>
            <a:endParaRPr lang="en-AR"/>
          </a:p>
        </p:txBody>
      </p:sp>
      <p:sp>
        <p:nvSpPr>
          <p:cNvPr id="17" name="Text 15"/>
          <p:cNvSpPr/>
          <p:nvPr/>
        </p:nvSpPr>
        <p:spPr>
          <a:xfrm>
            <a:off x="6385545" y="4547220"/>
            <a:ext cx="7381296" cy="709017"/>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950" dirty="0">
                <a:solidFill>
                  <a:srgbClr val="14110D"/>
                </a:solidFill>
                <a:latin typeface="Georgia" pitchFamily="34" charset="0"/>
                <a:ea typeface="Georgia" pitchFamily="34" charset="-122"/>
                <a:cs typeface="Georgia" pitchFamily="34" charset="-120"/>
              </a:rPr>
              <a:t>Frameworks de adopción organizacional aplicados a clientes enterprise y gobierno en Latinoamérica.</a:t>
            </a:r>
            <a:endParaRPr lang="en-US" sz="1950" dirty="0"/>
          </a:p>
        </p:txBody>
      </p:sp>
      <p:sp>
        <p:nvSpPr>
          <p:cNvPr id="18" name="Shape 16"/>
          <p:cNvSpPr/>
          <p:nvPr/>
        </p:nvSpPr>
        <p:spPr>
          <a:xfrm>
            <a:off x="13731255" y="5465787"/>
            <a:ext cx="3604245" cy="9525"/>
          </a:xfrm>
          <a:prstGeom prst="rect">
            <a:avLst/>
          </a:prstGeom>
          <a:solidFill>
            <a:srgbClr val="D9D2C0"/>
          </a:solidFill>
          <a:ln/>
        </p:spPr>
        <p:txBody>
          <a:bodyPr/>
          <a:lstStyle/>
          <a:p>
            <a:endParaRPr lang="en-AR"/>
          </a:p>
        </p:txBody>
      </p:sp>
      <p:sp>
        <p:nvSpPr>
          <p:cNvPr id="19" name="Text 17"/>
          <p:cNvSpPr/>
          <p:nvPr/>
        </p:nvSpPr>
        <p:spPr>
          <a:xfrm>
            <a:off x="13921755" y="4547220"/>
            <a:ext cx="3331372" cy="709017"/>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8A6420"/>
                </a:solidFill>
                <a:latin typeface="Georgia" pitchFamily="34" charset="0"/>
                <a:ea typeface="Georgia" pitchFamily="34" charset="-122"/>
                <a:cs typeface="Georgia" pitchFamily="34" charset="-120"/>
              </a:rPr>
              <a:t>Track récord</a:t>
            </a:r>
            <a:endParaRPr lang="en-US" sz="1950" dirty="0"/>
          </a:p>
        </p:txBody>
      </p:sp>
      <p:sp>
        <p:nvSpPr>
          <p:cNvPr id="20" name="Shape 18"/>
          <p:cNvSpPr/>
          <p:nvPr/>
        </p:nvSpPr>
        <p:spPr>
          <a:xfrm>
            <a:off x="952500" y="6639148"/>
            <a:ext cx="5242545" cy="9525"/>
          </a:xfrm>
          <a:prstGeom prst="rect">
            <a:avLst/>
          </a:prstGeom>
          <a:solidFill>
            <a:srgbClr val="D9D2C0"/>
          </a:solidFill>
          <a:ln/>
        </p:spPr>
        <p:txBody>
          <a:bodyPr/>
          <a:lstStyle/>
          <a:p>
            <a:endParaRPr lang="en-AR"/>
          </a:p>
        </p:txBody>
      </p:sp>
      <p:sp>
        <p:nvSpPr>
          <p:cNvPr id="21" name="Text 19"/>
          <p:cNvSpPr/>
          <p:nvPr/>
        </p:nvSpPr>
        <p:spPr>
          <a:xfrm>
            <a:off x="1143000" y="5722962"/>
            <a:ext cx="5018821" cy="706636"/>
          </a:xfrm>
          <a:prstGeom prst="rect">
            <a:avLst/>
          </a:prstGeom>
          <a:noFill/>
          <a:ln/>
        </p:spPr>
        <p:txBody>
          <a:bodyPr wrap="square" lIns="25400" tIns="25400" rIns="25400" bIns="25400" rtlCol="0" anchor="t">
            <a:normAutofit/>
          </a:bodyPr>
          <a:lstStyle/>
          <a:p>
            <a:pPr marL="0" indent="0" algn="l">
              <a:lnSpc>
                <a:spcPct val="135000"/>
              </a:lnSpc>
              <a:buNone/>
            </a:pPr>
            <a:r>
              <a:rPr lang="en-US" sz="1650" b="1" kern="0" spc="66" dirty="0">
                <a:solidFill>
                  <a:srgbClr val="14110D"/>
                </a:solidFill>
                <a:latin typeface="Georgia" pitchFamily="34" charset="0"/>
                <a:ea typeface="Georgia" pitchFamily="34" charset="-122"/>
                <a:cs typeface="Georgia" pitchFamily="34" charset="-120"/>
              </a:rPr>
              <a:t>Framework AI-Q </a:t>
            </a:r>
            <a:r>
              <a:rPr lang="en-US" sz="1350" kern="0" spc="66" dirty="0">
                <a:solidFill>
                  <a:srgbClr val="8A8170"/>
                </a:solidFill>
                <a:latin typeface="Georgia" pitchFamily="34" charset="0"/>
                <a:ea typeface="Georgia" pitchFamily="34" charset="-122"/>
                <a:cs typeface="Georgia" pitchFamily="34" charset="-120"/>
              </a:rPr>
              <a:t>Las cuatro dimensiones que separan el 5% del 95%.</a:t>
            </a:r>
            <a:endParaRPr lang="en-US" sz="1650" dirty="0"/>
          </a:p>
        </p:txBody>
      </p:sp>
      <p:sp>
        <p:nvSpPr>
          <p:cNvPr id="22" name="Shape 20"/>
          <p:cNvSpPr/>
          <p:nvPr/>
        </p:nvSpPr>
        <p:spPr>
          <a:xfrm>
            <a:off x="6195045" y="6639148"/>
            <a:ext cx="7536210" cy="9525"/>
          </a:xfrm>
          <a:prstGeom prst="rect">
            <a:avLst/>
          </a:prstGeom>
          <a:solidFill>
            <a:srgbClr val="D9D2C0"/>
          </a:solidFill>
          <a:ln/>
        </p:spPr>
        <p:txBody>
          <a:bodyPr/>
          <a:lstStyle/>
          <a:p>
            <a:endParaRPr lang="en-AR"/>
          </a:p>
        </p:txBody>
      </p:sp>
      <p:sp>
        <p:nvSpPr>
          <p:cNvPr id="23" name="Text 21"/>
          <p:cNvSpPr/>
          <p:nvPr/>
        </p:nvSpPr>
        <p:spPr>
          <a:xfrm>
            <a:off x="6385545" y="5722962"/>
            <a:ext cx="7381296" cy="706636"/>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950" dirty="0">
                <a:solidFill>
                  <a:srgbClr val="14110D"/>
                </a:solidFill>
                <a:latin typeface="Georgia" pitchFamily="34" charset="0"/>
                <a:ea typeface="Georgia" pitchFamily="34" charset="-122"/>
                <a:cs typeface="Georgia" pitchFamily="34" charset="-120"/>
              </a:rPr>
              <a:t>Marco conceptual propio para evaluar madurez en transformación con IA. Aplicado en clientes y disponible como libro.</a:t>
            </a:r>
            <a:endParaRPr lang="en-US" sz="1950" dirty="0"/>
          </a:p>
        </p:txBody>
      </p:sp>
      <p:sp>
        <p:nvSpPr>
          <p:cNvPr id="24" name="Shape 22"/>
          <p:cNvSpPr/>
          <p:nvPr/>
        </p:nvSpPr>
        <p:spPr>
          <a:xfrm>
            <a:off x="13731255" y="6639148"/>
            <a:ext cx="3604245" cy="9525"/>
          </a:xfrm>
          <a:prstGeom prst="rect">
            <a:avLst/>
          </a:prstGeom>
          <a:solidFill>
            <a:srgbClr val="D9D2C0"/>
          </a:solidFill>
          <a:ln/>
        </p:spPr>
        <p:txBody>
          <a:bodyPr/>
          <a:lstStyle/>
          <a:p>
            <a:endParaRPr lang="en-AR"/>
          </a:p>
        </p:txBody>
      </p:sp>
      <p:sp>
        <p:nvSpPr>
          <p:cNvPr id="25" name="Text 23"/>
          <p:cNvSpPr/>
          <p:nvPr/>
        </p:nvSpPr>
        <p:spPr>
          <a:xfrm>
            <a:off x="13921755" y="5722962"/>
            <a:ext cx="3331372" cy="706636"/>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8A6420"/>
                </a:solidFill>
                <a:latin typeface="Georgia" pitchFamily="34" charset="0"/>
                <a:ea typeface="Georgia" pitchFamily="34" charset="-122"/>
                <a:cs typeface="Georgia" pitchFamily="34" charset="-120"/>
              </a:rPr>
              <a:t>Publicado</a:t>
            </a:r>
            <a:endParaRPr lang="en-US" sz="1950" dirty="0"/>
          </a:p>
        </p:txBody>
      </p:sp>
      <p:sp>
        <p:nvSpPr>
          <p:cNvPr id="26" name="Shape 24"/>
          <p:cNvSpPr/>
          <p:nvPr/>
        </p:nvSpPr>
        <p:spPr>
          <a:xfrm>
            <a:off x="952500" y="7812509"/>
            <a:ext cx="5242545" cy="9525"/>
          </a:xfrm>
          <a:prstGeom prst="rect">
            <a:avLst/>
          </a:prstGeom>
          <a:solidFill>
            <a:srgbClr val="D9D2C0"/>
          </a:solidFill>
          <a:ln/>
        </p:spPr>
        <p:txBody>
          <a:bodyPr/>
          <a:lstStyle/>
          <a:p>
            <a:endParaRPr lang="en-AR"/>
          </a:p>
        </p:txBody>
      </p:sp>
      <p:sp>
        <p:nvSpPr>
          <p:cNvPr id="27" name="Text 25"/>
          <p:cNvSpPr/>
          <p:nvPr/>
        </p:nvSpPr>
        <p:spPr>
          <a:xfrm>
            <a:off x="1143000" y="6896323"/>
            <a:ext cx="5018821" cy="706636"/>
          </a:xfrm>
          <a:prstGeom prst="rect">
            <a:avLst/>
          </a:prstGeom>
          <a:noFill/>
          <a:ln/>
        </p:spPr>
        <p:txBody>
          <a:bodyPr wrap="square" lIns="25400" tIns="25400" rIns="25400" bIns="25400" rtlCol="0" anchor="t">
            <a:normAutofit/>
          </a:bodyPr>
          <a:lstStyle/>
          <a:p>
            <a:pPr marL="0" indent="0" algn="l">
              <a:lnSpc>
                <a:spcPct val="135000"/>
              </a:lnSpc>
              <a:buNone/>
            </a:pPr>
            <a:r>
              <a:rPr lang="en-US" sz="1650" b="1" kern="0" spc="66" dirty="0">
                <a:solidFill>
                  <a:srgbClr val="14110D"/>
                </a:solidFill>
                <a:latin typeface="Georgia" pitchFamily="34" charset="0"/>
                <a:ea typeface="Georgia" pitchFamily="34" charset="-122"/>
                <a:cs typeface="Georgia" pitchFamily="34" charset="-120"/>
              </a:rPr>
              <a:t>Red </a:t>
            </a:r>
            <a:r>
              <a:rPr lang="en-US" sz="1650" b="1" kern="0" spc="66" dirty="0" err="1">
                <a:solidFill>
                  <a:srgbClr val="14110D"/>
                </a:solidFill>
                <a:latin typeface="Georgia" pitchFamily="34" charset="0"/>
                <a:ea typeface="Georgia" pitchFamily="34" charset="-122"/>
                <a:cs typeface="Georgia" pitchFamily="34" charset="-120"/>
              </a:rPr>
              <a:t>Latinoamérica</a:t>
            </a:r>
            <a:r>
              <a:rPr lang="en-US" sz="1650" b="1" kern="0" spc="66" dirty="0">
                <a:solidFill>
                  <a:srgbClr val="14110D"/>
                </a:solidFill>
                <a:latin typeface="Georgia" pitchFamily="34" charset="0"/>
                <a:ea typeface="Georgia" pitchFamily="34" charset="-122"/>
                <a:cs typeface="Georgia" pitchFamily="34" charset="-120"/>
              </a:rPr>
              <a:t> </a:t>
            </a:r>
            <a:r>
              <a:rPr lang="en-US" sz="1350" b="1" kern="0" spc="66" dirty="0">
                <a:solidFill>
                  <a:srgbClr val="8A8170"/>
                </a:solidFill>
                <a:latin typeface="Georgia" pitchFamily="34" charset="0"/>
                <a:ea typeface="Georgia" pitchFamily="34" charset="-122"/>
                <a:cs typeface="Georgia" pitchFamily="34" charset="-120"/>
              </a:rPr>
              <a:t>Conicet, TRC, </a:t>
            </a:r>
            <a:r>
              <a:rPr lang="en-US" sz="1350" b="1" kern="0" spc="66" dirty="0" err="1">
                <a:solidFill>
                  <a:srgbClr val="8A8170"/>
                </a:solidFill>
                <a:latin typeface="Georgia" pitchFamily="34" charset="0"/>
                <a:ea typeface="Georgia" pitchFamily="34" charset="-122"/>
                <a:cs typeface="Georgia" pitchFamily="34" charset="-120"/>
              </a:rPr>
              <a:t>Vajrakula</a:t>
            </a:r>
            <a:endParaRPr lang="en-US" sz="1650" dirty="0"/>
          </a:p>
        </p:txBody>
      </p:sp>
      <p:sp>
        <p:nvSpPr>
          <p:cNvPr id="28" name="Shape 26"/>
          <p:cNvSpPr/>
          <p:nvPr/>
        </p:nvSpPr>
        <p:spPr>
          <a:xfrm>
            <a:off x="6195045" y="7812509"/>
            <a:ext cx="7536210" cy="9525"/>
          </a:xfrm>
          <a:prstGeom prst="rect">
            <a:avLst/>
          </a:prstGeom>
          <a:solidFill>
            <a:srgbClr val="D9D2C0"/>
          </a:solidFill>
          <a:ln/>
        </p:spPr>
        <p:txBody>
          <a:bodyPr/>
          <a:lstStyle/>
          <a:p>
            <a:endParaRPr lang="en-AR"/>
          </a:p>
        </p:txBody>
      </p:sp>
      <p:sp>
        <p:nvSpPr>
          <p:cNvPr id="29" name="Text 27"/>
          <p:cNvSpPr/>
          <p:nvPr/>
        </p:nvSpPr>
        <p:spPr>
          <a:xfrm>
            <a:off x="6385545" y="6896323"/>
            <a:ext cx="7381296" cy="706636"/>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950" dirty="0">
                <a:solidFill>
                  <a:srgbClr val="14110D"/>
                </a:solidFill>
                <a:latin typeface="Georgia" pitchFamily="34" charset="0"/>
                <a:ea typeface="Georgia" pitchFamily="34" charset="-122"/>
                <a:cs typeface="Georgia" pitchFamily="34" charset="-120"/>
              </a:rPr>
              <a:t>Conicet (ciencia argentina), Tibetan Research Center (academia budista) y red Vajrakula. Vínculos con universidades y gobiernos en toda la región.</a:t>
            </a:r>
            <a:endParaRPr lang="en-US" sz="1950" dirty="0"/>
          </a:p>
        </p:txBody>
      </p:sp>
      <p:sp>
        <p:nvSpPr>
          <p:cNvPr id="30" name="Shape 28"/>
          <p:cNvSpPr/>
          <p:nvPr/>
        </p:nvSpPr>
        <p:spPr>
          <a:xfrm>
            <a:off x="13731255" y="7812509"/>
            <a:ext cx="3604245" cy="9525"/>
          </a:xfrm>
          <a:prstGeom prst="rect">
            <a:avLst/>
          </a:prstGeom>
          <a:solidFill>
            <a:srgbClr val="D9D2C0"/>
          </a:solidFill>
          <a:ln/>
        </p:spPr>
        <p:txBody>
          <a:bodyPr/>
          <a:lstStyle/>
          <a:p>
            <a:endParaRPr lang="en-AR"/>
          </a:p>
        </p:txBody>
      </p:sp>
      <p:sp>
        <p:nvSpPr>
          <p:cNvPr id="31" name="Text 29"/>
          <p:cNvSpPr/>
          <p:nvPr/>
        </p:nvSpPr>
        <p:spPr>
          <a:xfrm>
            <a:off x="13921755" y="6896323"/>
            <a:ext cx="3331372" cy="706636"/>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8A6420"/>
                </a:solidFill>
                <a:latin typeface="Georgia" pitchFamily="34" charset="0"/>
                <a:ea typeface="Georgia" pitchFamily="34" charset="-122"/>
                <a:cs typeface="Georgia" pitchFamily="34" charset="-120"/>
              </a:rPr>
              <a:t>Verificable</a:t>
            </a:r>
            <a:endParaRPr lang="en-US" sz="1950" dirty="0"/>
          </a:p>
        </p:txBody>
      </p:sp>
      <p:sp>
        <p:nvSpPr>
          <p:cNvPr id="32" name="Shape 30"/>
          <p:cNvSpPr/>
          <p:nvPr/>
        </p:nvSpPr>
        <p:spPr>
          <a:xfrm>
            <a:off x="952500" y="8985870"/>
            <a:ext cx="5242545" cy="9525"/>
          </a:xfrm>
          <a:prstGeom prst="rect">
            <a:avLst/>
          </a:prstGeom>
          <a:solidFill>
            <a:srgbClr val="D9D2C0"/>
          </a:solidFill>
          <a:ln/>
        </p:spPr>
        <p:txBody>
          <a:bodyPr/>
          <a:lstStyle/>
          <a:p>
            <a:endParaRPr lang="en-AR"/>
          </a:p>
        </p:txBody>
      </p:sp>
      <p:sp>
        <p:nvSpPr>
          <p:cNvPr id="33" name="Text 31"/>
          <p:cNvSpPr/>
          <p:nvPr/>
        </p:nvSpPr>
        <p:spPr>
          <a:xfrm>
            <a:off x="1143000" y="8069684"/>
            <a:ext cx="5018821" cy="706636"/>
          </a:xfrm>
          <a:prstGeom prst="rect">
            <a:avLst/>
          </a:prstGeom>
          <a:noFill/>
          <a:ln/>
        </p:spPr>
        <p:txBody>
          <a:bodyPr wrap="square" lIns="25400" tIns="25400" rIns="25400" bIns="25400" rtlCol="0" anchor="t">
            <a:normAutofit/>
          </a:bodyPr>
          <a:lstStyle/>
          <a:p>
            <a:pPr marL="0" indent="0" algn="l">
              <a:lnSpc>
                <a:spcPct val="135000"/>
              </a:lnSpc>
              <a:buNone/>
            </a:pPr>
            <a:r>
              <a:rPr lang="en-US" sz="1650" b="1" kern="0" spc="66" dirty="0">
                <a:solidFill>
                  <a:srgbClr val="14110D"/>
                </a:solidFill>
                <a:latin typeface="Georgia" pitchFamily="34" charset="0"/>
                <a:ea typeface="Georgia" pitchFamily="34" charset="-122"/>
                <a:cs typeface="Georgia" pitchFamily="34" charset="-120"/>
              </a:rPr>
              <a:t>Consultora AI-Q</a:t>
            </a:r>
            <a:endParaRPr lang="en-US" sz="1650" dirty="0"/>
          </a:p>
        </p:txBody>
      </p:sp>
      <p:sp>
        <p:nvSpPr>
          <p:cNvPr id="34" name="Shape 32"/>
          <p:cNvSpPr/>
          <p:nvPr/>
        </p:nvSpPr>
        <p:spPr>
          <a:xfrm>
            <a:off x="6195045" y="8985870"/>
            <a:ext cx="7536210" cy="9525"/>
          </a:xfrm>
          <a:prstGeom prst="rect">
            <a:avLst/>
          </a:prstGeom>
          <a:solidFill>
            <a:srgbClr val="D9D2C0"/>
          </a:solidFill>
          <a:ln/>
        </p:spPr>
        <p:txBody>
          <a:bodyPr/>
          <a:lstStyle/>
          <a:p>
            <a:endParaRPr lang="en-AR"/>
          </a:p>
        </p:txBody>
      </p:sp>
      <p:sp>
        <p:nvSpPr>
          <p:cNvPr id="35" name="Text 33"/>
          <p:cNvSpPr/>
          <p:nvPr/>
        </p:nvSpPr>
        <p:spPr>
          <a:xfrm>
            <a:off x="6385545" y="8069684"/>
            <a:ext cx="7381296" cy="706636"/>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950" dirty="0">
                <a:solidFill>
                  <a:srgbClr val="14110D"/>
                </a:solidFill>
                <a:latin typeface="Georgia" pitchFamily="34" charset="0"/>
                <a:ea typeface="Georgia" pitchFamily="34" charset="-122"/>
                <a:cs typeface="Georgia" pitchFamily="34" charset="-120"/>
              </a:rPr>
              <a:t>Estructura activa de consultoría en IA. Es la base operacional del Lab desde el primer día, no una fundación a crear.</a:t>
            </a:r>
            <a:endParaRPr lang="en-US" sz="1950" dirty="0"/>
          </a:p>
        </p:txBody>
      </p:sp>
      <p:sp>
        <p:nvSpPr>
          <p:cNvPr id="36" name="Shape 34"/>
          <p:cNvSpPr/>
          <p:nvPr/>
        </p:nvSpPr>
        <p:spPr>
          <a:xfrm>
            <a:off x="13731255" y="8985870"/>
            <a:ext cx="3604245" cy="9525"/>
          </a:xfrm>
          <a:prstGeom prst="rect">
            <a:avLst/>
          </a:prstGeom>
          <a:solidFill>
            <a:srgbClr val="D9D2C0"/>
          </a:solidFill>
          <a:ln/>
        </p:spPr>
        <p:txBody>
          <a:bodyPr/>
          <a:lstStyle/>
          <a:p>
            <a:endParaRPr lang="en-AR"/>
          </a:p>
        </p:txBody>
      </p:sp>
      <p:sp>
        <p:nvSpPr>
          <p:cNvPr id="37" name="Text 35"/>
          <p:cNvSpPr/>
          <p:nvPr/>
        </p:nvSpPr>
        <p:spPr>
          <a:xfrm>
            <a:off x="13921755" y="8069684"/>
            <a:ext cx="3331372" cy="706636"/>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14110D"/>
                </a:solidFill>
                <a:latin typeface="Georgia" pitchFamily="34" charset="0"/>
                <a:ea typeface="Georgia" pitchFamily="34" charset="-122"/>
                <a:cs typeface="Georgia" pitchFamily="34" charset="-120"/>
              </a:rPr>
              <a:t>Operativa</a:t>
            </a:r>
            <a:endParaRPr lang="en-US" sz="1950" dirty="0"/>
          </a:p>
        </p:txBody>
      </p:sp>
      <p:sp>
        <p:nvSpPr>
          <p:cNvPr id="38" name="Text 36"/>
          <p:cNvSpPr/>
          <p:nvPr/>
        </p:nvSpPr>
        <p:spPr>
          <a:xfrm>
            <a:off x="952500" y="9266858"/>
            <a:ext cx="13735050"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9" dirty="0">
                <a:solidFill>
                  <a:srgbClr val="8A8170"/>
                </a:solidFill>
                <a:latin typeface="Arial" pitchFamily="34" charset="0"/>
                <a:ea typeface="Arial" pitchFamily="34" charset="-122"/>
                <a:cs typeface="Arial" pitchFamily="34" charset="-120"/>
              </a:rPr>
              <a:t>Kalachakra Lab nace con base institucional verificable. No tenemos que armar el equipo: lo extendemos.</a:t>
            </a:r>
            <a:endParaRPr lang="en-US" sz="1800" dirty="0"/>
          </a:p>
        </p:txBody>
      </p:sp>
      <p:sp>
        <p:nvSpPr>
          <p:cNvPr id="39" name="Shape 37"/>
          <p:cNvSpPr/>
          <p:nvPr/>
        </p:nvSpPr>
        <p:spPr>
          <a:xfrm>
            <a:off x="952500" y="9815438"/>
            <a:ext cx="16383000" cy="9525"/>
          </a:xfrm>
          <a:prstGeom prst="rect">
            <a:avLst/>
          </a:prstGeom>
          <a:solidFill>
            <a:srgbClr val="D9D2C0"/>
          </a:solidFill>
          <a:ln/>
        </p:spPr>
        <p:txBody>
          <a:bodyPr/>
          <a:lstStyle/>
          <a:p>
            <a:endParaRPr lang="en-AR"/>
          </a:p>
        </p:txBody>
      </p:sp>
      <p:sp>
        <p:nvSpPr>
          <p:cNvPr id="40" name="Text 38"/>
          <p:cNvSpPr/>
          <p:nvPr/>
        </p:nvSpPr>
        <p:spPr>
          <a:xfrm>
            <a:off x="952500" y="10053563"/>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41" name="Text 39"/>
          <p:cNvSpPr/>
          <p:nvPr/>
        </p:nvSpPr>
        <p:spPr>
          <a:xfrm>
            <a:off x="16796965" y="10053563"/>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23 / 40 </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8">
    <p:bg>
      <p:bgPr>
        <a:solidFill>
          <a:srgbClr val="F1ECE0"/>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5100920" y="804863"/>
            <a:ext cx="2310780"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 04 · MOTOR 02</a:t>
            </a:r>
            <a:endParaRPr lang="en-US" sz="1050" dirty="0"/>
          </a:p>
        </p:txBody>
      </p:sp>
      <p:sp>
        <p:nvSpPr>
          <p:cNvPr id="6" name="Text 4"/>
          <p:cNvSpPr/>
          <p:nvPr/>
        </p:nvSpPr>
        <p:spPr>
          <a:xfrm>
            <a:off x="952500" y="1752600"/>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QUÉ HACE EL LAB</a:t>
            </a:r>
            <a:endParaRPr lang="en-US" sz="1350" dirty="0"/>
          </a:p>
        </p:txBody>
      </p:sp>
      <p:sp>
        <p:nvSpPr>
          <p:cNvPr id="7" name="Text 5"/>
          <p:cNvSpPr/>
          <p:nvPr/>
        </p:nvSpPr>
        <p:spPr>
          <a:xfrm>
            <a:off x="952500" y="2190750"/>
            <a:ext cx="16874490" cy="1464469"/>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No competimos con Bangalore. Ofrecemos algo </a:t>
            </a:r>
            <a:r>
              <a:rPr lang="en-US" sz="5400" i="1" kern="0" spc="-97" dirty="0">
                <a:solidFill>
                  <a:srgbClr val="8A6420"/>
                </a:solidFill>
                <a:latin typeface="Georgia" pitchFamily="34" charset="0"/>
                <a:ea typeface="Georgia" pitchFamily="34" charset="-122"/>
                <a:cs typeface="Georgia" pitchFamily="34" charset="-120"/>
              </a:rPr>
              <a:t>distinto.</a:t>
            </a:r>
            <a:endParaRPr lang="en-US" sz="5400" dirty="0"/>
          </a:p>
        </p:txBody>
      </p:sp>
      <p:sp>
        <p:nvSpPr>
          <p:cNvPr id="8" name="Shape 6"/>
          <p:cNvSpPr/>
          <p:nvPr/>
        </p:nvSpPr>
        <p:spPr>
          <a:xfrm>
            <a:off x="952500" y="6700242"/>
            <a:ext cx="16383000" cy="9525"/>
          </a:xfrm>
          <a:prstGeom prst="rect">
            <a:avLst/>
          </a:prstGeom>
          <a:solidFill>
            <a:srgbClr val="D9D2C0"/>
          </a:solidFill>
          <a:ln/>
        </p:spPr>
        <p:txBody>
          <a:bodyPr/>
          <a:lstStyle/>
          <a:p>
            <a:endParaRPr lang="en-AR"/>
          </a:p>
        </p:txBody>
      </p:sp>
      <p:sp>
        <p:nvSpPr>
          <p:cNvPr id="9" name="Shape 7"/>
          <p:cNvSpPr/>
          <p:nvPr/>
        </p:nvSpPr>
        <p:spPr>
          <a:xfrm>
            <a:off x="952500" y="4150519"/>
            <a:ext cx="16383000" cy="9525"/>
          </a:xfrm>
          <a:prstGeom prst="rect">
            <a:avLst/>
          </a:prstGeom>
          <a:solidFill>
            <a:srgbClr val="D9D2C0"/>
          </a:solidFill>
          <a:ln/>
        </p:spPr>
        <p:txBody>
          <a:bodyPr/>
          <a:lstStyle/>
          <a:p>
            <a:endParaRPr lang="en-AR"/>
          </a:p>
        </p:txBody>
      </p:sp>
      <p:sp>
        <p:nvSpPr>
          <p:cNvPr id="10" name="Shape 8"/>
          <p:cNvSpPr/>
          <p:nvPr/>
        </p:nvSpPr>
        <p:spPr>
          <a:xfrm>
            <a:off x="5038725" y="4160044"/>
            <a:ext cx="9525" cy="2540198"/>
          </a:xfrm>
          <a:prstGeom prst="rect">
            <a:avLst/>
          </a:prstGeom>
          <a:solidFill>
            <a:srgbClr val="D9D2C0"/>
          </a:solidFill>
          <a:ln/>
        </p:spPr>
        <p:txBody>
          <a:bodyPr/>
          <a:lstStyle/>
          <a:p>
            <a:endParaRPr lang="en-AR"/>
          </a:p>
        </p:txBody>
      </p:sp>
      <p:sp>
        <p:nvSpPr>
          <p:cNvPr id="11" name="Text 9"/>
          <p:cNvSpPr/>
          <p:nvPr/>
        </p:nvSpPr>
        <p:spPr>
          <a:xfrm>
            <a:off x="952500" y="4502944"/>
            <a:ext cx="3934111"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01</a:t>
            </a:r>
            <a:endParaRPr lang="en-US" sz="975" dirty="0"/>
          </a:p>
        </p:txBody>
      </p:sp>
      <p:sp>
        <p:nvSpPr>
          <p:cNvPr id="12" name="Text 10"/>
          <p:cNvSpPr/>
          <p:nvPr/>
        </p:nvSpPr>
        <p:spPr>
          <a:xfrm>
            <a:off x="952500" y="4802981"/>
            <a:ext cx="3934111"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AI contemplativa</a:t>
            </a:r>
            <a:endParaRPr lang="en-US" sz="2100" dirty="0"/>
          </a:p>
        </p:txBody>
      </p:sp>
      <p:sp>
        <p:nvSpPr>
          <p:cNvPr id="13" name="Text 11"/>
          <p:cNvSpPr/>
          <p:nvPr/>
        </p:nvSpPr>
        <p:spPr>
          <a:xfrm>
            <a:off x="952500" y="5237262"/>
            <a:ext cx="3934111" cy="8382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Investigación y consultoría en mindfulness, neurociencia y modelos de IA. Conecta aporta metodología; los templos, linaje.</a:t>
            </a:r>
            <a:endParaRPr lang="en-US" sz="1500" dirty="0"/>
          </a:p>
        </p:txBody>
      </p:sp>
      <p:sp>
        <p:nvSpPr>
          <p:cNvPr id="14" name="Shape 12"/>
          <p:cNvSpPr/>
          <p:nvPr/>
        </p:nvSpPr>
        <p:spPr>
          <a:xfrm>
            <a:off x="9134475" y="4160044"/>
            <a:ext cx="9525" cy="2540198"/>
          </a:xfrm>
          <a:prstGeom prst="rect">
            <a:avLst/>
          </a:prstGeom>
          <a:solidFill>
            <a:srgbClr val="D9D2C0"/>
          </a:solidFill>
          <a:ln/>
        </p:spPr>
        <p:txBody>
          <a:bodyPr/>
          <a:lstStyle/>
          <a:p>
            <a:endParaRPr lang="en-AR"/>
          </a:p>
        </p:txBody>
      </p:sp>
      <p:sp>
        <p:nvSpPr>
          <p:cNvPr id="15" name="Text 13"/>
          <p:cNvSpPr/>
          <p:nvPr/>
        </p:nvSpPr>
        <p:spPr>
          <a:xfrm>
            <a:off x="5314950" y="4502944"/>
            <a:ext cx="3659410"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02</a:t>
            </a:r>
            <a:endParaRPr lang="en-US" sz="975" dirty="0"/>
          </a:p>
        </p:txBody>
      </p:sp>
      <p:sp>
        <p:nvSpPr>
          <p:cNvPr id="16" name="Text 14"/>
          <p:cNvSpPr/>
          <p:nvPr/>
        </p:nvSpPr>
        <p:spPr>
          <a:xfrm>
            <a:off x="5314950" y="4802981"/>
            <a:ext cx="3659410"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Residencias técnicas</a:t>
            </a:r>
            <a:endParaRPr lang="en-US" sz="2100" dirty="0"/>
          </a:p>
        </p:txBody>
      </p:sp>
      <p:sp>
        <p:nvSpPr>
          <p:cNvPr id="17" name="Text 15"/>
          <p:cNvSpPr/>
          <p:nvPr/>
        </p:nvSpPr>
        <p:spPr>
          <a:xfrm>
            <a:off x="5314950" y="5237262"/>
            <a:ext cx="3659410" cy="8382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Programa monastic sabbatical de 3 a 12 meses para investigadores, ingenieros y founders asiáticos en la Patagonia.</a:t>
            </a:r>
            <a:endParaRPr lang="en-US" sz="1500" dirty="0"/>
          </a:p>
        </p:txBody>
      </p:sp>
      <p:sp>
        <p:nvSpPr>
          <p:cNvPr id="18" name="Shape 16"/>
          <p:cNvSpPr/>
          <p:nvPr/>
        </p:nvSpPr>
        <p:spPr>
          <a:xfrm>
            <a:off x="13230225" y="4160044"/>
            <a:ext cx="9525" cy="2540198"/>
          </a:xfrm>
          <a:prstGeom prst="rect">
            <a:avLst/>
          </a:prstGeom>
          <a:solidFill>
            <a:srgbClr val="D9D2C0"/>
          </a:solidFill>
          <a:ln/>
        </p:spPr>
        <p:txBody>
          <a:bodyPr/>
          <a:lstStyle/>
          <a:p>
            <a:endParaRPr lang="en-AR"/>
          </a:p>
        </p:txBody>
      </p:sp>
      <p:sp>
        <p:nvSpPr>
          <p:cNvPr id="19" name="Text 17"/>
          <p:cNvSpPr/>
          <p:nvPr/>
        </p:nvSpPr>
        <p:spPr>
          <a:xfrm>
            <a:off x="9410700" y="4502944"/>
            <a:ext cx="3659410"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03</a:t>
            </a:r>
            <a:endParaRPr lang="en-US" sz="975" dirty="0"/>
          </a:p>
        </p:txBody>
      </p:sp>
      <p:sp>
        <p:nvSpPr>
          <p:cNvPr id="20" name="Text 18"/>
          <p:cNvSpPr/>
          <p:nvPr/>
        </p:nvSpPr>
        <p:spPr>
          <a:xfrm>
            <a:off x="9410700" y="4802981"/>
            <a:ext cx="3659410" cy="678061"/>
          </a:xfrm>
          <a:prstGeom prst="rect">
            <a:avLst/>
          </a:prstGeom>
          <a:noFill/>
          <a:ln/>
        </p:spPr>
        <p:txBody>
          <a:bodyPr wrap="square" lIns="25400" tIns="25400" rIns="25400" bIns="25400" rtlCol="0" anchor="t">
            <a:normAutofit/>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Co-creación Argentina-Asia</a:t>
            </a:r>
            <a:endParaRPr lang="en-US" sz="2100" dirty="0"/>
          </a:p>
        </p:txBody>
      </p:sp>
      <p:sp>
        <p:nvSpPr>
          <p:cNvPr id="21" name="Text 19"/>
          <p:cNvSpPr/>
          <p:nvPr/>
        </p:nvSpPr>
        <p:spPr>
          <a:xfrm>
            <a:off x="9389745" y="5237262"/>
            <a:ext cx="3659410" cy="8382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Proyectos conjuntos con Conicet, UBA, ITBA y socios asiáticos en agritech andina, robótica educativa, energía limpia.</a:t>
            </a:r>
            <a:endParaRPr lang="en-US" sz="1500" dirty="0"/>
          </a:p>
        </p:txBody>
      </p:sp>
      <p:sp>
        <p:nvSpPr>
          <p:cNvPr id="22" name="Text 20"/>
          <p:cNvSpPr/>
          <p:nvPr/>
        </p:nvSpPr>
        <p:spPr>
          <a:xfrm>
            <a:off x="13506450" y="4502944"/>
            <a:ext cx="3943922"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04</a:t>
            </a:r>
            <a:endParaRPr lang="en-US" sz="975" dirty="0"/>
          </a:p>
        </p:txBody>
      </p:sp>
      <p:sp>
        <p:nvSpPr>
          <p:cNvPr id="23" name="Text 21"/>
          <p:cNvSpPr/>
          <p:nvPr/>
        </p:nvSpPr>
        <p:spPr>
          <a:xfrm>
            <a:off x="13506450" y="4802981"/>
            <a:ext cx="3943922"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Hub Asia-Patagonia</a:t>
            </a:r>
            <a:endParaRPr lang="en-US" sz="2100" dirty="0"/>
          </a:p>
        </p:txBody>
      </p:sp>
      <p:sp>
        <p:nvSpPr>
          <p:cNvPr id="24" name="Text 22"/>
          <p:cNvSpPr/>
          <p:nvPr/>
        </p:nvSpPr>
        <p:spPr>
          <a:xfrm>
            <a:off x="13506450" y="5237262"/>
            <a:ext cx="3943922" cy="571500"/>
          </a:xfrm>
          <a:prstGeom prst="rect">
            <a:avLst/>
          </a:prstGeom>
          <a:noFill/>
          <a:ln/>
        </p:spPr>
        <p:txBody>
          <a:bodyPr wrap="square" lIns="25400" tIns="25400" rIns="25400" bIns="25400" rtlCol="0" anchor="t">
            <a:normAutofit fontScale="70000" lnSpcReduction="200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Costo de talento argentino + huso horario intermedio Asia-EE.UU. + retiro contemplativo. Combinación irreplicable.</a:t>
            </a:r>
            <a:endParaRPr lang="en-US" sz="1500" dirty="0"/>
          </a:p>
        </p:txBody>
      </p:sp>
      <p:sp>
        <p:nvSpPr>
          <p:cNvPr id="25" name="Text 23"/>
          <p:cNvSpPr/>
          <p:nvPr/>
        </p:nvSpPr>
        <p:spPr>
          <a:xfrm>
            <a:off x="952500" y="7166967"/>
            <a:ext cx="13735050" cy="39714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dirty="0">
                <a:solidFill>
                  <a:srgbClr val="3A342A"/>
                </a:solidFill>
                <a:latin typeface="Georgia" pitchFamily="34" charset="0"/>
                <a:ea typeface="Georgia" pitchFamily="34" charset="-122"/>
                <a:cs typeface="Georgia" pitchFamily="34" charset="-120"/>
              </a:rPr>
              <a:t>Ningún hub tecnológico ofrece esta combinación. Por eso es </a:t>
            </a:r>
            <a:r>
              <a:rPr lang="en-US" sz="1950" dirty="0">
                <a:solidFill>
                  <a:srgbClr val="14110D"/>
                </a:solidFill>
                <a:latin typeface="Georgia" pitchFamily="34" charset="0"/>
                <a:ea typeface="Georgia" pitchFamily="34" charset="-122"/>
                <a:cs typeface="Georgia" pitchFamily="34" charset="-120"/>
              </a:rPr>
              <a:t>defendible</a:t>
            </a:r>
            <a:r>
              <a:rPr lang="en-US" sz="1950" dirty="0">
                <a:solidFill>
                  <a:srgbClr val="3A342A"/>
                </a:solidFill>
                <a:latin typeface="Georgia" pitchFamily="34" charset="0"/>
                <a:ea typeface="Georgia" pitchFamily="34" charset="-122"/>
                <a:cs typeface="Georgia" pitchFamily="34" charset="-120"/>
              </a:rPr>
              <a:t>.</a:t>
            </a:r>
            <a:endParaRPr lang="en-US" sz="1950" dirty="0"/>
          </a:p>
        </p:txBody>
      </p:sp>
      <p:sp>
        <p:nvSpPr>
          <p:cNvPr id="26" name="Shape 24"/>
          <p:cNvSpPr/>
          <p:nvPr/>
        </p:nvSpPr>
        <p:spPr>
          <a:xfrm>
            <a:off x="952500" y="9134475"/>
            <a:ext cx="16383000" cy="9525"/>
          </a:xfrm>
          <a:prstGeom prst="rect">
            <a:avLst/>
          </a:prstGeom>
          <a:solidFill>
            <a:srgbClr val="D9D2C0"/>
          </a:solidFill>
          <a:ln/>
        </p:spPr>
        <p:txBody>
          <a:bodyPr/>
          <a:lstStyle/>
          <a:p>
            <a:endParaRPr lang="en-AR"/>
          </a:p>
        </p:txBody>
      </p:sp>
      <p:sp>
        <p:nvSpPr>
          <p:cNvPr id="27" name="Text 25"/>
          <p:cNvSpPr/>
          <p:nvPr/>
        </p:nvSpPr>
        <p:spPr>
          <a:xfrm>
            <a:off x="952500" y="9372600"/>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28" name="Text 26"/>
          <p:cNvSpPr/>
          <p:nvPr/>
        </p:nvSpPr>
        <p:spPr>
          <a:xfrm>
            <a:off x="16796965" y="93726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24 / 40 </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8">
    <p:bg>
      <p:bgPr>
        <a:solidFill>
          <a:srgbClr val="F1ECE0"/>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5100920" y="804863"/>
            <a:ext cx="2310780"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 04 · MOTOR 02</a:t>
            </a:r>
            <a:endParaRPr lang="en-US" sz="1050" dirty="0"/>
          </a:p>
        </p:txBody>
      </p:sp>
      <p:sp>
        <p:nvSpPr>
          <p:cNvPr id="6" name="Text 4"/>
          <p:cNvSpPr/>
          <p:nvPr/>
        </p:nvSpPr>
        <p:spPr>
          <a:xfrm>
            <a:off x="952500" y="1752600"/>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CAPITAL DEL RETIRO CRIPTO/IA</a:t>
            </a:r>
            <a:endParaRPr lang="en-US" sz="1350" dirty="0"/>
          </a:p>
        </p:txBody>
      </p:sp>
      <p:sp>
        <p:nvSpPr>
          <p:cNvPr id="7" name="Text 5"/>
          <p:cNvSpPr/>
          <p:nvPr/>
        </p:nvSpPr>
        <p:spPr>
          <a:xfrm>
            <a:off x="952500" y="2190750"/>
            <a:ext cx="16874490" cy="1464469"/>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Vitalik, Naval, Sam Altman ya hacen Vipassana. </a:t>
            </a:r>
          </a:p>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La </a:t>
            </a:r>
            <a:r>
              <a:rPr lang="en-US" sz="5400" i="1" kern="0" spc="-97" dirty="0">
                <a:solidFill>
                  <a:srgbClr val="8A6420"/>
                </a:solidFill>
                <a:latin typeface="Georgia" pitchFamily="34" charset="0"/>
                <a:ea typeface="Georgia" pitchFamily="34" charset="-122"/>
                <a:cs typeface="Georgia" pitchFamily="34" charset="-120"/>
              </a:rPr>
              <a:t>afinidad existe.</a:t>
            </a:r>
            <a:endParaRPr lang="en-US" sz="5400" dirty="0"/>
          </a:p>
        </p:txBody>
      </p:sp>
      <p:sp>
        <p:nvSpPr>
          <p:cNvPr id="8" name="Shape 6"/>
          <p:cNvSpPr/>
          <p:nvPr/>
        </p:nvSpPr>
        <p:spPr>
          <a:xfrm>
            <a:off x="952500" y="6700242"/>
            <a:ext cx="16383000" cy="9525"/>
          </a:xfrm>
          <a:prstGeom prst="rect">
            <a:avLst/>
          </a:prstGeom>
          <a:solidFill>
            <a:srgbClr val="D9D2C0"/>
          </a:solidFill>
          <a:ln/>
        </p:spPr>
        <p:txBody>
          <a:bodyPr/>
          <a:lstStyle/>
          <a:p>
            <a:endParaRPr lang="en-AR"/>
          </a:p>
        </p:txBody>
      </p:sp>
      <p:sp>
        <p:nvSpPr>
          <p:cNvPr id="9" name="Shape 7"/>
          <p:cNvSpPr/>
          <p:nvPr/>
        </p:nvSpPr>
        <p:spPr>
          <a:xfrm>
            <a:off x="952500" y="4150519"/>
            <a:ext cx="16383000" cy="9525"/>
          </a:xfrm>
          <a:prstGeom prst="rect">
            <a:avLst/>
          </a:prstGeom>
          <a:solidFill>
            <a:srgbClr val="D9D2C0"/>
          </a:solidFill>
          <a:ln/>
        </p:spPr>
        <p:txBody>
          <a:bodyPr/>
          <a:lstStyle/>
          <a:p>
            <a:endParaRPr lang="en-AR"/>
          </a:p>
        </p:txBody>
      </p:sp>
      <p:sp>
        <p:nvSpPr>
          <p:cNvPr id="10" name="Shape 8"/>
          <p:cNvSpPr/>
          <p:nvPr/>
        </p:nvSpPr>
        <p:spPr>
          <a:xfrm>
            <a:off x="5038725" y="4160044"/>
            <a:ext cx="9525" cy="2540198"/>
          </a:xfrm>
          <a:prstGeom prst="rect">
            <a:avLst/>
          </a:prstGeom>
          <a:solidFill>
            <a:srgbClr val="D9D2C0"/>
          </a:solidFill>
          <a:ln/>
        </p:spPr>
        <p:txBody>
          <a:bodyPr/>
          <a:lstStyle/>
          <a:p>
            <a:endParaRPr lang="en-AR"/>
          </a:p>
        </p:txBody>
      </p:sp>
      <p:sp>
        <p:nvSpPr>
          <p:cNvPr id="11" name="Text 9"/>
          <p:cNvSpPr/>
          <p:nvPr/>
        </p:nvSpPr>
        <p:spPr>
          <a:xfrm>
            <a:off x="952500" y="4502944"/>
            <a:ext cx="3934111"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01</a:t>
            </a:r>
            <a:endParaRPr lang="en-US" sz="975" dirty="0"/>
          </a:p>
        </p:txBody>
      </p:sp>
      <p:sp>
        <p:nvSpPr>
          <p:cNvPr id="12" name="Text 10"/>
          <p:cNvSpPr/>
          <p:nvPr/>
        </p:nvSpPr>
        <p:spPr>
          <a:xfrm>
            <a:off x="952500" y="4802981"/>
            <a:ext cx="3934111"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Convenciones globales</a:t>
            </a:r>
            <a:endParaRPr lang="en-US" sz="2100" dirty="0"/>
          </a:p>
        </p:txBody>
      </p:sp>
      <p:sp>
        <p:nvSpPr>
          <p:cNvPr id="13" name="Text 11"/>
          <p:cNvSpPr/>
          <p:nvPr/>
        </p:nvSpPr>
        <p:spPr>
          <a:xfrm>
            <a:off x="952500" y="5237262"/>
            <a:ext cx="3934111" cy="8382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Formato Devcon, ETHGlobal, Web3 Summit pero integrado al circuito espiritual. Capacidad para 200 a 1.000 personas.</a:t>
            </a:r>
            <a:endParaRPr lang="en-US" sz="1500" dirty="0"/>
          </a:p>
        </p:txBody>
      </p:sp>
      <p:sp>
        <p:nvSpPr>
          <p:cNvPr id="14" name="Shape 12"/>
          <p:cNvSpPr/>
          <p:nvPr/>
        </p:nvSpPr>
        <p:spPr>
          <a:xfrm>
            <a:off x="9134475" y="4160044"/>
            <a:ext cx="9525" cy="2540198"/>
          </a:xfrm>
          <a:prstGeom prst="rect">
            <a:avLst/>
          </a:prstGeom>
          <a:solidFill>
            <a:srgbClr val="D9D2C0"/>
          </a:solidFill>
          <a:ln/>
        </p:spPr>
        <p:txBody>
          <a:bodyPr/>
          <a:lstStyle/>
          <a:p>
            <a:endParaRPr lang="en-AR"/>
          </a:p>
        </p:txBody>
      </p:sp>
      <p:sp>
        <p:nvSpPr>
          <p:cNvPr id="15" name="Text 13"/>
          <p:cNvSpPr/>
          <p:nvPr/>
        </p:nvSpPr>
        <p:spPr>
          <a:xfrm>
            <a:off x="5314950" y="4502944"/>
            <a:ext cx="3659410"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02</a:t>
            </a:r>
            <a:endParaRPr lang="en-US" sz="975" dirty="0"/>
          </a:p>
        </p:txBody>
      </p:sp>
      <p:sp>
        <p:nvSpPr>
          <p:cNvPr id="16" name="Text 14"/>
          <p:cNvSpPr/>
          <p:nvPr/>
        </p:nvSpPr>
        <p:spPr>
          <a:xfrm>
            <a:off x="5314950" y="4802981"/>
            <a:ext cx="3659410"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Retiros ejecutivos</a:t>
            </a:r>
            <a:endParaRPr lang="en-US" sz="2100" dirty="0"/>
          </a:p>
        </p:txBody>
      </p:sp>
      <p:sp>
        <p:nvSpPr>
          <p:cNvPr id="17" name="Text 15"/>
          <p:cNvSpPr/>
          <p:nvPr/>
        </p:nvSpPr>
        <p:spPr>
          <a:xfrm>
            <a:off x="5314950" y="5237262"/>
            <a:ext cx="3659410" cy="8382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Programas curados de 7 a 14 días para fundadores, CTOs e inversores. Práctica contemplativa profunda más networking.</a:t>
            </a:r>
            <a:endParaRPr lang="en-US" sz="1500" dirty="0"/>
          </a:p>
        </p:txBody>
      </p:sp>
      <p:sp>
        <p:nvSpPr>
          <p:cNvPr id="18" name="Shape 16"/>
          <p:cNvSpPr/>
          <p:nvPr/>
        </p:nvSpPr>
        <p:spPr>
          <a:xfrm>
            <a:off x="13230225" y="4160044"/>
            <a:ext cx="9525" cy="2540198"/>
          </a:xfrm>
          <a:prstGeom prst="rect">
            <a:avLst/>
          </a:prstGeom>
          <a:solidFill>
            <a:srgbClr val="D9D2C0"/>
          </a:solidFill>
          <a:ln/>
        </p:spPr>
        <p:txBody>
          <a:bodyPr/>
          <a:lstStyle/>
          <a:p>
            <a:endParaRPr lang="en-AR"/>
          </a:p>
        </p:txBody>
      </p:sp>
      <p:sp>
        <p:nvSpPr>
          <p:cNvPr id="19" name="Text 17"/>
          <p:cNvSpPr/>
          <p:nvPr/>
        </p:nvSpPr>
        <p:spPr>
          <a:xfrm>
            <a:off x="9410700" y="4502944"/>
            <a:ext cx="3659410"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03</a:t>
            </a:r>
            <a:endParaRPr lang="en-US" sz="975" dirty="0"/>
          </a:p>
        </p:txBody>
      </p:sp>
      <p:sp>
        <p:nvSpPr>
          <p:cNvPr id="20" name="Text 18"/>
          <p:cNvSpPr/>
          <p:nvPr/>
        </p:nvSpPr>
        <p:spPr>
          <a:xfrm>
            <a:off x="9410700" y="4802981"/>
            <a:ext cx="3659410" cy="678061"/>
          </a:xfrm>
          <a:prstGeom prst="rect">
            <a:avLst/>
          </a:prstGeom>
          <a:noFill/>
          <a:ln/>
        </p:spPr>
        <p:txBody>
          <a:bodyPr wrap="square" lIns="25400" tIns="25400" rIns="25400" bIns="25400" rtlCol="0" anchor="t">
            <a:normAutofit/>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Fondos y DAOs</a:t>
            </a:r>
            <a:endParaRPr lang="en-US" sz="2100" dirty="0"/>
          </a:p>
        </p:txBody>
      </p:sp>
      <p:sp>
        <p:nvSpPr>
          <p:cNvPr id="21" name="Text 19"/>
          <p:cNvSpPr/>
          <p:nvPr/>
        </p:nvSpPr>
        <p:spPr>
          <a:xfrm>
            <a:off x="9410700" y="5237262"/>
            <a:ext cx="3659410" cy="8382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Offsites estratégicos para venture funds, equipos en levantamiento de capital, comunidades DAO en pensamiento profundo.</a:t>
            </a:r>
            <a:endParaRPr lang="en-US" sz="1500" dirty="0"/>
          </a:p>
        </p:txBody>
      </p:sp>
      <p:sp>
        <p:nvSpPr>
          <p:cNvPr id="22" name="Text 20"/>
          <p:cNvSpPr/>
          <p:nvPr/>
        </p:nvSpPr>
        <p:spPr>
          <a:xfrm>
            <a:off x="13506450" y="4502944"/>
            <a:ext cx="3943922"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04</a:t>
            </a:r>
            <a:endParaRPr lang="en-US" sz="975" dirty="0"/>
          </a:p>
        </p:txBody>
      </p:sp>
      <p:sp>
        <p:nvSpPr>
          <p:cNvPr id="23" name="Text 21"/>
          <p:cNvSpPr/>
          <p:nvPr/>
        </p:nvSpPr>
        <p:spPr>
          <a:xfrm>
            <a:off x="13506450" y="4802981"/>
            <a:ext cx="3943922"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Alternativa a Lisboa, Bali, Dubai</a:t>
            </a:r>
            <a:endParaRPr lang="en-US" sz="2100" dirty="0"/>
          </a:p>
        </p:txBody>
      </p:sp>
      <p:sp>
        <p:nvSpPr>
          <p:cNvPr id="24" name="Text 22"/>
          <p:cNvSpPr/>
          <p:nvPr/>
        </p:nvSpPr>
        <p:spPr>
          <a:xfrm>
            <a:off x="13506450" y="5237262"/>
            <a:ext cx="3943922" cy="571500"/>
          </a:xfrm>
          <a:prstGeom prst="rect">
            <a:avLst/>
          </a:prstGeom>
          <a:noFill/>
          <a:ln/>
        </p:spPr>
        <p:txBody>
          <a:bodyPr wrap="square" lIns="25400" tIns="25400" rIns="25400" bIns="25400" rtlCol="0" anchor="t">
            <a:normAutofit fontScale="70000" lnSpcReduction="200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Único hub con base contemplativa real, aislamiento profundo y naturaleza patagónica. Diferencial irreplicable.</a:t>
            </a:r>
            <a:endParaRPr lang="en-US" sz="1500" dirty="0"/>
          </a:p>
        </p:txBody>
      </p:sp>
      <p:sp>
        <p:nvSpPr>
          <p:cNvPr id="25" name="Text 23"/>
          <p:cNvSpPr/>
          <p:nvPr/>
        </p:nvSpPr>
        <p:spPr>
          <a:xfrm>
            <a:off x="952500" y="7166967"/>
            <a:ext cx="13735050" cy="39714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dirty="0">
                <a:solidFill>
                  <a:srgbClr val="3A342A"/>
                </a:solidFill>
                <a:latin typeface="Georgia" pitchFamily="34" charset="0"/>
                <a:ea typeface="Georgia" pitchFamily="34" charset="-122"/>
                <a:cs typeface="Georgia" pitchFamily="34" charset="-120"/>
              </a:rPr>
              <a:t>Segmento de mayor poder adquisitivo del planeta. Es, además, el canal natural del </a:t>
            </a:r>
            <a:r>
              <a:rPr lang="en-US" sz="1950" dirty="0">
                <a:solidFill>
                  <a:srgbClr val="14110D"/>
                </a:solidFill>
                <a:latin typeface="Georgia" pitchFamily="34" charset="0"/>
                <a:ea typeface="Georgia" pitchFamily="34" charset="-122"/>
                <a:cs typeface="Georgia" pitchFamily="34" charset="-120"/>
              </a:rPr>
              <a:t>fundraising</a:t>
            </a:r>
            <a:r>
              <a:rPr lang="en-US" sz="1950" dirty="0">
                <a:solidFill>
                  <a:srgbClr val="3A342A"/>
                </a:solidFill>
                <a:latin typeface="Georgia" pitchFamily="34" charset="0"/>
                <a:ea typeface="Georgia" pitchFamily="34" charset="-122"/>
                <a:cs typeface="Georgia" pitchFamily="34" charset="-120"/>
              </a:rPr>
              <a:t>.</a:t>
            </a:r>
            <a:endParaRPr lang="en-US" sz="1950" dirty="0"/>
          </a:p>
        </p:txBody>
      </p:sp>
      <p:sp>
        <p:nvSpPr>
          <p:cNvPr id="26" name="Shape 24"/>
          <p:cNvSpPr/>
          <p:nvPr/>
        </p:nvSpPr>
        <p:spPr>
          <a:xfrm>
            <a:off x="952500" y="9134475"/>
            <a:ext cx="16383000" cy="9525"/>
          </a:xfrm>
          <a:prstGeom prst="rect">
            <a:avLst/>
          </a:prstGeom>
          <a:solidFill>
            <a:srgbClr val="D9D2C0"/>
          </a:solidFill>
          <a:ln/>
        </p:spPr>
        <p:txBody>
          <a:bodyPr/>
          <a:lstStyle/>
          <a:p>
            <a:endParaRPr lang="en-AR"/>
          </a:p>
        </p:txBody>
      </p:sp>
      <p:sp>
        <p:nvSpPr>
          <p:cNvPr id="27" name="Text 25"/>
          <p:cNvSpPr/>
          <p:nvPr/>
        </p:nvSpPr>
        <p:spPr>
          <a:xfrm>
            <a:off x="952500" y="9372600"/>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28" name="Text 26"/>
          <p:cNvSpPr/>
          <p:nvPr/>
        </p:nvSpPr>
        <p:spPr>
          <a:xfrm>
            <a:off x="16796965" y="93726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25 / 40 </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4">
    <p:bg>
      <p:bgPr>
        <a:solidFill>
          <a:srgbClr val="FAF8F3"/>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4994062" y="804863"/>
            <a:ext cx="241763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 04 · MOTOR 03</a:t>
            </a:r>
            <a:endParaRPr lang="en-US" sz="1050" dirty="0"/>
          </a:p>
        </p:txBody>
      </p:sp>
      <p:sp>
        <p:nvSpPr>
          <p:cNvPr id="6" name="Text 4"/>
          <p:cNvSpPr/>
          <p:nvPr/>
        </p:nvSpPr>
        <p:spPr>
          <a:xfrm>
            <a:off x="952500" y="1657350"/>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INFRAESTRUCTURA DE RETIRO</a:t>
            </a:r>
            <a:endParaRPr lang="en-US" sz="1350" dirty="0"/>
          </a:p>
        </p:txBody>
      </p:sp>
      <p:sp>
        <p:nvSpPr>
          <p:cNvPr id="7" name="Text 5"/>
          <p:cNvSpPr/>
          <p:nvPr/>
        </p:nvSpPr>
        <p:spPr>
          <a:xfrm>
            <a:off x="952500" y="2057400"/>
            <a:ext cx="16874490" cy="1464469"/>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Tres tipologías. Una capacidad </a:t>
            </a:r>
            <a:r>
              <a:rPr lang="en-US" sz="5400" i="1" kern="0" spc="-97" dirty="0">
                <a:solidFill>
                  <a:srgbClr val="8A6420"/>
                </a:solidFill>
                <a:latin typeface="Georgia" pitchFamily="34" charset="0"/>
                <a:ea typeface="Georgia" pitchFamily="34" charset="-122"/>
                <a:cs typeface="Georgia" pitchFamily="34" charset="-120"/>
              </a:rPr>
              <a:t>única en Sudamérica</a:t>
            </a:r>
            <a:r>
              <a:rPr lang="en-US" sz="5400" kern="0" spc="-97" dirty="0">
                <a:solidFill>
                  <a:srgbClr val="14110D"/>
                </a:solidFill>
                <a:latin typeface="Georgia" pitchFamily="34" charset="0"/>
                <a:ea typeface="Georgia" pitchFamily="34" charset="-122"/>
                <a:cs typeface="Georgia" pitchFamily="34" charset="-120"/>
              </a:rPr>
              <a:t>.</a:t>
            </a:r>
            <a:endParaRPr lang="en-US" sz="5400" dirty="0"/>
          </a:p>
        </p:txBody>
      </p:sp>
      <p:sp>
        <p:nvSpPr>
          <p:cNvPr id="8" name="Shape 6"/>
          <p:cNvSpPr/>
          <p:nvPr/>
        </p:nvSpPr>
        <p:spPr>
          <a:xfrm>
            <a:off x="952500" y="8377238"/>
            <a:ext cx="16383000" cy="9525"/>
          </a:xfrm>
          <a:prstGeom prst="rect">
            <a:avLst/>
          </a:prstGeom>
          <a:solidFill>
            <a:srgbClr val="D9D2C0"/>
          </a:solidFill>
          <a:ln/>
        </p:spPr>
        <p:txBody>
          <a:bodyPr/>
          <a:lstStyle/>
          <a:p>
            <a:endParaRPr lang="en-AR"/>
          </a:p>
        </p:txBody>
      </p:sp>
      <p:sp>
        <p:nvSpPr>
          <p:cNvPr id="9" name="Shape 7"/>
          <p:cNvSpPr/>
          <p:nvPr/>
        </p:nvSpPr>
        <p:spPr>
          <a:xfrm>
            <a:off x="952500" y="3940969"/>
            <a:ext cx="16383000" cy="9525"/>
          </a:xfrm>
          <a:prstGeom prst="rect">
            <a:avLst/>
          </a:prstGeom>
          <a:solidFill>
            <a:srgbClr val="D9D2C0"/>
          </a:solidFill>
          <a:ln/>
        </p:spPr>
        <p:txBody>
          <a:bodyPr/>
          <a:lstStyle/>
          <a:p>
            <a:endParaRPr lang="en-AR"/>
          </a:p>
        </p:txBody>
      </p:sp>
      <p:sp>
        <p:nvSpPr>
          <p:cNvPr id="10" name="Shape 8"/>
          <p:cNvSpPr/>
          <p:nvPr/>
        </p:nvSpPr>
        <p:spPr>
          <a:xfrm>
            <a:off x="4219575" y="3950494"/>
            <a:ext cx="9525" cy="4426744"/>
          </a:xfrm>
          <a:prstGeom prst="rect">
            <a:avLst/>
          </a:prstGeom>
          <a:solidFill>
            <a:srgbClr val="D9D2C0"/>
          </a:solidFill>
          <a:ln/>
        </p:spPr>
        <p:txBody>
          <a:bodyPr/>
          <a:lstStyle/>
          <a:p>
            <a:endParaRPr lang="en-AR"/>
          </a:p>
        </p:txBody>
      </p:sp>
      <p:sp>
        <p:nvSpPr>
          <p:cNvPr id="11" name="Text 9"/>
          <p:cNvSpPr/>
          <p:nvPr/>
        </p:nvSpPr>
        <p:spPr>
          <a:xfrm>
            <a:off x="1181100" y="4255294"/>
            <a:ext cx="2894171" cy="166688"/>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162" dirty="0">
                <a:solidFill>
                  <a:srgbClr val="8A6420"/>
                </a:solidFill>
                <a:latin typeface="Courier New" pitchFamily="34" charset="0"/>
                <a:ea typeface="Courier New" pitchFamily="34" charset="-122"/>
                <a:cs typeface="Courier New" pitchFamily="34" charset="-120"/>
              </a:rPr>
              <a:t>HERMITAGE</a:t>
            </a:r>
            <a:endParaRPr lang="en-US" sz="900" dirty="0"/>
          </a:p>
        </p:txBody>
      </p:sp>
      <p:sp>
        <p:nvSpPr>
          <p:cNvPr id="12" name="Text 10"/>
          <p:cNvSpPr/>
          <p:nvPr/>
        </p:nvSpPr>
        <p:spPr>
          <a:xfrm>
            <a:off x="1181100" y="4536281"/>
            <a:ext cx="2894171" cy="651421"/>
          </a:xfrm>
          <a:prstGeom prst="rect">
            <a:avLst/>
          </a:prstGeom>
          <a:noFill/>
          <a:ln/>
        </p:spPr>
        <p:txBody>
          <a:bodyPr wrap="square" lIns="25400" tIns="25400" rIns="25400" bIns="25400" rtlCol="0" anchor="t">
            <a:normAutofit/>
          </a:bodyPr>
          <a:lstStyle/>
          <a:p>
            <a:pPr marL="0" indent="0" algn="l">
              <a:lnSpc>
                <a:spcPct val="115000"/>
              </a:lnSpc>
              <a:buNone/>
            </a:pPr>
            <a:r>
              <a:rPr lang="en-US" sz="2100" dirty="0">
                <a:solidFill>
                  <a:srgbClr val="14110D"/>
                </a:solidFill>
                <a:latin typeface="Georgia" pitchFamily="34" charset="0"/>
                <a:ea typeface="Georgia" pitchFamily="34" charset="-122"/>
                <a:cs typeface="Georgia" pitchFamily="34" charset="-120"/>
              </a:rPr>
              <a:t>Cabañas individuales</a:t>
            </a:r>
            <a:endParaRPr lang="en-US" sz="2100" dirty="0"/>
          </a:p>
        </p:txBody>
      </p:sp>
      <p:sp>
        <p:nvSpPr>
          <p:cNvPr id="13" name="Text 11"/>
          <p:cNvSpPr/>
          <p:nvPr/>
        </p:nvSpPr>
        <p:spPr>
          <a:xfrm>
            <a:off x="1181100" y="7859092"/>
            <a:ext cx="2894171" cy="251445"/>
          </a:xfrm>
          <a:prstGeom prst="rect">
            <a:avLst/>
          </a:prstGeom>
          <a:noFill/>
          <a:ln/>
        </p:spPr>
        <p:txBody>
          <a:bodyPr wrap="square" lIns="25400" tIns="25400" rIns="25400" bIns="25400" rtlCol="0" anchor="t">
            <a:normAutofit fontScale="70000" lnSpcReduction="20000"/>
          </a:bodyPr>
          <a:lstStyle/>
          <a:p>
            <a:pPr marL="0" indent="0" algn="l">
              <a:lnSpc>
                <a:spcPct val="140000"/>
              </a:lnSpc>
              <a:buNone/>
            </a:pPr>
            <a:r>
              <a:rPr lang="en-US" sz="1200" kern="0" spc="6" dirty="0">
                <a:solidFill>
                  <a:srgbClr val="8A8170"/>
                </a:solidFill>
                <a:latin typeface="Arial" pitchFamily="34" charset="0"/>
                <a:ea typeface="Arial" pitchFamily="34" charset="-122"/>
                <a:cs typeface="Arial" pitchFamily="34" charset="-120"/>
              </a:rPr>
              <a:t>Retiro solitario de 7 a 90 días. Modelo Plum Village, Tushita.</a:t>
            </a:r>
            <a:endParaRPr lang="en-US" sz="1200" dirty="0"/>
          </a:p>
        </p:txBody>
      </p:sp>
      <p:sp>
        <p:nvSpPr>
          <p:cNvPr id="14" name="Shape 12"/>
          <p:cNvSpPr/>
          <p:nvPr/>
        </p:nvSpPr>
        <p:spPr>
          <a:xfrm>
            <a:off x="4229100" y="3950494"/>
            <a:ext cx="3276600" cy="4426744"/>
          </a:xfrm>
          <a:prstGeom prst="rect">
            <a:avLst/>
          </a:prstGeom>
          <a:solidFill>
            <a:srgbClr val="F1ECE0"/>
          </a:solidFill>
          <a:ln/>
        </p:spPr>
        <p:txBody>
          <a:bodyPr/>
          <a:lstStyle/>
          <a:p>
            <a:endParaRPr lang="en-AR"/>
          </a:p>
        </p:txBody>
      </p:sp>
      <p:sp>
        <p:nvSpPr>
          <p:cNvPr id="15" name="Shape 13"/>
          <p:cNvSpPr/>
          <p:nvPr/>
        </p:nvSpPr>
        <p:spPr>
          <a:xfrm>
            <a:off x="7496175" y="3950494"/>
            <a:ext cx="9525" cy="4426744"/>
          </a:xfrm>
          <a:prstGeom prst="rect">
            <a:avLst/>
          </a:prstGeom>
          <a:solidFill>
            <a:srgbClr val="D9D2C0"/>
          </a:solidFill>
          <a:ln/>
        </p:spPr>
        <p:txBody>
          <a:bodyPr/>
          <a:lstStyle/>
          <a:p>
            <a:endParaRPr lang="en-AR"/>
          </a:p>
        </p:txBody>
      </p:sp>
      <p:sp>
        <p:nvSpPr>
          <p:cNvPr id="16" name="Text 14"/>
          <p:cNvSpPr/>
          <p:nvPr/>
        </p:nvSpPr>
        <p:spPr>
          <a:xfrm>
            <a:off x="4457700" y="4255294"/>
            <a:ext cx="2894171" cy="166688"/>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162" dirty="0">
                <a:solidFill>
                  <a:srgbClr val="8A6420"/>
                </a:solidFill>
                <a:latin typeface="Courier New" pitchFamily="34" charset="0"/>
                <a:ea typeface="Courier New" pitchFamily="34" charset="-122"/>
                <a:cs typeface="Courier New" pitchFamily="34" charset="-120"/>
              </a:rPr>
              <a:t>CENTRO MEDIANO</a:t>
            </a:r>
            <a:endParaRPr lang="en-US" sz="900" dirty="0"/>
          </a:p>
        </p:txBody>
      </p:sp>
      <p:sp>
        <p:nvSpPr>
          <p:cNvPr id="17" name="Text 15"/>
          <p:cNvSpPr/>
          <p:nvPr/>
        </p:nvSpPr>
        <p:spPr>
          <a:xfrm>
            <a:off x="4457700" y="4536281"/>
            <a:ext cx="2894171" cy="34476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dirty="0">
                <a:solidFill>
                  <a:srgbClr val="14110D"/>
                </a:solidFill>
                <a:latin typeface="Georgia" pitchFamily="34" charset="0"/>
                <a:ea typeface="Georgia" pitchFamily="34" charset="-122"/>
                <a:cs typeface="Georgia" pitchFamily="34" charset="-120"/>
              </a:rPr>
              <a:t>20 a 50 personas</a:t>
            </a:r>
            <a:endParaRPr lang="en-US" sz="2100" dirty="0"/>
          </a:p>
        </p:txBody>
      </p:sp>
      <p:sp>
        <p:nvSpPr>
          <p:cNvPr id="18" name="Text 16"/>
          <p:cNvSpPr/>
          <p:nvPr/>
        </p:nvSpPr>
        <p:spPr>
          <a:xfrm>
            <a:off x="4457700" y="7645747"/>
            <a:ext cx="2894171" cy="46479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200" kern="0" spc="6" dirty="0">
                <a:solidFill>
                  <a:srgbClr val="8A8170"/>
                </a:solidFill>
                <a:latin typeface="Arial" pitchFamily="34" charset="0"/>
                <a:ea typeface="Arial" pitchFamily="34" charset="-122"/>
                <a:cs typeface="Arial" pitchFamily="34" charset="-120"/>
              </a:rPr>
              <a:t>Alquilable a maestros internacionales que traen sus alumnos.</a:t>
            </a:r>
            <a:endParaRPr lang="en-US" sz="1200" dirty="0"/>
          </a:p>
        </p:txBody>
      </p:sp>
      <p:sp>
        <p:nvSpPr>
          <p:cNvPr id="19" name="Shape 17"/>
          <p:cNvSpPr/>
          <p:nvPr/>
        </p:nvSpPr>
        <p:spPr>
          <a:xfrm>
            <a:off x="7505700" y="3950494"/>
            <a:ext cx="3276600" cy="4426744"/>
          </a:xfrm>
          <a:prstGeom prst="rect">
            <a:avLst/>
          </a:prstGeom>
          <a:solidFill>
            <a:srgbClr val="F1ECE0"/>
          </a:solidFill>
          <a:ln/>
        </p:spPr>
        <p:txBody>
          <a:bodyPr/>
          <a:lstStyle/>
          <a:p>
            <a:endParaRPr lang="en-AR"/>
          </a:p>
        </p:txBody>
      </p:sp>
      <p:sp>
        <p:nvSpPr>
          <p:cNvPr id="20" name="Shape 18"/>
          <p:cNvSpPr/>
          <p:nvPr/>
        </p:nvSpPr>
        <p:spPr>
          <a:xfrm>
            <a:off x="10772775" y="3950494"/>
            <a:ext cx="9525" cy="4426744"/>
          </a:xfrm>
          <a:prstGeom prst="rect">
            <a:avLst/>
          </a:prstGeom>
          <a:solidFill>
            <a:srgbClr val="D9D2C0"/>
          </a:solidFill>
          <a:ln/>
        </p:spPr>
        <p:txBody>
          <a:bodyPr/>
          <a:lstStyle/>
          <a:p>
            <a:endParaRPr lang="en-AR"/>
          </a:p>
        </p:txBody>
      </p:sp>
      <p:sp>
        <p:nvSpPr>
          <p:cNvPr id="21" name="Text 19"/>
          <p:cNvSpPr/>
          <p:nvPr/>
        </p:nvSpPr>
        <p:spPr>
          <a:xfrm>
            <a:off x="7734300" y="4255294"/>
            <a:ext cx="2894171" cy="166688"/>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162" dirty="0">
                <a:solidFill>
                  <a:srgbClr val="8A6420"/>
                </a:solidFill>
                <a:latin typeface="Courier New" pitchFamily="34" charset="0"/>
                <a:ea typeface="Courier New" pitchFamily="34" charset="-122"/>
                <a:cs typeface="Courier New" pitchFamily="34" charset="-120"/>
              </a:rPr>
              <a:t>CENTRO MAYOR</a:t>
            </a:r>
            <a:endParaRPr lang="en-US" sz="900" dirty="0"/>
          </a:p>
        </p:txBody>
      </p:sp>
      <p:sp>
        <p:nvSpPr>
          <p:cNvPr id="22" name="Text 20"/>
          <p:cNvSpPr/>
          <p:nvPr/>
        </p:nvSpPr>
        <p:spPr>
          <a:xfrm>
            <a:off x="7734300" y="4536281"/>
            <a:ext cx="2894171" cy="651421"/>
          </a:xfrm>
          <a:prstGeom prst="rect">
            <a:avLst/>
          </a:prstGeom>
          <a:noFill/>
          <a:ln/>
        </p:spPr>
        <p:txBody>
          <a:bodyPr wrap="square" lIns="25400" tIns="25400" rIns="25400" bIns="25400" rtlCol="0" anchor="t">
            <a:normAutofit/>
          </a:bodyPr>
          <a:lstStyle/>
          <a:p>
            <a:pPr marL="0" indent="0" algn="l">
              <a:lnSpc>
                <a:spcPct val="115000"/>
              </a:lnSpc>
              <a:buNone/>
            </a:pPr>
            <a:r>
              <a:rPr lang="en-US" sz="2100" dirty="0">
                <a:solidFill>
                  <a:srgbClr val="14110D"/>
                </a:solidFill>
                <a:latin typeface="Georgia" pitchFamily="34" charset="0"/>
                <a:ea typeface="Georgia" pitchFamily="34" charset="-122"/>
                <a:cs typeface="Georgia" pitchFamily="34" charset="-120"/>
              </a:rPr>
              <a:t>Hasta 200 personas</a:t>
            </a:r>
            <a:endParaRPr lang="en-US" sz="2100" dirty="0"/>
          </a:p>
        </p:txBody>
      </p:sp>
      <p:sp>
        <p:nvSpPr>
          <p:cNvPr id="23" name="Text 21"/>
          <p:cNvSpPr/>
          <p:nvPr/>
        </p:nvSpPr>
        <p:spPr>
          <a:xfrm>
            <a:off x="7734300" y="7859092"/>
            <a:ext cx="2894171" cy="251445"/>
          </a:xfrm>
          <a:prstGeom prst="rect">
            <a:avLst/>
          </a:prstGeom>
          <a:noFill/>
          <a:ln/>
        </p:spPr>
        <p:txBody>
          <a:bodyPr wrap="square" lIns="25400" tIns="25400" rIns="25400" bIns="25400" rtlCol="0" anchor="t">
            <a:normAutofit fontScale="77500" lnSpcReduction="20000"/>
          </a:bodyPr>
          <a:lstStyle/>
          <a:p>
            <a:pPr marL="0" indent="0" algn="l">
              <a:lnSpc>
                <a:spcPct val="140000"/>
              </a:lnSpc>
              <a:buNone/>
            </a:pPr>
            <a:r>
              <a:rPr lang="en-US" sz="1200" kern="0" spc="6" dirty="0">
                <a:solidFill>
                  <a:srgbClr val="8A8170"/>
                </a:solidFill>
                <a:latin typeface="Arial" pitchFamily="34" charset="0"/>
                <a:ea typeface="Arial" pitchFamily="34" charset="-122"/>
                <a:cs typeface="Arial" pitchFamily="34" charset="-120"/>
              </a:rPr>
              <a:t>Vipassana courses, retiros corporativos, conferencias.</a:t>
            </a:r>
            <a:endParaRPr lang="en-US" sz="1200" dirty="0"/>
          </a:p>
        </p:txBody>
      </p:sp>
      <p:sp>
        <p:nvSpPr>
          <p:cNvPr id="24" name="Shape 22"/>
          <p:cNvSpPr/>
          <p:nvPr/>
        </p:nvSpPr>
        <p:spPr>
          <a:xfrm>
            <a:off x="10782300" y="3950494"/>
            <a:ext cx="3276600" cy="4426744"/>
          </a:xfrm>
          <a:prstGeom prst="rect">
            <a:avLst/>
          </a:prstGeom>
          <a:solidFill>
            <a:srgbClr val="F1ECE0"/>
          </a:solidFill>
          <a:ln/>
        </p:spPr>
        <p:txBody>
          <a:bodyPr/>
          <a:lstStyle/>
          <a:p>
            <a:endParaRPr lang="en-AR"/>
          </a:p>
        </p:txBody>
      </p:sp>
      <p:sp>
        <p:nvSpPr>
          <p:cNvPr id="25" name="Shape 23"/>
          <p:cNvSpPr/>
          <p:nvPr/>
        </p:nvSpPr>
        <p:spPr>
          <a:xfrm>
            <a:off x="14049375" y="3950494"/>
            <a:ext cx="9525" cy="4426744"/>
          </a:xfrm>
          <a:prstGeom prst="rect">
            <a:avLst/>
          </a:prstGeom>
          <a:solidFill>
            <a:srgbClr val="D9D2C0"/>
          </a:solidFill>
          <a:ln/>
        </p:spPr>
        <p:txBody>
          <a:bodyPr/>
          <a:lstStyle/>
          <a:p>
            <a:endParaRPr lang="en-AR"/>
          </a:p>
        </p:txBody>
      </p:sp>
      <p:sp>
        <p:nvSpPr>
          <p:cNvPr id="26" name="Text 24"/>
          <p:cNvSpPr/>
          <p:nvPr/>
        </p:nvSpPr>
        <p:spPr>
          <a:xfrm>
            <a:off x="11010900" y="4255294"/>
            <a:ext cx="2894171" cy="166688"/>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162" dirty="0">
                <a:solidFill>
                  <a:srgbClr val="8A6420"/>
                </a:solidFill>
                <a:latin typeface="Courier New" pitchFamily="34" charset="0"/>
                <a:ea typeface="Courier New" pitchFamily="34" charset="-122"/>
                <a:cs typeface="Courier New" pitchFamily="34" charset="-120"/>
              </a:rPr>
              <a:t>VENTAJA · 01</a:t>
            </a:r>
            <a:endParaRPr lang="en-US" sz="900" dirty="0"/>
          </a:p>
        </p:txBody>
      </p:sp>
      <p:sp>
        <p:nvSpPr>
          <p:cNvPr id="27" name="Text 25"/>
          <p:cNvSpPr/>
          <p:nvPr/>
        </p:nvSpPr>
        <p:spPr>
          <a:xfrm>
            <a:off x="11010900" y="4536281"/>
            <a:ext cx="2894171" cy="651421"/>
          </a:xfrm>
          <a:prstGeom prst="rect">
            <a:avLst/>
          </a:prstGeom>
          <a:noFill/>
          <a:ln/>
        </p:spPr>
        <p:txBody>
          <a:bodyPr wrap="square" lIns="25400" tIns="25400" rIns="25400" bIns="25400" rtlCol="0" anchor="t">
            <a:normAutofit/>
          </a:bodyPr>
          <a:lstStyle/>
          <a:p>
            <a:pPr marL="0" indent="0" algn="l">
              <a:lnSpc>
                <a:spcPct val="115000"/>
              </a:lnSpc>
              <a:buNone/>
            </a:pPr>
            <a:r>
              <a:rPr lang="en-US" sz="2100" dirty="0">
                <a:solidFill>
                  <a:srgbClr val="14110D"/>
                </a:solidFill>
                <a:latin typeface="Georgia" pitchFamily="34" charset="0"/>
                <a:ea typeface="Georgia" pitchFamily="34" charset="-122"/>
                <a:cs typeface="Georgia" pitchFamily="34" charset="-120"/>
              </a:rPr>
              <a:t>Silencio profundo</a:t>
            </a:r>
            <a:endParaRPr lang="en-US" sz="2100" dirty="0"/>
          </a:p>
        </p:txBody>
      </p:sp>
      <p:sp>
        <p:nvSpPr>
          <p:cNvPr id="28" name="Text 26"/>
          <p:cNvSpPr/>
          <p:nvPr/>
        </p:nvSpPr>
        <p:spPr>
          <a:xfrm>
            <a:off x="11010900" y="7859092"/>
            <a:ext cx="2894171" cy="251445"/>
          </a:xfrm>
          <a:prstGeom prst="rect">
            <a:avLst/>
          </a:prstGeom>
          <a:noFill/>
          <a:ln/>
        </p:spPr>
        <p:txBody>
          <a:bodyPr wrap="square" lIns="25400" tIns="25400" rIns="25400" bIns="25400" rtlCol="0" anchor="t">
            <a:normAutofit fontScale="40000" lnSpcReduction="20000"/>
          </a:bodyPr>
          <a:lstStyle/>
          <a:p>
            <a:pPr marL="0" indent="0" algn="l">
              <a:lnSpc>
                <a:spcPct val="140000"/>
              </a:lnSpc>
              <a:buNone/>
            </a:pPr>
            <a:r>
              <a:rPr lang="en-US" sz="1200" kern="0" spc="6" dirty="0">
                <a:solidFill>
                  <a:srgbClr val="8A8170"/>
                </a:solidFill>
                <a:latin typeface="Arial" pitchFamily="34" charset="0"/>
                <a:ea typeface="Arial" pitchFamily="34" charset="-122"/>
                <a:cs typeface="Arial" pitchFamily="34" charset="-120"/>
              </a:rPr>
              <a:t>La Patagonia ofrece aislamiento real, algo que Bodh Gaya o Bali no pueden replicar.</a:t>
            </a:r>
            <a:endParaRPr lang="en-US" sz="1200" dirty="0"/>
          </a:p>
        </p:txBody>
      </p:sp>
      <p:sp>
        <p:nvSpPr>
          <p:cNvPr id="29" name="Shape 27"/>
          <p:cNvSpPr/>
          <p:nvPr/>
        </p:nvSpPr>
        <p:spPr>
          <a:xfrm>
            <a:off x="14058900" y="3950494"/>
            <a:ext cx="3276600" cy="4426744"/>
          </a:xfrm>
          <a:prstGeom prst="rect">
            <a:avLst/>
          </a:prstGeom>
          <a:solidFill>
            <a:srgbClr val="F1ECE0"/>
          </a:solidFill>
          <a:ln/>
        </p:spPr>
        <p:txBody>
          <a:bodyPr/>
          <a:lstStyle/>
          <a:p>
            <a:endParaRPr lang="en-AR"/>
          </a:p>
        </p:txBody>
      </p:sp>
      <p:sp>
        <p:nvSpPr>
          <p:cNvPr id="30" name="Text 28"/>
          <p:cNvSpPr/>
          <p:nvPr/>
        </p:nvSpPr>
        <p:spPr>
          <a:xfrm>
            <a:off x="14287500" y="4255294"/>
            <a:ext cx="2903982" cy="166688"/>
          </a:xfrm>
          <a:prstGeom prst="rect">
            <a:avLst/>
          </a:prstGeom>
          <a:noFill/>
          <a:ln/>
        </p:spPr>
        <p:txBody>
          <a:bodyPr wrap="square" lIns="25400" tIns="25400" rIns="25400" bIns="25400" rtlCol="0" anchor="t">
            <a:normAutofit fontScale="92500" lnSpcReduction="10000"/>
          </a:bodyPr>
          <a:lstStyle/>
          <a:p>
            <a:pPr marL="0" indent="0" algn="l">
              <a:buNone/>
            </a:pPr>
            <a:r>
              <a:rPr lang="en-US" sz="900" kern="0" spc="162" dirty="0">
                <a:solidFill>
                  <a:srgbClr val="8A6420"/>
                </a:solidFill>
                <a:latin typeface="Courier New" pitchFamily="34" charset="0"/>
                <a:ea typeface="Courier New" pitchFamily="34" charset="-122"/>
                <a:cs typeface="Courier New" pitchFamily="34" charset="-120"/>
              </a:rPr>
              <a:t>VENTAJA · 02</a:t>
            </a:r>
            <a:endParaRPr lang="en-US" sz="900" dirty="0"/>
          </a:p>
        </p:txBody>
      </p:sp>
      <p:sp>
        <p:nvSpPr>
          <p:cNvPr id="31" name="Text 29"/>
          <p:cNvSpPr/>
          <p:nvPr/>
        </p:nvSpPr>
        <p:spPr>
          <a:xfrm>
            <a:off x="14287500" y="4536281"/>
            <a:ext cx="2903982" cy="34476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dirty="0">
                <a:solidFill>
                  <a:srgbClr val="14110D"/>
                </a:solidFill>
                <a:latin typeface="Georgia" pitchFamily="34" charset="0"/>
                <a:ea typeface="Georgia" pitchFamily="34" charset="-122"/>
                <a:cs typeface="Georgia" pitchFamily="34" charset="-120"/>
              </a:rPr>
              <a:t>Geografía rentable</a:t>
            </a:r>
            <a:endParaRPr lang="en-US" sz="2100" dirty="0"/>
          </a:p>
        </p:txBody>
      </p:sp>
      <p:sp>
        <p:nvSpPr>
          <p:cNvPr id="32" name="Text 30"/>
          <p:cNvSpPr/>
          <p:nvPr/>
        </p:nvSpPr>
        <p:spPr>
          <a:xfrm>
            <a:off x="14287500" y="7859092"/>
            <a:ext cx="2903982" cy="251445"/>
          </a:xfrm>
          <a:prstGeom prst="rect">
            <a:avLst/>
          </a:prstGeom>
          <a:noFill/>
          <a:ln/>
        </p:spPr>
        <p:txBody>
          <a:bodyPr wrap="square" lIns="25400" tIns="25400" rIns="25400" bIns="25400" rtlCol="0" anchor="t">
            <a:normAutofit fontScale="40000" lnSpcReduction="20000"/>
          </a:bodyPr>
          <a:lstStyle/>
          <a:p>
            <a:pPr marL="0" indent="0" algn="l">
              <a:lnSpc>
                <a:spcPct val="140000"/>
              </a:lnSpc>
              <a:buNone/>
            </a:pPr>
            <a:r>
              <a:rPr lang="en-US" sz="1200" kern="0" spc="6" dirty="0">
                <a:solidFill>
                  <a:srgbClr val="8A8170"/>
                </a:solidFill>
                <a:latin typeface="Arial" pitchFamily="34" charset="0"/>
                <a:ea typeface="Arial" pitchFamily="34" charset="-122"/>
                <a:cs typeface="Arial" pitchFamily="34" charset="-120"/>
              </a:rPr>
              <a:t>Aire, paisaje y aislamiento son insumos del producto. La Patagonia los provee a costo cero.</a:t>
            </a:r>
            <a:endParaRPr lang="en-US" sz="1200" dirty="0"/>
          </a:p>
        </p:txBody>
      </p:sp>
      <p:sp>
        <p:nvSpPr>
          <p:cNvPr id="33" name="Text 31"/>
          <p:cNvSpPr/>
          <p:nvPr/>
        </p:nvSpPr>
        <p:spPr>
          <a:xfrm>
            <a:off x="952500" y="8691563"/>
            <a:ext cx="3983165"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FLUJO RECURRENTE</a:t>
            </a:r>
            <a:endParaRPr lang="en-US" sz="975" dirty="0"/>
          </a:p>
        </p:txBody>
      </p:sp>
      <p:sp>
        <p:nvSpPr>
          <p:cNvPr id="34" name="Text 32"/>
          <p:cNvSpPr/>
          <p:nvPr/>
        </p:nvSpPr>
        <p:spPr>
          <a:xfrm>
            <a:off x="952500" y="8896350"/>
            <a:ext cx="3983165"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3A342A"/>
                </a:solidFill>
                <a:latin typeface="Georgia" pitchFamily="34" charset="0"/>
                <a:ea typeface="Georgia" pitchFamily="34" charset="-122"/>
                <a:cs typeface="Georgia" pitchFamily="34" charset="-120"/>
              </a:rPr>
              <a:t>Tarifa por día y por cabeza</a:t>
            </a:r>
            <a:endParaRPr lang="en-US" sz="1650" dirty="0"/>
          </a:p>
        </p:txBody>
      </p:sp>
      <p:sp>
        <p:nvSpPr>
          <p:cNvPr id="35" name="Text 33"/>
          <p:cNvSpPr/>
          <p:nvPr/>
        </p:nvSpPr>
        <p:spPr>
          <a:xfrm>
            <a:off x="5124450" y="8896350"/>
            <a:ext cx="3983165"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3A342A"/>
                </a:solidFill>
                <a:latin typeface="Georgia" pitchFamily="34" charset="0"/>
                <a:ea typeface="Georgia" pitchFamily="34" charset="-122"/>
                <a:cs typeface="Georgia" pitchFamily="34" charset="-120"/>
              </a:rPr>
              <a:t>Maestros traen sus alumnos</a:t>
            </a:r>
            <a:endParaRPr lang="en-US" sz="1650" dirty="0"/>
          </a:p>
        </p:txBody>
      </p:sp>
      <p:sp>
        <p:nvSpPr>
          <p:cNvPr id="36" name="Text 34"/>
          <p:cNvSpPr/>
          <p:nvPr/>
        </p:nvSpPr>
        <p:spPr>
          <a:xfrm>
            <a:off x="9296400" y="8896350"/>
            <a:ext cx="3983165"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3A342A"/>
                </a:solidFill>
                <a:latin typeface="Georgia" pitchFamily="34" charset="0"/>
                <a:ea typeface="Georgia" pitchFamily="34" charset="-122"/>
                <a:cs typeface="Georgia" pitchFamily="34" charset="-120"/>
              </a:rPr>
              <a:t>Operación todo el año</a:t>
            </a:r>
            <a:endParaRPr lang="en-US" sz="1650" dirty="0"/>
          </a:p>
        </p:txBody>
      </p:sp>
      <p:sp>
        <p:nvSpPr>
          <p:cNvPr id="37" name="Text 35"/>
          <p:cNvSpPr/>
          <p:nvPr/>
        </p:nvSpPr>
        <p:spPr>
          <a:xfrm>
            <a:off x="13468350" y="8896350"/>
            <a:ext cx="3983165"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3A342A"/>
                </a:solidFill>
                <a:latin typeface="Georgia" pitchFamily="34" charset="0"/>
                <a:ea typeface="Georgia" pitchFamily="34" charset="-122"/>
                <a:cs typeface="Georgia" pitchFamily="34" charset="-120"/>
              </a:rPr>
              <a:t>Sostiene a la Fundación a largo plazo</a:t>
            </a:r>
            <a:endParaRPr lang="en-US" sz="1650" dirty="0"/>
          </a:p>
        </p:txBody>
      </p:sp>
      <p:sp>
        <p:nvSpPr>
          <p:cNvPr id="38" name="Shape 36"/>
          <p:cNvSpPr/>
          <p:nvPr/>
        </p:nvSpPr>
        <p:spPr>
          <a:xfrm>
            <a:off x="952500" y="9134475"/>
            <a:ext cx="16383000" cy="9525"/>
          </a:xfrm>
          <a:prstGeom prst="rect">
            <a:avLst/>
          </a:prstGeom>
          <a:solidFill>
            <a:srgbClr val="D9D2C0"/>
          </a:solidFill>
          <a:ln/>
        </p:spPr>
        <p:txBody>
          <a:bodyPr/>
          <a:lstStyle/>
          <a:p>
            <a:endParaRPr lang="en-AR"/>
          </a:p>
        </p:txBody>
      </p:sp>
      <p:sp>
        <p:nvSpPr>
          <p:cNvPr id="39" name="Text 37"/>
          <p:cNvSpPr/>
          <p:nvPr/>
        </p:nvSpPr>
        <p:spPr>
          <a:xfrm>
            <a:off x="952500" y="9372600"/>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40" name="Text 38"/>
          <p:cNvSpPr/>
          <p:nvPr/>
        </p:nvSpPr>
        <p:spPr>
          <a:xfrm>
            <a:off x="16796965" y="93726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26 / 40 </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8">
    <p:bg>
      <p:bgPr>
        <a:solidFill>
          <a:srgbClr val="F1ECE0"/>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5100920" y="804863"/>
            <a:ext cx="2310780"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 04 · MOTOR 03</a:t>
            </a:r>
            <a:endParaRPr lang="en-US" sz="1050" dirty="0"/>
          </a:p>
        </p:txBody>
      </p:sp>
      <p:sp>
        <p:nvSpPr>
          <p:cNvPr id="6" name="Text 4"/>
          <p:cNvSpPr/>
          <p:nvPr/>
        </p:nvSpPr>
        <p:spPr>
          <a:xfrm>
            <a:off x="952500" y="1752600"/>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EL MODELO DE NEGOCIO</a:t>
            </a:r>
            <a:endParaRPr lang="en-US" sz="1350" dirty="0"/>
          </a:p>
        </p:txBody>
      </p:sp>
      <p:sp>
        <p:nvSpPr>
          <p:cNvPr id="7" name="Text 5"/>
          <p:cNvSpPr/>
          <p:nvPr/>
        </p:nvSpPr>
        <p:spPr>
          <a:xfrm>
            <a:off x="952500" y="2190750"/>
            <a:ext cx="16874490" cy="1464469"/>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Cómo factura. A quién. </a:t>
            </a:r>
            <a:r>
              <a:rPr lang="en-US" sz="5400" i="1" kern="0" spc="-97" dirty="0">
                <a:solidFill>
                  <a:srgbClr val="8A6420"/>
                </a:solidFill>
                <a:latin typeface="Georgia" pitchFamily="34" charset="0"/>
                <a:ea typeface="Georgia" pitchFamily="34" charset="-122"/>
                <a:cs typeface="Georgia" pitchFamily="34" charset="-120"/>
              </a:rPr>
              <a:t>Sin ambigüedades.</a:t>
            </a:r>
            <a:endParaRPr lang="en-US" sz="5400" dirty="0"/>
          </a:p>
        </p:txBody>
      </p:sp>
      <p:sp>
        <p:nvSpPr>
          <p:cNvPr id="8" name="Shape 6"/>
          <p:cNvSpPr/>
          <p:nvPr/>
        </p:nvSpPr>
        <p:spPr>
          <a:xfrm>
            <a:off x="952500" y="6700242"/>
            <a:ext cx="16383000" cy="9525"/>
          </a:xfrm>
          <a:prstGeom prst="rect">
            <a:avLst/>
          </a:prstGeom>
          <a:solidFill>
            <a:srgbClr val="D9D2C0"/>
          </a:solidFill>
          <a:ln/>
        </p:spPr>
        <p:txBody>
          <a:bodyPr/>
          <a:lstStyle/>
          <a:p>
            <a:endParaRPr lang="en-AR"/>
          </a:p>
        </p:txBody>
      </p:sp>
      <p:sp>
        <p:nvSpPr>
          <p:cNvPr id="9" name="Shape 7"/>
          <p:cNvSpPr/>
          <p:nvPr/>
        </p:nvSpPr>
        <p:spPr>
          <a:xfrm>
            <a:off x="952500" y="4150519"/>
            <a:ext cx="16383000" cy="9525"/>
          </a:xfrm>
          <a:prstGeom prst="rect">
            <a:avLst/>
          </a:prstGeom>
          <a:solidFill>
            <a:srgbClr val="D9D2C0"/>
          </a:solidFill>
          <a:ln/>
        </p:spPr>
        <p:txBody>
          <a:bodyPr/>
          <a:lstStyle/>
          <a:p>
            <a:endParaRPr lang="en-AR"/>
          </a:p>
        </p:txBody>
      </p:sp>
      <p:sp>
        <p:nvSpPr>
          <p:cNvPr id="10" name="Shape 8"/>
          <p:cNvSpPr/>
          <p:nvPr/>
        </p:nvSpPr>
        <p:spPr>
          <a:xfrm>
            <a:off x="5038725" y="4160044"/>
            <a:ext cx="9525" cy="2540198"/>
          </a:xfrm>
          <a:prstGeom prst="rect">
            <a:avLst/>
          </a:prstGeom>
          <a:solidFill>
            <a:srgbClr val="D9D2C0"/>
          </a:solidFill>
          <a:ln/>
        </p:spPr>
        <p:txBody>
          <a:bodyPr/>
          <a:lstStyle/>
          <a:p>
            <a:endParaRPr lang="en-AR"/>
          </a:p>
        </p:txBody>
      </p:sp>
      <p:sp>
        <p:nvSpPr>
          <p:cNvPr id="11" name="Text 9"/>
          <p:cNvSpPr/>
          <p:nvPr/>
        </p:nvSpPr>
        <p:spPr>
          <a:xfrm>
            <a:off x="952500" y="4502944"/>
            <a:ext cx="3934111"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01</a:t>
            </a:r>
            <a:endParaRPr lang="en-US" sz="975" dirty="0"/>
          </a:p>
        </p:txBody>
      </p:sp>
      <p:sp>
        <p:nvSpPr>
          <p:cNvPr id="12" name="Text 10"/>
          <p:cNvSpPr/>
          <p:nvPr/>
        </p:nvSpPr>
        <p:spPr>
          <a:xfrm>
            <a:off x="952500" y="4802981"/>
            <a:ext cx="3934111"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Maestros y sanghas</a:t>
            </a:r>
            <a:endParaRPr lang="en-US" sz="2100" dirty="0"/>
          </a:p>
        </p:txBody>
      </p:sp>
      <p:sp>
        <p:nvSpPr>
          <p:cNvPr id="13" name="Text 11"/>
          <p:cNvSpPr/>
          <p:nvPr/>
        </p:nvSpPr>
        <p:spPr>
          <a:xfrm>
            <a:off x="952500" y="5237262"/>
            <a:ext cx="3934111" cy="8382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Cientos de maestros activos en Norteamérica y Europa hoy alquilan en Costa Rica, México o Asia. Mercado natural.</a:t>
            </a:r>
            <a:endParaRPr lang="en-US" sz="1500" dirty="0"/>
          </a:p>
        </p:txBody>
      </p:sp>
      <p:sp>
        <p:nvSpPr>
          <p:cNvPr id="14" name="Shape 12"/>
          <p:cNvSpPr/>
          <p:nvPr/>
        </p:nvSpPr>
        <p:spPr>
          <a:xfrm>
            <a:off x="9134475" y="4160044"/>
            <a:ext cx="9525" cy="2540198"/>
          </a:xfrm>
          <a:prstGeom prst="rect">
            <a:avLst/>
          </a:prstGeom>
          <a:solidFill>
            <a:srgbClr val="D9D2C0"/>
          </a:solidFill>
          <a:ln/>
        </p:spPr>
        <p:txBody>
          <a:bodyPr/>
          <a:lstStyle/>
          <a:p>
            <a:endParaRPr lang="en-AR"/>
          </a:p>
        </p:txBody>
      </p:sp>
      <p:sp>
        <p:nvSpPr>
          <p:cNvPr id="15" name="Text 13"/>
          <p:cNvSpPr/>
          <p:nvPr/>
        </p:nvSpPr>
        <p:spPr>
          <a:xfrm>
            <a:off x="5314950" y="4502944"/>
            <a:ext cx="3659410"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02</a:t>
            </a:r>
            <a:endParaRPr lang="en-US" sz="975" dirty="0"/>
          </a:p>
        </p:txBody>
      </p:sp>
      <p:sp>
        <p:nvSpPr>
          <p:cNvPr id="16" name="Text 14"/>
          <p:cNvSpPr/>
          <p:nvPr/>
        </p:nvSpPr>
        <p:spPr>
          <a:xfrm>
            <a:off x="5314950" y="4802981"/>
            <a:ext cx="3659410"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Empresas tech LATAM</a:t>
            </a:r>
            <a:endParaRPr lang="en-US" sz="2100" dirty="0"/>
          </a:p>
        </p:txBody>
      </p:sp>
      <p:sp>
        <p:nvSpPr>
          <p:cNvPr id="17" name="Text 15"/>
          <p:cNvSpPr/>
          <p:nvPr/>
        </p:nvSpPr>
        <p:spPr>
          <a:xfrm>
            <a:off x="5314950" y="5237262"/>
            <a:ext cx="3659410" cy="8382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Offsites de mindfulness y liderazgo. Mercado argentino concreto: Mercado Libre, Globant, Despegar, Google, Meta.</a:t>
            </a:r>
            <a:endParaRPr lang="en-US" sz="1500" dirty="0"/>
          </a:p>
        </p:txBody>
      </p:sp>
      <p:sp>
        <p:nvSpPr>
          <p:cNvPr id="18" name="Shape 16"/>
          <p:cNvSpPr/>
          <p:nvPr/>
        </p:nvSpPr>
        <p:spPr>
          <a:xfrm>
            <a:off x="13230225" y="4160044"/>
            <a:ext cx="9525" cy="2540198"/>
          </a:xfrm>
          <a:prstGeom prst="rect">
            <a:avLst/>
          </a:prstGeom>
          <a:solidFill>
            <a:srgbClr val="D9D2C0"/>
          </a:solidFill>
          <a:ln/>
        </p:spPr>
        <p:txBody>
          <a:bodyPr/>
          <a:lstStyle/>
          <a:p>
            <a:endParaRPr lang="en-AR"/>
          </a:p>
        </p:txBody>
      </p:sp>
      <p:sp>
        <p:nvSpPr>
          <p:cNvPr id="19" name="Text 17"/>
          <p:cNvSpPr/>
          <p:nvPr/>
        </p:nvSpPr>
        <p:spPr>
          <a:xfrm>
            <a:off x="9410700" y="4502944"/>
            <a:ext cx="3659410"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03</a:t>
            </a:r>
            <a:endParaRPr lang="en-US" sz="975" dirty="0"/>
          </a:p>
        </p:txBody>
      </p:sp>
      <p:sp>
        <p:nvSpPr>
          <p:cNvPr id="20" name="Text 18"/>
          <p:cNvSpPr/>
          <p:nvPr/>
        </p:nvSpPr>
        <p:spPr>
          <a:xfrm>
            <a:off x="9410700" y="4802981"/>
            <a:ext cx="3659410" cy="678061"/>
          </a:xfrm>
          <a:prstGeom prst="rect">
            <a:avLst/>
          </a:prstGeom>
          <a:noFill/>
          <a:ln/>
        </p:spPr>
        <p:txBody>
          <a:bodyPr wrap="square" lIns="25400" tIns="25400" rIns="25400" bIns="25400" rtlCol="0" anchor="t">
            <a:normAutofit/>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Salud mental y academia</a:t>
            </a:r>
            <a:endParaRPr lang="en-US" sz="2100" dirty="0"/>
          </a:p>
        </p:txBody>
      </p:sp>
      <p:sp>
        <p:nvSpPr>
          <p:cNvPr id="21" name="Text 19"/>
          <p:cNvSpPr/>
          <p:nvPr/>
        </p:nvSpPr>
        <p:spPr>
          <a:xfrm>
            <a:off x="9410700" y="5237262"/>
            <a:ext cx="3659410" cy="8382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Convenios con hospitales, facultades, mutuales. Programas universitarios e investigación clínica con mindfulness.</a:t>
            </a:r>
            <a:endParaRPr lang="en-US" sz="1500" dirty="0"/>
          </a:p>
        </p:txBody>
      </p:sp>
      <p:sp>
        <p:nvSpPr>
          <p:cNvPr id="22" name="Text 20"/>
          <p:cNvSpPr/>
          <p:nvPr/>
        </p:nvSpPr>
        <p:spPr>
          <a:xfrm>
            <a:off x="13506450" y="4502944"/>
            <a:ext cx="3943922"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04</a:t>
            </a:r>
            <a:endParaRPr lang="en-US" sz="975" dirty="0"/>
          </a:p>
        </p:txBody>
      </p:sp>
      <p:sp>
        <p:nvSpPr>
          <p:cNvPr id="23" name="Text 21"/>
          <p:cNvSpPr/>
          <p:nvPr/>
        </p:nvSpPr>
        <p:spPr>
          <a:xfrm>
            <a:off x="13506450" y="4802981"/>
            <a:ext cx="3943922"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Sostén de Conecta</a:t>
            </a:r>
            <a:endParaRPr lang="en-US" sz="2100" dirty="0"/>
          </a:p>
        </p:txBody>
      </p:sp>
      <p:sp>
        <p:nvSpPr>
          <p:cNvPr id="24" name="Text 22"/>
          <p:cNvSpPr/>
          <p:nvPr/>
        </p:nvSpPr>
        <p:spPr>
          <a:xfrm>
            <a:off x="13506450" y="5237262"/>
            <a:ext cx="3943922" cy="571500"/>
          </a:xfrm>
          <a:prstGeom prst="rect">
            <a:avLst/>
          </a:prstGeom>
          <a:noFill/>
          <a:ln/>
        </p:spPr>
        <p:txBody>
          <a:bodyPr wrap="square" lIns="25400" tIns="25400" rIns="25400" bIns="25400" rtlCol="0" anchor="t">
            <a:normAutofit fontScale="70000" lnSpcReduction="200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Flujo recurrente que financia la operación de la Fundación cuando pase la novedad. Resuelve la pregunta del donante.</a:t>
            </a:r>
            <a:endParaRPr lang="en-US" sz="1500" dirty="0"/>
          </a:p>
        </p:txBody>
      </p:sp>
      <p:sp>
        <p:nvSpPr>
          <p:cNvPr id="25" name="Text 23"/>
          <p:cNvSpPr/>
          <p:nvPr/>
        </p:nvSpPr>
        <p:spPr>
          <a:xfrm>
            <a:off x="952500" y="7166967"/>
            <a:ext cx="13735050" cy="39714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dirty="0">
                <a:solidFill>
                  <a:srgbClr val="3A342A"/>
                </a:solidFill>
                <a:latin typeface="Georgia" pitchFamily="34" charset="0"/>
                <a:ea typeface="Georgia" pitchFamily="34" charset="-122"/>
                <a:cs typeface="Georgia" pitchFamily="34" charset="-120"/>
              </a:rPr>
              <a:t>Los retiros son la pata más concreta y monetizable. Pasan de wishlist a </a:t>
            </a:r>
            <a:r>
              <a:rPr lang="en-US" sz="1950" dirty="0">
                <a:solidFill>
                  <a:srgbClr val="14110D"/>
                </a:solidFill>
                <a:latin typeface="Georgia" pitchFamily="34" charset="0"/>
                <a:ea typeface="Georgia" pitchFamily="34" charset="-122"/>
                <a:cs typeface="Georgia" pitchFamily="34" charset="-120"/>
              </a:rPr>
              <a:t>P&amp;L positivo</a:t>
            </a:r>
            <a:r>
              <a:rPr lang="en-US" sz="1950" dirty="0">
                <a:solidFill>
                  <a:srgbClr val="3A342A"/>
                </a:solidFill>
                <a:latin typeface="Georgia" pitchFamily="34" charset="0"/>
                <a:ea typeface="Georgia" pitchFamily="34" charset="-122"/>
                <a:cs typeface="Georgia" pitchFamily="34" charset="-120"/>
              </a:rPr>
              <a:t>.</a:t>
            </a:r>
            <a:endParaRPr lang="en-US" sz="1950" dirty="0"/>
          </a:p>
        </p:txBody>
      </p:sp>
      <p:sp>
        <p:nvSpPr>
          <p:cNvPr id="26" name="Shape 24"/>
          <p:cNvSpPr/>
          <p:nvPr/>
        </p:nvSpPr>
        <p:spPr>
          <a:xfrm>
            <a:off x="952500" y="9134475"/>
            <a:ext cx="16383000" cy="9525"/>
          </a:xfrm>
          <a:prstGeom prst="rect">
            <a:avLst/>
          </a:prstGeom>
          <a:solidFill>
            <a:srgbClr val="D9D2C0"/>
          </a:solidFill>
          <a:ln/>
        </p:spPr>
        <p:txBody>
          <a:bodyPr/>
          <a:lstStyle/>
          <a:p>
            <a:endParaRPr lang="en-AR"/>
          </a:p>
        </p:txBody>
      </p:sp>
      <p:sp>
        <p:nvSpPr>
          <p:cNvPr id="27" name="Text 25"/>
          <p:cNvSpPr/>
          <p:nvPr/>
        </p:nvSpPr>
        <p:spPr>
          <a:xfrm>
            <a:off x="952500" y="9372600"/>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28" name="Text 26"/>
          <p:cNvSpPr/>
          <p:nvPr/>
        </p:nvSpPr>
        <p:spPr>
          <a:xfrm>
            <a:off x="16796965" y="93726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27 / 40 </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1">
    <p:bg>
      <p:bgPr>
        <a:solidFill>
          <a:srgbClr val="FAF8F3"/>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5249823" y="804863"/>
            <a:ext cx="2161877"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 04 · MOTOR 04</a:t>
            </a:r>
            <a:endParaRPr lang="en-US" sz="1050" dirty="0"/>
          </a:p>
        </p:txBody>
      </p:sp>
      <p:sp>
        <p:nvSpPr>
          <p:cNvPr id="6" name="Text 4"/>
          <p:cNvSpPr/>
          <p:nvPr/>
        </p:nvSpPr>
        <p:spPr>
          <a:xfrm>
            <a:off x="952500" y="2441302"/>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PRODUCTORES DE OBJETOS RITUALES BUDISTAS EN LAS AMÉRICAS</a:t>
            </a:r>
            <a:endParaRPr lang="en-US" sz="1350" dirty="0"/>
          </a:p>
        </p:txBody>
      </p:sp>
      <p:sp>
        <p:nvSpPr>
          <p:cNvPr id="7" name="Text 5"/>
          <p:cNvSpPr/>
          <p:nvPr/>
        </p:nvSpPr>
        <p:spPr>
          <a:xfrm>
            <a:off x="952500" y="2917552"/>
            <a:ext cx="5452401" cy="3192735"/>
          </a:xfrm>
          <a:prstGeom prst="rect">
            <a:avLst/>
          </a:prstGeom>
          <a:noFill/>
          <a:ln/>
        </p:spPr>
        <p:txBody>
          <a:bodyPr wrap="square" lIns="25400" tIns="25400" rIns="25400" bIns="25400" rtlCol="0" anchor="t">
            <a:normAutofit fontScale="92500" lnSpcReduction="10000"/>
          </a:bodyPr>
          <a:lstStyle/>
          <a:p>
            <a:pPr marL="0" indent="0" algn="l">
              <a:lnSpc>
                <a:spcPct val="92000"/>
              </a:lnSpc>
              <a:buNone/>
            </a:pPr>
            <a:r>
              <a:rPr lang="en-US" sz="27000" kern="0" spc="-1080" dirty="0">
                <a:solidFill>
                  <a:srgbClr val="14110D"/>
                </a:solidFill>
                <a:latin typeface="Georgia" pitchFamily="34" charset="0"/>
                <a:ea typeface="Georgia" pitchFamily="34" charset="-122"/>
                <a:cs typeface="Georgia" pitchFamily="34" charset="-120"/>
              </a:rPr>
              <a:t>0 </a:t>
            </a:r>
            <a:r>
              <a:rPr lang="en-US" sz="8640" kern="0" spc="-1080" dirty="0">
                <a:solidFill>
                  <a:srgbClr val="8A6420"/>
                </a:solidFill>
                <a:latin typeface="Georgia" pitchFamily="34" charset="0"/>
                <a:ea typeface="Georgia" pitchFamily="34" charset="-122"/>
                <a:cs typeface="Georgia" pitchFamily="34" charset="-120"/>
              </a:rPr>
              <a:t> </a:t>
            </a:r>
            <a:endParaRPr lang="en-US" sz="27000" dirty="0"/>
          </a:p>
        </p:txBody>
      </p:sp>
      <p:sp>
        <p:nvSpPr>
          <p:cNvPr id="8" name="Text 6"/>
          <p:cNvSpPr/>
          <p:nvPr/>
        </p:nvSpPr>
        <p:spPr>
          <a:xfrm>
            <a:off x="952500" y="6300788"/>
            <a:ext cx="16874490" cy="361950"/>
          </a:xfrm>
          <a:prstGeom prst="rect">
            <a:avLst/>
          </a:prstGeom>
          <a:noFill/>
          <a:ln/>
        </p:spPr>
        <p:txBody>
          <a:bodyPr wrap="square" lIns="25400" tIns="25400" rIns="25400" bIns="25400" rtlCol="0" anchor="t">
            <a:normAutofit lnSpcReduction="10000"/>
          </a:bodyPr>
          <a:lstStyle/>
          <a:p>
            <a:pPr marL="0" indent="0" algn="l">
              <a:buNone/>
            </a:pPr>
            <a:r>
              <a:rPr lang="en-US" sz="2100" kern="0" spc="336" dirty="0">
                <a:solidFill>
                  <a:srgbClr val="8A6420"/>
                </a:solidFill>
                <a:latin typeface="Arial" pitchFamily="34" charset="0"/>
                <a:ea typeface="Arial" pitchFamily="34" charset="-122"/>
                <a:cs typeface="Arial" pitchFamily="34" charset="-120"/>
              </a:rPr>
              <a:t>CERO PRODUCTORES SERIOS EN TODO EL CONTINENTE AMERICANO</a:t>
            </a:r>
            <a:endParaRPr lang="en-US" sz="2100" dirty="0"/>
          </a:p>
        </p:txBody>
      </p:sp>
      <p:sp>
        <p:nvSpPr>
          <p:cNvPr id="9" name="Text 7"/>
          <p:cNvSpPr/>
          <p:nvPr/>
        </p:nvSpPr>
        <p:spPr>
          <a:xfrm>
            <a:off x="952500" y="7196138"/>
            <a:ext cx="11772900" cy="811411"/>
          </a:xfrm>
          <a:prstGeom prst="rect">
            <a:avLst/>
          </a:prstGeom>
          <a:noFill/>
          <a:ln/>
        </p:spPr>
        <p:txBody>
          <a:bodyPr wrap="square" lIns="25400" tIns="25400" rIns="25400" bIns="25400" rtlCol="0" anchor="t">
            <a:normAutofit fontScale="70000" lnSpcReduction="20000"/>
          </a:bodyPr>
          <a:lstStyle/>
          <a:p>
            <a:pPr marL="0" indent="0" algn="l">
              <a:lnSpc>
                <a:spcPct val="145000"/>
              </a:lnSpc>
              <a:buNone/>
            </a:pPr>
            <a:r>
              <a:rPr lang="en-US" sz="2100" dirty="0">
                <a:solidFill>
                  <a:srgbClr val="3A342A"/>
                </a:solidFill>
                <a:latin typeface="Georgia" pitchFamily="34" charset="0"/>
                <a:ea typeface="Georgia" pitchFamily="34" charset="-122"/>
                <a:cs typeface="Georgia" pitchFamily="34" charset="-120"/>
              </a:rPr>
              <a:t>Decenas de millones de practicantes y simpatizantes en EE.UU., México, Brasil, Argentina, Chile, Colombia. Toda la oferta de malas, thangkas, estatuas, campanas y dorjes, banderas, incienso, almohadones y materiales de altar viene importada pieza a pieza desde Asia.</a:t>
            </a:r>
            <a:endParaRPr lang="en-US" sz="2100" dirty="0"/>
          </a:p>
        </p:txBody>
      </p:sp>
      <p:sp>
        <p:nvSpPr>
          <p:cNvPr id="10" name="Shape 8"/>
          <p:cNvSpPr/>
          <p:nvPr/>
        </p:nvSpPr>
        <p:spPr>
          <a:xfrm>
            <a:off x="952500" y="9134475"/>
            <a:ext cx="16383000" cy="9525"/>
          </a:xfrm>
          <a:prstGeom prst="rect">
            <a:avLst/>
          </a:prstGeom>
          <a:solidFill>
            <a:srgbClr val="D9D2C0"/>
          </a:solidFill>
          <a:ln/>
        </p:spPr>
        <p:txBody>
          <a:bodyPr/>
          <a:lstStyle/>
          <a:p>
            <a:endParaRPr lang="en-AR"/>
          </a:p>
        </p:txBody>
      </p:sp>
      <p:sp>
        <p:nvSpPr>
          <p:cNvPr id="11" name="Text 9"/>
          <p:cNvSpPr/>
          <p:nvPr/>
        </p:nvSpPr>
        <p:spPr>
          <a:xfrm>
            <a:off x="952500" y="9372600"/>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12" name="Text 10"/>
          <p:cNvSpPr/>
          <p:nvPr/>
        </p:nvSpPr>
        <p:spPr>
          <a:xfrm>
            <a:off x="16806863" y="9372600"/>
            <a:ext cx="60483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28 / 40 </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8">
    <p:bg>
      <p:bgPr>
        <a:solidFill>
          <a:srgbClr val="F1ECE0"/>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5100920" y="804863"/>
            <a:ext cx="2310780"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 04 · MOTOR 04</a:t>
            </a:r>
            <a:endParaRPr lang="en-US" sz="1050" dirty="0"/>
          </a:p>
        </p:txBody>
      </p:sp>
      <p:sp>
        <p:nvSpPr>
          <p:cNvPr id="6" name="Text 4"/>
          <p:cNvSpPr/>
          <p:nvPr/>
        </p:nvSpPr>
        <p:spPr>
          <a:xfrm>
            <a:off x="952500" y="1752600"/>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POR QUÉ ESQUEL PRODUCE MEJOR</a:t>
            </a:r>
            <a:endParaRPr lang="en-US" sz="1350" dirty="0"/>
          </a:p>
        </p:txBody>
      </p:sp>
      <p:sp>
        <p:nvSpPr>
          <p:cNvPr id="7" name="Text 5"/>
          <p:cNvSpPr/>
          <p:nvPr/>
        </p:nvSpPr>
        <p:spPr>
          <a:xfrm>
            <a:off x="952500" y="2190750"/>
            <a:ext cx="16874490" cy="1464469"/>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Cuatro ventajas estructurales contra </a:t>
            </a:r>
            <a:r>
              <a:rPr lang="en-US" sz="5400" i="1" kern="0" spc="-97" dirty="0">
                <a:solidFill>
                  <a:srgbClr val="8A6420"/>
                </a:solidFill>
                <a:latin typeface="Georgia" pitchFamily="34" charset="0"/>
                <a:ea typeface="Georgia" pitchFamily="34" charset="-122"/>
                <a:cs typeface="Georgia" pitchFamily="34" charset="-120"/>
              </a:rPr>
              <a:t>importar de Asia.</a:t>
            </a:r>
            <a:endParaRPr lang="en-US" sz="5400" dirty="0"/>
          </a:p>
        </p:txBody>
      </p:sp>
      <p:sp>
        <p:nvSpPr>
          <p:cNvPr id="8" name="Shape 6"/>
          <p:cNvSpPr/>
          <p:nvPr/>
        </p:nvSpPr>
        <p:spPr>
          <a:xfrm>
            <a:off x="952500" y="6700242"/>
            <a:ext cx="16383000" cy="9525"/>
          </a:xfrm>
          <a:prstGeom prst="rect">
            <a:avLst/>
          </a:prstGeom>
          <a:solidFill>
            <a:srgbClr val="D9D2C0"/>
          </a:solidFill>
          <a:ln/>
        </p:spPr>
        <p:txBody>
          <a:bodyPr/>
          <a:lstStyle/>
          <a:p>
            <a:endParaRPr lang="en-AR"/>
          </a:p>
        </p:txBody>
      </p:sp>
      <p:sp>
        <p:nvSpPr>
          <p:cNvPr id="9" name="Shape 7"/>
          <p:cNvSpPr/>
          <p:nvPr/>
        </p:nvSpPr>
        <p:spPr>
          <a:xfrm>
            <a:off x="952500" y="4150519"/>
            <a:ext cx="16383000" cy="9525"/>
          </a:xfrm>
          <a:prstGeom prst="rect">
            <a:avLst/>
          </a:prstGeom>
          <a:solidFill>
            <a:srgbClr val="D9D2C0"/>
          </a:solidFill>
          <a:ln/>
        </p:spPr>
        <p:txBody>
          <a:bodyPr/>
          <a:lstStyle/>
          <a:p>
            <a:endParaRPr lang="en-AR"/>
          </a:p>
        </p:txBody>
      </p:sp>
      <p:sp>
        <p:nvSpPr>
          <p:cNvPr id="10" name="Shape 8"/>
          <p:cNvSpPr/>
          <p:nvPr/>
        </p:nvSpPr>
        <p:spPr>
          <a:xfrm>
            <a:off x="5038725" y="4160044"/>
            <a:ext cx="9525" cy="2540198"/>
          </a:xfrm>
          <a:prstGeom prst="rect">
            <a:avLst/>
          </a:prstGeom>
          <a:solidFill>
            <a:srgbClr val="D9D2C0"/>
          </a:solidFill>
          <a:ln/>
        </p:spPr>
        <p:txBody>
          <a:bodyPr/>
          <a:lstStyle/>
          <a:p>
            <a:endParaRPr lang="en-AR"/>
          </a:p>
        </p:txBody>
      </p:sp>
      <p:sp>
        <p:nvSpPr>
          <p:cNvPr id="11" name="Text 9"/>
          <p:cNvSpPr/>
          <p:nvPr/>
        </p:nvSpPr>
        <p:spPr>
          <a:xfrm>
            <a:off x="952500" y="4502944"/>
            <a:ext cx="3934111"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01</a:t>
            </a:r>
            <a:endParaRPr lang="en-US" sz="975" dirty="0"/>
          </a:p>
        </p:txBody>
      </p:sp>
      <p:sp>
        <p:nvSpPr>
          <p:cNvPr id="12" name="Text 10"/>
          <p:cNvSpPr/>
          <p:nvPr/>
        </p:nvSpPr>
        <p:spPr>
          <a:xfrm>
            <a:off x="952500" y="4802981"/>
            <a:ext cx="3934111"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Oficios patagónicos</a:t>
            </a:r>
            <a:endParaRPr lang="en-US" sz="2100" dirty="0"/>
          </a:p>
        </p:txBody>
      </p:sp>
      <p:sp>
        <p:nvSpPr>
          <p:cNvPr id="13" name="Text 11"/>
          <p:cNvSpPr/>
          <p:nvPr/>
        </p:nvSpPr>
        <p:spPr>
          <a:xfrm>
            <a:off x="952500" y="5237262"/>
            <a:ext cx="3934111" cy="8382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Tradición de telar, cuero, madera, cerámica y metalistería. Mano de obra capacitada lista para formación.</a:t>
            </a:r>
            <a:endParaRPr lang="en-US" sz="1500" dirty="0"/>
          </a:p>
        </p:txBody>
      </p:sp>
      <p:sp>
        <p:nvSpPr>
          <p:cNvPr id="14" name="Shape 12"/>
          <p:cNvSpPr/>
          <p:nvPr/>
        </p:nvSpPr>
        <p:spPr>
          <a:xfrm>
            <a:off x="9134475" y="4160044"/>
            <a:ext cx="9525" cy="2540198"/>
          </a:xfrm>
          <a:prstGeom prst="rect">
            <a:avLst/>
          </a:prstGeom>
          <a:solidFill>
            <a:srgbClr val="D9D2C0"/>
          </a:solidFill>
          <a:ln/>
        </p:spPr>
        <p:txBody>
          <a:bodyPr/>
          <a:lstStyle/>
          <a:p>
            <a:endParaRPr lang="en-AR"/>
          </a:p>
        </p:txBody>
      </p:sp>
      <p:sp>
        <p:nvSpPr>
          <p:cNvPr id="15" name="Text 13"/>
          <p:cNvSpPr/>
          <p:nvPr/>
        </p:nvSpPr>
        <p:spPr>
          <a:xfrm>
            <a:off x="5314950" y="4502944"/>
            <a:ext cx="3659410"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02</a:t>
            </a:r>
            <a:endParaRPr lang="en-US" sz="975" dirty="0"/>
          </a:p>
        </p:txBody>
      </p:sp>
      <p:sp>
        <p:nvSpPr>
          <p:cNvPr id="16" name="Text 14"/>
          <p:cNvSpPr/>
          <p:nvPr/>
        </p:nvSpPr>
        <p:spPr>
          <a:xfrm>
            <a:off x="5314950" y="4802981"/>
            <a:ext cx="3659410"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Linaje y consagración</a:t>
            </a:r>
            <a:endParaRPr lang="en-US" sz="2100" dirty="0"/>
          </a:p>
        </p:txBody>
      </p:sp>
      <p:sp>
        <p:nvSpPr>
          <p:cNvPr id="17" name="Text 15"/>
          <p:cNvSpPr/>
          <p:nvPr/>
        </p:nvSpPr>
        <p:spPr>
          <a:xfrm>
            <a:off x="5314950" y="5237262"/>
            <a:ext cx="3659410" cy="8382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Los templos consagran piezas en ceremonia con linaje verificable. Algo que Amazon no puede ofrecer.</a:t>
            </a:r>
            <a:endParaRPr lang="en-US" sz="1500" dirty="0"/>
          </a:p>
        </p:txBody>
      </p:sp>
      <p:sp>
        <p:nvSpPr>
          <p:cNvPr id="18" name="Shape 16"/>
          <p:cNvSpPr/>
          <p:nvPr/>
        </p:nvSpPr>
        <p:spPr>
          <a:xfrm>
            <a:off x="13230225" y="4160044"/>
            <a:ext cx="9525" cy="2540198"/>
          </a:xfrm>
          <a:prstGeom prst="rect">
            <a:avLst/>
          </a:prstGeom>
          <a:solidFill>
            <a:srgbClr val="D9D2C0"/>
          </a:solidFill>
          <a:ln/>
        </p:spPr>
        <p:txBody>
          <a:bodyPr/>
          <a:lstStyle/>
          <a:p>
            <a:endParaRPr lang="en-AR"/>
          </a:p>
        </p:txBody>
      </p:sp>
      <p:sp>
        <p:nvSpPr>
          <p:cNvPr id="19" name="Text 17"/>
          <p:cNvSpPr/>
          <p:nvPr/>
        </p:nvSpPr>
        <p:spPr>
          <a:xfrm>
            <a:off x="9410700" y="4502944"/>
            <a:ext cx="3659410"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03</a:t>
            </a:r>
            <a:endParaRPr lang="en-US" sz="975" dirty="0"/>
          </a:p>
        </p:txBody>
      </p:sp>
      <p:sp>
        <p:nvSpPr>
          <p:cNvPr id="20" name="Text 18"/>
          <p:cNvSpPr/>
          <p:nvPr/>
        </p:nvSpPr>
        <p:spPr>
          <a:xfrm>
            <a:off x="9410700" y="4802981"/>
            <a:ext cx="3659410" cy="678061"/>
          </a:xfrm>
          <a:prstGeom prst="rect">
            <a:avLst/>
          </a:prstGeom>
          <a:noFill/>
          <a:ln/>
        </p:spPr>
        <p:txBody>
          <a:bodyPr wrap="square" lIns="25400" tIns="25400" rIns="25400" bIns="25400" rtlCol="0" anchor="t">
            <a:normAutofit/>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Logística hacia Américas</a:t>
            </a:r>
            <a:endParaRPr lang="en-US" sz="2100" dirty="0"/>
          </a:p>
        </p:txBody>
      </p:sp>
      <p:sp>
        <p:nvSpPr>
          <p:cNvPr id="21" name="Text 19"/>
          <p:cNvSpPr/>
          <p:nvPr/>
        </p:nvSpPr>
        <p:spPr>
          <a:xfrm>
            <a:off x="9410700" y="5237262"/>
            <a:ext cx="3659410" cy="8382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Vuelos directos a EE.UU., comercio Mercosur, e-commerce. Tiempos y aranceles inferiores a importar de Asia.</a:t>
            </a:r>
            <a:endParaRPr lang="en-US" sz="1500" dirty="0"/>
          </a:p>
        </p:txBody>
      </p:sp>
      <p:sp>
        <p:nvSpPr>
          <p:cNvPr id="22" name="Text 20"/>
          <p:cNvSpPr/>
          <p:nvPr/>
        </p:nvSpPr>
        <p:spPr>
          <a:xfrm>
            <a:off x="13506450" y="4502944"/>
            <a:ext cx="3943922"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04</a:t>
            </a:r>
            <a:endParaRPr lang="en-US" sz="975" dirty="0"/>
          </a:p>
        </p:txBody>
      </p:sp>
      <p:sp>
        <p:nvSpPr>
          <p:cNvPr id="23" name="Text 21"/>
          <p:cNvSpPr/>
          <p:nvPr/>
        </p:nvSpPr>
        <p:spPr>
          <a:xfrm>
            <a:off x="13506450" y="4802981"/>
            <a:ext cx="3943922"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Empleo calificado local</a:t>
            </a:r>
            <a:endParaRPr lang="en-US" sz="2100" dirty="0"/>
          </a:p>
        </p:txBody>
      </p:sp>
      <p:sp>
        <p:nvSpPr>
          <p:cNvPr id="24" name="Text 22"/>
          <p:cNvSpPr/>
          <p:nvPr/>
        </p:nvSpPr>
        <p:spPr>
          <a:xfrm>
            <a:off x="13506450" y="5237262"/>
            <a:ext cx="3943922" cy="571500"/>
          </a:xfrm>
          <a:prstGeom prst="rect">
            <a:avLst/>
          </a:prstGeom>
          <a:noFill/>
          <a:ln/>
        </p:spPr>
        <p:txBody>
          <a:bodyPr wrap="square" lIns="25400" tIns="25400" rIns="25400" bIns="25400" rtlCol="0" anchor="t">
            <a:normAutofit fontScale="85000" lnSpcReduction="10000"/>
          </a:bodyPr>
          <a:lstStyle/>
          <a:p>
            <a:pPr marL="0" indent="0" algn="l">
              <a:lnSpc>
                <a:spcPct val="140000"/>
              </a:lnSpc>
              <a:buNone/>
            </a:pPr>
            <a:r>
              <a:rPr lang="en-US" sz="1500" dirty="0">
                <a:solidFill>
                  <a:srgbClr val="3A342A"/>
                </a:solidFill>
                <a:latin typeface="Georgia" pitchFamily="34" charset="0"/>
                <a:ea typeface="Georgia" pitchFamily="34" charset="-122"/>
                <a:cs typeface="Georgia" pitchFamily="34" charset="-120"/>
              </a:rPr>
              <a:t>Talleres en Esquel y pueblos cercanos. Industria de exportación con mano de obra local capacitada.</a:t>
            </a:r>
            <a:endParaRPr lang="en-US" sz="1500" dirty="0"/>
          </a:p>
        </p:txBody>
      </p:sp>
      <p:sp>
        <p:nvSpPr>
          <p:cNvPr id="25" name="Text 23"/>
          <p:cNvSpPr/>
          <p:nvPr/>
        </p:nvSpPr>
        <p:spPr>
          <a:xfrm>
            <a:off x="952500" y="7166967"/>
            <a:ext cx="13735050" cy="39714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dirty="0">
                <a:solidFill>
                  <a:srgbClr val="3A342A"/>
                </a:solidFill>
                <a:latin typeface="Georgia" pitchFamily="34" charset="0"/>
                <a:ea typeface="Georgia" pitchFamily="34" charset="-122"/>
                <a:cs typeface="Georgia" pitchFamily="34" charset="-120"/>
              </a:rPr>
              <a:t>Esquel deja de ser solo destino. Pasa a ser </a:t>
            </a:r>
            <a:r>
              <a:rPr lang="en-US" sz="1950" dirty="0">
                <a:solidFill>
                  <a:srgbClr val="14110D"/>
                </a:solidFill>
                <a:latin typeface="Georgia" pitchFamily="34" charset="0"/>
                <a:ea typeface="Georgia" pitchFamily="34" charset="-122"/>
                <a:cs typeface="Georgia" pitchFamily="34" charset="-120"/>
              </a:rPr>
              <a:t>capital exportadora</a:t>
            </a:r>
            <a:r>
              <a:rPr lang="en-US" sz="1950" dirty="0">
                <a:solidFill>
                  <a:srgbClr val="3A342A"/>
                </a:solidFill>
                <a:latin typeface="Georgia" pitchFamily="34" charset="0"/>
                <a:ea typeface="Georgia" pitchFamily="34" charset="-122"/>
                <a:cs typeface="Georgia" pitchFamily="34" charset="-120"/>
              </a:rPr>
              <a:t>.</a:t>
            </a:r>
            <a:endParaRPr lang="en-US" sz="1950" dirty="0"/>
          </a:p>
        </p:txBody>
      </p:sp>
      <p:sp>
        <p:nvSpPr>
          <p:cNvPr id="26" name="Shape 24"/>
          <p:cNvSpPr/>
          <p:nvPr/>
        </p:nvSpPr>
        <p:spPr>
          <a:xfrm>
            <a:off x="952500" y="9134475"/>
            <a:ext cx="16383000" cy="9525"/>
          </a:xfrm>
          <a:prstGeom prst="rect">
            <a:avLst/>
          </a:prstGeom>
          <a:solidFill>
            <a:srgbClr val="D9D2C0"/>
          </a:solidFill>
          <a:ln/>
        </p:spPr>
        <p:txBody>
          <a:bodyPr/>
          <a:lstStyle/>
          <a:p>
            <a:endParaRPr lang="en-AR"/>
          </a:p>
        </p:txBody>
      </p:sp>
      <p:sp>
        <p:nvSpPr>
          <p:cNvPr id="27" name="Text 25"/>
          <p:cNvSpPr/>
          <p:nvPr/>
        </p:nvSpPr>
        <p:spPr>
          <a:xfrm>
            <a:off x="952500" y="9372600"/>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28" name="Text 26"/>
          <p:cNvSpPr/>
          <p:nvPr/>
        </p:nvSpPr>
        <p:spPr>
          <a:xfrm>
            <a:off x="16796965" y="93726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29 / 40 </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8">
    <p:bg>
      <p:bgPr>
        <a:solidFill>
          <a:srgbClr val="F1ECE0"/>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5426705" y="804863"/>
            <a:ext cx="198499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 04 · MOTOR 04</a:t>
            </a:r>
            <a:endParaRPr lang="en-US" sz="1050" dirty="0"/>
          </a:p>
        </p:txBody>
      </p:sp>
      <p:sp>
        <p:nvSpPr>
          <p:cNvPr id="6" name="Text 4"/>
          <p:cNvSpPr/>
          <p:nvPr/>
        </p:nvSpPr>
        <p:spPr>
          <a:xfrm>
            <a:off x="952500" y="1657350"/>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EL MODELO DE LA INDUSTRIA</a:t>
            </a:r>
            <a:endParaRPr lang="en-US" sz="1350" dirty="0"/>
          </a:p>
        </p:txBody>
      </p:sp>
      <p:sp>
        <p:nvSpPr>
          <p:cNvPr id="7" name="Text 5"/>
          <p:cNvSpPr/>
          <p:nvPr/>
        </p:nvSpPr>
        <p:spPr>
          <a:xfrm>
            <a:off x="952500" y="2057400"/>
            <a:ext cx="16874490" cy="1464469"/>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Tres etapas. Una cadena </a:t>
            </a:r>
            <a:r>
              <a:rPr lang="en-US" sz="5400" i="1" kern="0" spc="-97" dirty="0">
                <a:solidFill>
                  <a:srgbClr val="8A6420"/>
                </a:solidFill>
                <a:latin typeface="Georgia" pitchFamily="34" charset="0"/>
                <a:ea typeface="Georgia" pitchFamily="34" charset="-122"/>
                <a:cs typeface="Georgia" pitchFamily="34" charset="-120"/>
              </a:rPr>
              <a:t>integrada en Esquel.</a:t>
            </a:r>
            <a:endParaRPr lang="en-US" sz="5400" dirty="0"/>
          </a:p>
        </p:txBody>
      </p:sp>
      <p:sp>
        <p:nvSpPr>
          <p:cNvPr id="8" name="Shape 6"/>
          <p:cNvSpPr/>
          <p:nvPr/>
        </p:nvSpPr>
        <p:spPr>
          <a:xfrm>
            <a:off x="952500" y="3940969"/>
            <a:ext cx="16383000" cy="9525"/>
          </a:xfrm>
          <a:prstGeom prst="rect">
            <a:avLst/>
          </a:prstGeom>
          <a:solidFill>
            <a:srgbClr val="D9D2C0"/>
          </a:solidFill>
          <a:ln/>
        </p:spPr>
        <p:txBody>
          <a:bodyPr/>
          <a:lstStyle/>
          <a:p>
            <a:endParaRPr lang="en-AR"/>
          </a:p>
        </p:txBody>
      </p:sp>
      <p:sp>
        <p:nvSpPr>
          <p:cNvPr id="9" name="Text 7"/>
          <p:cNvSpPr/>
          <p:nvPr/>
        </p:nvSpPr>
        <p:spPr>
          <a:xfrm>
            <a:off x="952500" y="4293394"/>
            <a:ext cx="933450"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dirty="0">
                <a:solidFill>
                  <a:srgbClr val="8A6420"/>
                </a:solidFill>
                <a:latin typeface="Georgia" pitchFamily="34" charset="0"/>
                <a:ea typeface="Georgia" pitchFamily="34" charset="-122"/>
                <a:cs typeface="Georgia" pitchFamily="34" charset="-120"/>
              </a:rPr>
              <a:t>01</a:t>
            </a:r>
            <a:endParaRPr lang="en-US" sz="5400" dirty="0"/>
          </a:p>
        </p:txBody>
      </p:sp>
      <p:sp>
        <p:nvSpPr>
          <p:cNvPr id="10" name="Text 8"/>
          <p:cNvSpPr/>
          <p:nvPr/>
        </p:nvSpPr>
        <p:spPr>
          <a:xfrm>
            <a:off x="2114550" y="4531519"/>
            <a:ext cx="15677579" cy="4723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850" dirty="0">
                <a:solidFill>
                  <a:srgbClr val="14110D"/>
                </a:solidFill>
                <a:latin typeface="Georgia" pitchFamily="34" charset="0"/>
                <a:ea typeface="Georgia" pitchFamily="34" charset="-122"/>
                <a:cs typeface="Georgia" pitchFamily="34" charset="-120"/>
              </a:rPr>
              <a:t>Taller-escuela</a:t>
            </a:r>
            <a:endParaRPr lang="en-US" sz="2850" dirty="0"/>
          </a:p>
        </p:txBody>
      </p:sp>
      <p:sp>
        <p:nvSpPr>
          <p:cNvPr id="11" name="Text 9"/>
          <p:cNvSpPr/>
          <p:nvPr/>
        </p:nvSpPr>
        <p:spPr>
          <a:xfrm>
            <a:off x="2114550" y="5061049"/>
            <a:ext cx="15677579" cy="36954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dirty="0">
                <a:solidFill>
                  <a:srgbClr val="3A342A"/>
                </a:solidFill>
                <a:latin typeface="Georgia" pitchFamily="34" charset="0"/>
                <a:ea typeface="Georgia" pitchFamily="34" charset="-122"/>
                <a:cs typeface="Georgia" pitchFamily="34" charset="-120"/>
              </a:rPr>
              <a:t>Maestros artesanos asiáticos forman a artesanos locales. Programa comunitario y empleo calificado para Esquel.</a:t>
            </a:r>
            <a:endParaRPr lang="en-US" sz="1800" dirty="0"/>
          </a:p>
        </p:txBody>
      </p:sp>
      <p:sp>
        <p:nvSpPr>
          <p:cNvPr id="12" name="Shape 10"/>
          <p:cNvSpPr/>
          <p:nvPr/>
        </p:nvSpPr>
        <p:spPr>
          <a:xfrm>
            <a:off x="952500" y="5735389"/>
            <a:ext cx="16383000" cy="9525"/>
          </a:xfrm>
          <a:prstGeom prst="rect">
            <a:avLst/>
          </a:prstGeom>
          <a:solidFill>
            <a:srgbClr val="D9D2C0"/>
          </a:solidFill>
          <a:ln/>
        </p:spPr>
        <p:txBody>
          <a:bodyPr/>
          <a:lstStyle/>
          <a:p>
            <a:endParaRPr lang="en-AR"/>
          </a:p>
        </p:txBody>
      </p:sp>
      <p:sp>
        <p:nvSpPr>
          <p:cNvPr id="13" name="Text 11"/>
          <p:cNvSpPr/>
          <p:nvPr/>
        </p:nvSpPr>
        <p:spPr>
          <a:xfrm>
            <a:off x="952500" y="6087814"/>
            <a:ext cx="933450"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dirty="0">
                <a:solidFill>
                  <a:srgbClr val="8A6420"/>
                </a:solidFill>
                <a:latin typeface="Georgia" pitchFamily="34" charset="0"/>
                <a:ea typeface="Georgia" pitchFamily="34" charset="-122"/>
                <a:cs typeface="Georgia" pitchFamily="34" charset="-120"/>
              </a:rPr>
              <a:t>02</a:t>
            </a:r>
            <a:endParaRPr lang="en-US" sz="5400" dirty="0"/>
          </a:p>
        </p:txBody>
      </p:sp>
      <p:sp>
        <p:nvSpPr>
          <p:cNvPr id="14" name="Text 12"/>
          <p:cNvSpPr/>
          <p:nvPr/>
        </p:nvSpPr>
        <p:spPr>
          <a:xfrm>
            <a:off x="2114550" y="6325939"/>
            <a:ext cx="15677579" cy="4723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850" dirty="0">
                <a:solidFill>
                  <a:srgbClr val="14110D"/>
                </a:solidFill>
                <a:latin typeface="Georgia" pitchFamily="34" charset="0"/>
                <a:ea typeface="Georgia" pitchFamily="34" charset="-122"/>
                <a:cs typeface="Georgia" pitchFamily="34" charset="-120"/>
              </a:rPr>
              <a:t>Producción</a:t>
            </a:r>
            <a:endParaRPr lang="en-US" sz="2850" dirty="0"/>
          </a:p>
        </p:txBody>
      </p:sp>
      <p:sp>
        <p:nvSpPr>
          <p:cNvPr id="15" name="Text 13"/>
          <p:cNvSpPr/>
          <p:nvPr/>
        </p:nvSpPr>
        <p:spPr>
          <a:xfrm>
            <a:off x="2114550" y="6855470"/>
            <a:ext cx="15677579" cy="36954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dirty="0">
                <a:solidFill>
                  <a:srgbClr val="3A342A"/>
                </a:solidFill>
                <a:latin typeface="Georgia" pitchFamily="34" charset="0"/>
                <a:ea typeface="Georgia" pitchFamily="34" charset="-122"/>
                <a:cs typeface="Georgia" pitchFamily="34" charset="-120"/>
              </a:rPr>
              <a:t>Talleres en Esquel y cooperativas regionales. Co-branding del polo. Piezas consagradas en los templos.</a:t>
            </a:r>
            <a:endParaRPr lang="en-US" sz="1800" dirty="0"/>
          </a:p>
        </p:txBody>
      </p:sp>
      <p:sp>
        <p:nvSpPr>
          <p:cNvPr id="16" name="Shape 14"/>
          <p:cNvSpPr/>
          <p:nvPr/>
        </p:nvSpPr>
        <p:spPr>
          <a:xfrm>
            <a:off x="952500" y="9324231"/>
            <a:ext cx="16383000" cy="9525"/>
          </a:xfrm>
          <a:prstGeom prst="rect">
            <a:avLst/>
          </a:prstGeom>
          <a:solidFill>
            <a:srgbClr val="D9D2C0"/>
          </a:solidFill>
          <a:ln/>
        </p:spPr>
        <p:txBody>
          <a:bodyPr/>
          <a:lstStyle/>
          <a:p>
            <a:endParaRPr lang="en-AR"/>
          </a:p>
        </p:txBody>
      </p:sp>
      <p:sp>
        <p:nvSpPr>
          <p:cNvPr id="17" name="Shape 15"/>
          <p:cNvSpPr/>
          <p:nvPr/>
        </p:nvSpPr>
        <p:spPr>
          <a:xfrm>
            <a:off x="952500" y="7529810"/>
            <a:ext cx="16383000" cy="9525"/>
          </a:xfrm>
          <a:prstGeom prst="rect">
            <a:avLst/>
          </a:prstGeom>
          <a:solidFill>
            <a:srgbClr val="D9D2C0"/>
          </a:solidFill>
          <a:ln/>
        </p:spPr>
        <p:txBody>
          <a:bodyPr/>
          <a:lstStyle/>
          <a:p>
            <a:endParaRPr lang="en-AR"/>
          </a:p>
        </p:txBody>
      </p:sp>
      <p:sp>
        <p:nvSpPr>
          <p:cNvPr id="18" name="Text 16"/>
          <p:cNvSpPr/>
          <p:nvPr/>
        </p:nvSpPr>
        <p:spPr>
          <a:xfrm>
            <a:off x="952500" y="7882235"/>
            <a:ext cx="933450"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dirty="0">
                <a:solidFill>
                  <a:srgbClr val="8A6420"/>
                </a:solidFill>
                <a:latin typeface="Georgia" pitchFamily="34" charset="0"/>
                <a:ea typeface="Georgia" pitchFamily="34" charset="-122"/>
                <a:cs typeface="Georgia" pitchFamily="34" charset="-120"/>
              </a:rPr>
              <a:t>03</a:t>
            </a:r>
            <a:endParaRPr lang="en-US" sz="5400" dirty="0"/>
          </a:p>
        </p:txBody>
      </p:sp>
      <p:sp>
        <p:nvSpPr>
          <p:cNvPr id="19" name="Text 17"/>
          <p:cNvSpPr/>
          <p:nvPr/>
        </p:nvSpPr>
        <p:spPr>
          <a:xfrm>
            <a:off x="2114550" y="8120360"/>
            <a:ext cx="15677579" cy="4723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850" dirty="0">
                <a:solidFill>
                  <a:srgbClr val="14110D"/>
                </a:solidFill>
                <a:latin typeface="Georgia" pitchFamily="34" charset="0"/>
                <a:ea typeface="Georgia" pitchFamily="34" charset="-122"/>
                <a:cs typeface="Georgia" pitchFamily="34" charset="-120"/>
              </a:rPr>
              <a:t>Distribución</a:t>
            </a:r>
            <a:endParaRPr lang="en-US" sz="2850" dirty="0"/>
          </a:p>
        </p:txBody>
      </p:sp>
      <p:sp>
        <p:nvSpPr>
          <p:cNvPr id="20" name="Text 18"/>
          <p:cNvSpPr/>
          <p:nvPr/>
        </p:nvSpPr>
        <p:spPr>
          <a:xfrm>
            <a:off x="2114550" y="8649891"/>
            <a:ext cx="15677579" cy="36954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dirty="0">
                <a:solidFill>
                  <a:srgbClr val="3A342A"/>
                </a:solidFill>
                <a:latin typeface="Georgia" pitchFamily="34" charset="0"/>
                <a:ea typeface="Georgia" pitchFamily="34" charset="-122"/>
                <a:cs typeface="Georgia" pitchFamily="34" charset="-120"/>
              </a:rPr>
              <a:t>E-commerce propio, venta presencial en el polo, acuerdos B2B con centros budistas zen, tibetanos y vipassana de las Américas.</a:t>
            </a:r>
            <a:endParaRPr lang="en-US" sz="1800" dirty="0"/>
          </a:p>
        </p:txBody>
      </p:sp>
      <p:sp>
        <p:nvSpPr>
          <p:cNvPr id="21" name="Shape 19"/>
          <p:cNvSpPr/>
          <p:nvPr/>
        </p:nvSpPr>
        <p:spPr>
          <a:xfrm>
            <a:off x="952500" y="9333756"/>
            <a:ext cx="16383000" cy="9525"/>
          </a:xfrm>
          <a:prstGeom prst="rect">
            <a:avLst/>
          </a:prstGeom>
          <a:solidFill>
            <a:srgbClr val="D9D2C0"/>
          </a:solidFill>
          <a:ln/>
        </p:spPr>
        <p:txBody>
          <a:bodyPr/>
          <a:lstStyle/>
          <a:p>
            <a:endParaRPr lang="en-AR"/>
          </a:p>
        </p:txBody>
      </p:sp>
      <p:sp>
        <p:nvSpPr>
          <p:cNvPr id="22" name="Text 20"/>
          <p:cNvSpPr/>
          <p:nvPr/>
        </p:nvSpPr>
        <p:spPr>
          <a:xfrm>
            <a:off x="952500" y="9571881"/>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23" name="Text 21"/>
          <p:cNvSpPr/>
          <p:nvPr/>
        </p:nvSpPr>
        <p:spPr>
          <a:xfrm>
            <a:off x="16796965" y="9571881"/>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30 / 40 </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7">
    <p:bg>
      <p:bgPr>
        <a:solidFill>
          <a:srgbClr val="FAF8F3"/>
        </a:solidFill>
        <a:effectLst/>
      </p:bgPr>
    </p:bg>
    <p:spTree>
      <p:nvGrpSpPr>
        <p:cNvPr id="1" name=""/>
        <p:cNvGrpSpPr/>
        <p:nvPr/>
      </p:nvGrpSpPr>
      <p:grpSpPr>
        <a:xfrm>
          <a:off x="0" y="0"/>
          <a:ext cx="0" cy="0"/>
          <a:chOff x="0" y="0"/>
          <a:chExt cx="0" cy="0"/>
        </a:xfrm>
      </p:grpSpPr>
      <p:sp>
        <p:nvSpPr>
          <p:cNvPr id="2" name="Shape 0"/>
          <p:cNvSpPr/>
          <p:nvPr/>
        </p:nvSpPr>
        <p:spPr>
          <a:xfrm>
            <a:off x="857250" y="1266825"/>
            <a:ext cx="7864897" cy="9525"/>
          </a:xfrm>
          <a:prstGeom prst="rect">
            <a:avLst/>
          </a:prstGeom>
          <a:solidFill>
            <a:srgbClr val="D9D2C0"/>
          </a:solidFill>
          <a:ln/>
        </p:spPr>
        <p:txBody>
          <a:bodyPr/>
          <a:lstStyle/>
          <a:p>
            <a:endParaRPr lang="en-AR"/>
          </a:p>
        </p:txBody>
      </p:sp>
      <p:sp>
        <p:nvSpPr>
          <p:cNvPr id="3" name="Shape 1"/>
          <p:cNvSpPr/>
          <p:nvPr/>
        </p:nvSpPr>
        <p:spPr>
          <a:xfrm>
            <a:off x="85725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228725" y="788194"/>
            <a:ext cx="2128093"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CAP 04 · MOTOR 05</a:t>
            </a:r>
            <a:endParaRPr lang="en-US" sz="1200" dirty="0"/>
          </a:p>
        </p:txBody>
      </p:sp>
      <p:sp>
        <p:nvSpPr>
          <p:cNvPr id="5" name="Text 3"/>
          <p:cNvSpPr/>
          <p:nvPr/>
        </p:nvSpPr>
        <p:spPr>
          <a:xfrm>
            <a:off x="7119565" y="804863"/>
            <a:ext cx="1678781" cy="190500"/>
          </a:xfrm>
          <a:prstGeom prst="rect">
            <a:avLst/>
          </a:prstGeom>
          <a:noFill/>
          <a:ln/>
        </p:spPr>
        <p:txBody>
          <a:bodyPr wrap="square" lIns="25400" tIns="25400" rIns="25400" bIns="25400" rtlCol="0" anchor="t">
            <a:normAutofit fontScale="70000" lnSpcReduction="2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COALICIÓN PATAGÓNICA</a:t>
            </a:r>
            <a:endParaRPr lang="en-US" sz="1050" dirty="0"/>
          </a:p>
        </p:txBody>
      </p:sp>
      <p:sp>
        <p:nvSpPr>
          <p:cNvPr id="6" name="Text 4"/>
          <p:cNvSpPr/>
          <p:nvPr/>
        </p:nvSpPr>
        <p:spPr>
          <a:xfrm>
            <a:off x="857250" y="2948434"/>
            <a:ext cx="8100844"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VIDRIERA DE LA PATAGONIA</a:t>
            </a:r>
            <a:endParaRPr lang="en-US" sz="1350" dirty="0"/>
          </a:p>
        </p:txBody>
      </p:sp>
      <p:sp>
        <p:nvSpPr>
          <p:cNvPr id="7" name="Text 5"/>
          <p:cNvSpPr/>
          <p:nvPr/>
        </p:nvSpPr>
        <p:spPr>
          <a:xfrm>
            <a:off x="857250" y="3424684"/>
            <a:ext cx="8100844" cy="2177653"/>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El visitante del polo es el </a:t>
            </a:r>
            <a:r>
              <a:rPr lang="en-US" sz="5400" i="1" kern="0" spc="-97" dirty="0">
                <a:solidFill>
                  <a:srgbClr val="8A6420"/>
                </a:solidFill>
                <a:latin typeface="Georgia" pitchFamily="34" charset="0"/>
                <a:ea typeface="Georgia" pitchFamily="34" charset="-122"/>
                <a:cs typeface="Georgia" pitchFamily="34" charset="-120"/>
              </a:rPr>
              <a:t>cliente target perfecto </a:t>
            </a:r>
            <a:r>
              <a:rPr lang="en-US" sz="5400" kern="0" spc="-97" dirty="0">
                <a:solidFill>
                  <a:srgbClr val="14110D"/>
                </a:solidFill>
                <a:latin typeface="Georgia" pitchFamily="34" charset="0"/>
                <a:ea typeface="Georgia" pitchFamily="34" charset="-122"/>
                <a:cs typeface="Georgia" pitchFamily="34" charset="-120"/>
              </a:rPr>
              <a:t>.</a:t>
            </a:r>
            <a:endParaRPr lang="en-US" sz="5400" dirty="0"/>
          </a:p>
        </p:txBody>
      </p:sp>
      <p:sp>
        <p:nvSpPr>
          <p:cNvPr id="8" name="Text 6"/>
          <p:cNvSpPr/>
          <p:nvPr/>
        </p:nvSpPr>
        <p:spPr>
          <a:xfrm>
            <a:off x="857250" y="5907137"/>
            <a:ext cx="8100844" cy="1198066"/>
          </a:xfrm>
          <a:prstGeom prst="rect">
            <a:avLst/>
          </a:prstGeom>
          <a:noFill/>
          <a:ln/>
        </p:spPr>
        <p:txBody>
          <a:bodyPr wrap="square" lIns="25400" tIns="25400" rIns="25400" bIns="25400" rtlCol="0" anchor="t">
            <a:normAutofit fontScale="70000" lnSpcReduction="20000"/>
          </a:bodyPr>
          <a:lstStyle/>
          <a:p>
            <a:pPr marL="0" indent="0" algn="l">
              <a:lnSpc>
                <a:spcPct val="145000"/>
              </a:lnSpc>
              <a:buNone/>
            </a:pPr>
            <a:r>
              <a:rPr lang="en-US" sz="2100" dirty="0">
                <a:solidFill>
                  <a:srgbClr val="3A342A"/>
                </a:solidFill>
                <a:latin typeface="Georgia" pitchFamily="34" charset="0"/>
                <a:ea typeface="Georgia" pitchFamily="34" charset="-122"/>
                <a:cs typeface="Georgia" pitchFamily="34" charset="-120"/>
              </a:rPr>
              <a:t>Alto poder adquisitivo, sensibilidad por identidad regional, permanencia larga. Marcas naturales: Rapanui, Cardón, Pampa, Pasiones Argentinas (textil), Cerveza Patagonia, Familia Schroeder, Bodega Otronia (gastronomía), Wuelai y cosmética natural local. No solo traemos turismo a Esquel: canalizamos consumo a toda la economía patagónica.</a:t>
            </a:r>
            <a:endParaRPr lang="en-US" sz="2100" dirty="0"/>
          </a:p>
        </p:txBody>
      </p:sp>
      <p:sp>
        <p:nvSpPr>
          <p:cNvPr id="9" name="Shape 7"/>
          <p:cNvSpPr/>
          <p:nvPr/>
        </p:nvSpPr>
        <p:spPr>
          <a:xfrm>
            <a:off x="857250" y="8453438"/>
            <a:ext cx="7864897" cy="9525"/>
          </a:xfrm>
          <a:prstGeom prst="rect">
            <a:avLst/>
          </a:prstGeom>
          <a:solidFill>
            <a:srgbClr val="D9D2C0"/>
          </a:solidFill>
          <a:ln/>
        </p:spPr>
        <p:txBody>
          <a:bodyPr/>
          <a:lstStyle/>
          <a:p>
            <a:endParaRPr lang="en-AR"/>
          </a:p>
        </p:txBody>
      </p:sp>
      <p:sp>
        <p:nvSpPr>
          <p:cNvPr id="10" name="Text 8"/>
          <p:cNvSpPr/>
          <p:nvPr/>
        </p:nvSpPr>
        <p:spPr>
          <a:xfrm>
            <a:off x="857250" y="8691563"/>
            <a:ext cx="1961331"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TEXTIL</a:t>
            </a:r>
            <a:endParaRPr lang="en-US" sz="975" dirty="0"/>
          </a:p>
        </p:txBody>
      </p:sp>
      <p:sp>
        <p:nvSpPr>
          <p:cNvPr id="11" name="Text 9"/>
          <p:cNvSpPr/>
          <p:nvPr/>
        </p:nvSpPr>
        <p:spPr>
          <a:xfrm>
            <a:off x="857250" y="8896350"/>
            <a:ext cx="1961331"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3A342A"/>
                </a:solidFill>
                <a:latin typeface="Georgia" pitchFamily="34" charset="0"/>
                <a:ea typeface="Georgia" pitchFamily="34" charset="-122"/>
                <a:cs typeface="Georgia" pitchFamily="34" charset="-120"/>
              </a:rPr>
              <a:t>Rapanui · Cardón</a:t>
            </a:r>
            <a:endParaRPr lang="en-US" sz="1650" dirty="0"/>
          </a:p>
        </p:txBody>
      </p:sp>
      <p:sp>
        <p:nvSpPr>
          <p:cNvPr id="12" name="Text 10"/>
          <p:cNvSpPr/>
          <p:nvPr/>
        </p:nvSpPr>
        <p:spPr>
          <a:xfrm>
            <a:off x="3199581" y="8691563"/>
            <a:ext cx="1234008"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GASTRONOMÍA</a:t>
            </a:r>
            <a:endParaRPr lang="en-US" sz="975" dirty="0"/>
          </a:p>
        </p:txBody>
      </p:sp>
      <p:sp>
        <p:nvSpPr>
          <p:cNvPr id="13" name="Text 11"/>
          <p:cNvSpPr/>
          <p:nvPr/>
        </p:nvSpPr>
        <p:spPr>
          <a:xfrm>
            <a:off x="3199581" y="8896350"/>
            <a:ext cx="1234008"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3A342A"/>
                </a:solidFill>
                <a:latin typeface="Georgia" pitchFamily="34" charset="0"/>
                <a:ea typeface="Georgia" pitchFamily="34" charset="-122"/>
                <a:cs typeface="Georgia" pitchFamily="34" charset="-120"/>
              </a:rPr>
              <a:t>C. Patagonia</a:t>
            </a:r>
            <a:endParaRPr lang="en-US" sz="1650" dirty="0"/>
          </a:p>
        </p:txBody>
      </p:sp>
      <p:sp>
        <p:nvSpPr>
          <p:cNvPr id="14" name="Text 12"/>
          <p:cNvSpPr/>
          <p:nvPr/>
        </p:nvSpPr>
        <p:spPr>
          <a:xfrm>
            <a:off x="4814590" y="8691563"/>
            <a:ext cx="1713309"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BIENESTAR</a:t>
            </a:r>
            <a:endParaRPr lang="en-US" sz="975" dirty="0"/>
          </a:p>
        </p:txBody>
      </p:sp>
      <p:sp>
        <p:nvSpPr>
          <p:cNvPr id="15" name="Text 13"/>
          <p:cNvSpPr/>
          <p:nvPr/>
        </p:nvSpPr>
        <p:spPr>
          <a:xfrm>
            <a:off x="4814590" y="8896350"/>
            <a:ext cx="1713309"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3A342A"/>
                </a:solidFill>
                <a:latin typeface="Georgia" pitchFamily="34" charset="0"/>
                <a:ea typeface="Georgia" pitchFamily="34" charset="-122"/>
                <a:cs typeface="Georgia" pitchFamily="34" charset="-120"/>
              </a:rPr>
              <a:t>Wuelai</a:t>
            </a:r>
            <a:endParaRPr lang="en-US" sz="1650" dirty="0"/>
          </a:p>
        </p:txBody>
      </p:sp>
      <p:sp>
        <p:nvSpPr>
          <p:cNvPr id="16" name="Shape 14"/>
          <p:cNvSpPr/>
          <p:nvPr/>
        </p:nvSpPr>
        <p:spPr>
          <a:xfrm>
            <a:off x="857250" y="9134475"/>
            <a:ext cx="7864897" cy="9525"/>
          </a:xfrm>
          <a:prstGeom prst="rect">
            <a:avLst/>
          </a:prstGeom>
          <a:solidFill>
            <a:srgbClr val="D9D2C0"/>
          </a:solidFill>
          <a:ln/>
        </p:spPr>
        <p:txBody>
          <a:bodyPr/>
          <a:lstStyle/>
          <a:p>
            <a:endParaRPr lang="en-AR"/>
          </a:p>
        </p:txBody>
      </p:sp>
      <p:sp>
        <p:nvSpPr>
          <p:cNvPr id="17" name="Text 15"/>
          <p:cNvSpPr/>
          <p:nvPr/>
        </p:nvSpPr>
        <p:spPr>
          <a:xfrm>
            <a:off x="857250" y="9372600"/>
            <a:ext cx="3048767"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DE LA PATAGONIA</a:t>
            </a:r>
            <a:endParaRPr lang="en-US" sz="1050" dirty="0"/>
          </a:p>
        </p:txBody>
      </p:sp>
      <p:sp>
        <p:nvSpPr>
          <p:cNvPr id="18" name="Text 16"/>
          <p:cNvSpPr/>
          <p:nvPr/>
        </p:nvSpPr>
        <p:spPr>
          <a:xfrm>
            <a:off x="8183612" y="93726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31 / 40 </a:t>
            </a:r>
            <a:endParaRPr lang="en-US" sz="1050" dirty="0"/>
          </a:p>
        </p:txBody>
      </p:sp>
      <p:sp>
        <p:nvSpPr>
          <p:cNvPr id="19" name="Shape 17"/>
          <p:cNvSpPr/>
          <p:nvPr/>
        </p:nvSpPr>
        <p:spPr>
          <a:xfrm>
            <a:off x="9579397" y="0"/>
            <a:ext cx="8708603" cy="10287000"/>
          </a:xfrm>
          <a:prstGeom prst="rect">
            <a:avLst/>
          </a:prstGeom>
          <a:solidFill>
            <a:srgbClr val="F1ECE0"/>
          </a:solidFill>
          <a:ln/>
        </p:spPr>
        <p:txBody>
          <a:bodyPr/>
          <a:lstStyle/>
          <a:p>
            <a:endParaRPr lang="en-AR"/>
          </a:p>
        </p:txBody>
      </p:sp>
      <p:sp>
        <p:nvSpPr>
          <p:cNvPr id="20" name="Shape 18"/>
          <p:cNvSpPr/>
          <p:nvPr/>
        </p:nvSpPr>
        <p:spPr>
          <a:xfrm>
            <a:off x="9579397" y="0"/>
            <a:ext cx="9525" cy="10287000"/>
          </a:xfrm>
          <a:prstGeom prst="rect">
            <a:avLst/>
          </a:prstGeom>
          <a:solidFill>
            <a:srgbClr val="D9D2C0"/>
          </a:solidFill>
          <a:ln/>
        </p:spPr>
        <p:txBody>
          <a:bodyPr/>
          <a:lstStyle/>
          <a:p>
            <a:endParaRPr lang="en-AR"/>
          </a:p>
        </p:txBody>
      </p:sp>
      <p:sp>
        <p:nvSpPr>
          <p:cNvPr id="21" name="Text 19"/>
          <p:cNvSpPr/>
          <p:nvPr/>
        </p:nvSpPr>
        <p:spPr>
          <a:xfrm>
            <a:off x="9684172" y="133350"/>
            <a:ext cx="1681237" cy="166688"/>
          </a:xfrm>
          <a:prstGeom prst="rect">
            <a:avLst/>
          </a:prstGeom>
          <a:noFill/>
          <a:ln/>
        </p:spPr>
        <p:txBody>
          <a:bodyPr wrap="square" lIns="25400" tIns="25400" rIns="25400" bIns="25400" rtlCol="0" anchor="t">
            <a:normAutofit fontScale="92500" lnSpcReduction="10000"/>
          </a:bodyPr>
          <a:lstStyle/>
          <a:p>
            <a:pPr marL="0" indent="0" algn="ctr">
              <a:buNone/>
            </a:pPr>
            <a:r>
              <a:rPr lang="en-US" sz="900" kern="0" spc="162" dirty="0">
                <a:solidFill>
                  <a:srgbClr val="8A8170"/>
                </a:solidFill>
                <a:latin typeface="Courier New" pitchFamily="34" charset="0"/>
                <a:ea typeface="Courier New" pitchFamily="34" charset="-122"/>
                <a:cs typeface="Courier New" pitchFamily="34" charset="-120"/>
              </a:rPr>
              <a:t>[ IMG · 870×1080 ]</a:t>
            </a:r>
            <a:endParaRPr lang="en-US" sz="900" dirty="0"/>
          </a:p>
        </p:txBody>
      </p:sp>
      <p:pic>
        <p:nvPicPr>
          <p:cNvPr id="2050" name="Picture 2">
            <a:extLst>
              <a:ext uri="{FF2B5EF4-FFF2-40B4-BE49-F238E27FC236}">
                <a16:creationId xmlns:a16="http://schemas.microsoft.com/office/drawing/2014/main" id="{91F98EE4-D41A-EB4C-0840-B43E4BE1CDFB}"/>
              </a:ext>
            </a:extLst>
          </p:cNvPr>
          <p:cNvPicPr>
            <a:picLocks noChangeAspect="1" noChangeArrowheads="1"/>
          </p:cNvPicPr>
          <p:nvPr/>
        </p:nvPicPr>
        <p:blipFill>
          <a:blip r:embed="rId2"/>
          <a:srcRect l="17738" r="17738"/>
          <a:stretch/>
        </p:blipFill>
        <p:spPr bwMode="auto">
          <a:xfrm>
            <a:off x="9579395" y="0"/>
            <a:ext cx="8708605" cy="1028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8">
    <p:bg>
      <p:bgPr>
        <a:solidFill>
          <a:srgbClr val="F1ECE0"/>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5426705" y="804863"/>
            <a:ext cx="198499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 04 · MOTOR 05</a:t>
            </a:r>
            <a:endParaRPr lang="en-US" sz="1050" dirty="0"/>
          </a:p>
        </p:txBody>
      </p:sp>
      <p:sp>
        <p:nvSpPr>
          <p:cNvPr id="6" name="Text 4"/>
          <p:cNvSpPr/>
          <p:nvPr/>
        </p:nvSpPr>
        <p:spPr>
          <a:xfrm>
            <a:off x="952500" y="1657350"/>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TRES NIVELES DE PARTNERSHIP</a:t>
            </a:r>
            <a:endParaRPr lang="en-US" sz="1350" dirty="0"/>
          </a:p>
        </p:txBody>
      </p:sp>
      <p:sp>
        <p:nvSpPr>
          <p:cNvPr id="7" name="Text 5"/>
          <p:cNvSpPr/>
          <p:nvPr/>
        </p:nvSpPr>
        <p:spPr>
          <a:xfrm>
            <a:off x="952500" y="2057400"/>
            <a:ext cx="16874490" cy="1464469"/>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Una escalera comercial. </a:t>
            </a:r>
            <a:r>
              <a:rPr lang="en-US" sz="5400" i="1" kern="0" spc="-97" dirty="0">
                <a:solidFill>
                  <a:srgbClr val="8A6420"/>
                </a:solidFill>
                <a:latin typeface="Georgia" pitchFamily="34" charset="0"/>
                <a:ea typeface="Georgia" pitchFamily="34" charset="-122"/>
                <a:cs typeface="Georgia" pitchFamily="34" charset="-120"/>
              </a:rPr>
              <a:t>Cero exclusividad de partida.</a:t>
            </a:r>
            <a:endParaRPr lang="en-US" sz="5400" dirty="0"/>
          </a:p>
        </p:txBody>
      </p:sp>
      <p:sp>
        <p:nvSpPr>
          <p:cNvPr id="8" name="Shape 6"/>
          <p:cNvSpPr/>
          <p:nvPr/>
        </p:nvSpPr>
        <p:spPr>
          <a:xfrm>
            <a:off x="952500" y="3940969"/>
            <a:ext cx="16383000" cy="9525"/>
          </a:xfrm>
          <a:prstGeom prst="rect">
            <a:avLst/>
          </a:prstGeom>
          <a:solidFill>
            <a:srgbClr val="D9D2C0"/>
          </a:solidFill>
          <a:ln/>
        </p:spPr>
        <p:txBody>
          <a:bodyPr/>
          <a:lstStyle/>
          <a:p>
            <a:endParaRPr lang="en-AR"/>
          </a:p>
        </p:txBody>
      </p:sp>
      <p:sp>
        <p:nvSpPr>
          <p:cNvPr id="9" name="Text 7"/>
          <p:cNvSpPr/>
          <p:nvPr/>
        </p:nvSpPr>
        <p:spPr>
          <a:xfrm>
            <a:off x="952500" y="4293394"/>
            <a:ext cx="933450"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dirty="0">
                <a:solidFill>
                  <a:srgbClr val="8A6420"/>
                </a:solidFill>
                <a:latin typeface="Georgia" pitchFamily="34" charset="0"/>
                <a:ea typeface="Georgia" pitchFamily="34" charset="-122"/>
                <a:cs typeface="Georgia" pitchFamily="34" charset="-120"/>
              </a:rPr>
              <a:t>01</a:t>
            </a:r>
            <a:endParaRPr lang="en-US" sz="5400" dirty="0"/>
          </a:p>
        </p:txBody>
      </p:sp>
      <p:sp>
        <p:nvSpPr>
          <p:cNvPr id="10" name="Text 8"/>
          <p:cNvSpPr/>
          <p:nvPr/>
        </p:nvSpPr>
        <p:spPr>
          <a:xfrm>
            <a:off x="2114550" y="4531519"/>
            <a:ext cx="15677579" cy="4723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850" dirty="0">
                <a:solidFill>
                  <a:srgbClr val="14110D"/>
                </a:solidFill>
                <a:latin typeface="Georgia" pitchFamily="34" charset="0"/>
                <a:ea typeface="Georgia" pitchFamily="34" charset="-122"/>
                <a:cs typeface="Georgia" pitchFamily="34" charset="-120"/>
              </a:rPr>
              <a:t>Tiendas en el anillo</a:t>
            </a:r>
            <a:endParaRPr lang="en-US" sz="2850" dirty="0"/>
          </a:p>
        </p:txBody>
      </p:sp>
      <p:sp>
        <p:nvSpPr>
          <p:cNvPr id="11" name="Text 9"/>
          <p:cNvSpPr/>
          <p:nvPr/>
        </p:nvSpPr>
        <p:spPr>
          <a:xfrm>
            <a:off x="2114550" y="5061049"/>
            <a:ext cx="15677579" cy="36954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dirty="0">
                <a:solidFill>
                  <a:srgbClr val="3A342A"/>
                </a:solidFill>
                <a:latin typeface="Georgia" pitchFamily="34" charset="0"/>
                <a:ea typeface="Georgia" pitchFamily="34" charset="-122"/>
                <a:cs typeface="Georgia" pitchFamily="34" charset="-120"/>
              </a:rPr>
              <a:t>Espacios físicos curados en la feria del polo. Locación más revenue share. Marcas seleccionadas, no un mall.</a:t>
            </a:r>
            <a:endParaRPr lang="en-US" sz="1800" dirty="0"/>
          </a:p>
        </p:txBody>
      </p:sp>
      <p:sp>
        <p:nvSpPr>
          <p:cNvPr id="12" name="Shape 10"/>
          <p:cNvSpPr/>
          <p:nvPr/>
        </p:nvSpPr>
        <p:spPr>
          <a:xfrm>
            <a:off x="952500" y="5735389"/>
            <a:ext cx="16383000" cy="9525"/>
          </a:xfrm>
          <a:prstGeom prst="rect">
            <a:avLst/>
          </a:prstGeom>
          <a:solidFill>
            <a:srgbClr val="D9D2C0"/>
          </a:solidFill>
          <a:ln/>
        </p:spPr>
        <p:txBody>
          <a:bodyPr/>
          <a:lstStyle/>
          <a:p>
            <a:endParaRPr lang="en-AR"/>
          </a:p>
        </p:txBody>
      </p:sp>
      <p:sp>
        <p:nvSpPr>
          <p:cNvPr id="13" name="Text 11"/>
          <p:cNvSpPr/>
          <p:nvPr/>
        </p:nvSpPr>
        <p:spPr>
          <a:xfrm>
            <a:off x="952500" y="6087814"/>
            <a:ext cx="933450"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dirty="0">
                <a:solidFill>
                  <a:srgbClr val="8A6420"/>
                </a:solidFill>
                <a:latin typeface="Georgia" pitchFamily="34" charset="0"/>
                <a:ea typeface="Georgia" pitchFamily="34" charset="-122"/>
                <a:cs typeface="Georgia" pitchFamily="34" charset="-120"/>
              </a:rPr>
              <a:t>02</a:t>
            </a:r>
            <a:endParaRPr lang="en-US" sz="5400" dirty="0"/>
          </a:p>
        </p:txBody>
      </p:sp>
      <p:sp>
        <p:nvSpPr>
          <p:cNvPr id="14" name="Text 12"/>
          <p:cNvSpPr/>
          <p:nvPr/>
        </p:nvSpPr>
        <p:spPr>
          <a:xfrm>
            <a:off x="2114550" y="6325939"/>
            <a:ext cx="15677579" cy="4723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850" dirty="0">
                <a:solidFill>
                  <a:srgbClr val="14110D"/>
                </a:solidFill>
                <a:latin typeface="Georgia" pitchFamily="34" charset="0"/>
                <a:ea typeface="Georgia" pitchFamily="34" charset="-122"/>
                <a:cs typeface="Georgia" pitchFamily="34" charset="-120"/>
              </a:rPr>
              <a:t>Producto de retiro co-branded</a:t>
            </a:r>
            <a:endParaRPr lang="en-US" sz="2850" dirty="0"/>
          </a:p>
        </p:txBody>
      </p:sp>
      <p:sp>
        <p:nvSpPr>
          <p:cNvPr id="15" name="Text 13"/>
          <p:cNvSpPr/>
          <p:nvPr/>
        </p:nvSpPr>
        <p:spPr>
          <a:xfrm>
            <a:off x="2114550" y="6855470"/>
            <a:ext cx="15677579" cy="36954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dirty="0">
                <a:solidFill>
                  <a:srgbClr val="3A342A"/>
                </a:solidFill>
                <a:latin typeface="Georgia" pitchFamily="34" charset="0"/>
                <a:ea typeface="Georgia" pitchFamily="34" charset="-122"/>
                <a:cs typeface="Georgia" pitchFamily="34" charset="-120"/>
              </a:rPr>
              <a:t>Kits curados (té, mate, abrigo, cuaderno, productos de meditación) producidos por la marca con co-branding del polo.</a:t>
            </a:r>
            <a:endParaRPr lang="en-US" sz="1800" dirty="0"/>
          </a:p>
        </p:txBody>
      </p:sp>
      <p:sp>
        <p:nvSpPr>
          <p:cNvPr id="16" name="Shape 14"/>
          <p:cNvSpPr/>
          <p:nvPr/>
        </p:nvSpPr>
        <p:spPr>
          <a:xfrm>
            <a:off x="952500" y="9324231"/>
            <a:ext cx="16383000" cy="9525"/>
          </a:xfrm>
          <a:prstGeom prst="rect">
            <a:avLst/>
          </a:prstGeom>
          <a:solidFill>
            <a:srgbClr val="D9D2C0"/>
          </a:solidFill>
          <a:ln/>
        </p:spPr>
        <p:txBody>
          <a:bodyPr/>
          <a:lstStyle/>
          <a:p>
            <a:endParaRPr lang="en-AR"/>
          </a:p>
        </p:txBody>
      </p:sp>
      <p:sp>
        <p:nvSpPr>
          <p:cNvPr id="17" name="Shape 15"/>
          <p:cNvSpPr/>
          <p:nvPr/>
        </p:nvSpPr>
        <p:spPr>
          <a:xfrm>
            <a:off x="952500" y="7529810"/>
            <a:ext cx="16383000" cy="9525"/>
          </a:xfrm>
          <a:prstGeom prst="rect">
            <a:avLst/>
          </a:prstGeom>
          <a:solidFill>
            <a:srgbClr val="D9D2C0"/>
          </a:solidFill>
          <a:ln/>
        </p:spPr>
        <p:txBody>
          <a:bodyPr/>
          <a:lstStyle/>
          <a:p>
            <a:endParaRPr lang="en-AR"/>
          </a:p>
        </p:txBody>
      </p:sp>
      <p:sp>
        <p:nvSpPr>
          <p:cNvPr id="18" name="Text 16"/>
          <p:cNvSpPr/>
          <p:nvPr/>
        </p:nvSpPr>
        <p:spPr>
          <a:xfrm>
            <a:off x="952500" y="7882235"/>
            <a:ext cx="933450"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dirty="0">
                <a:solidFill>
                  <a:srgbClr val="8A6420"/>
                </a:solidFill>
                <a:latin typeface="Georgia" pitchFamily="34" charset="0"/>
                <a:ea typeface="Georgia" pitchFamily="34" charset="-122"/>
                <a:cs typeface="Georgia" pitchFamily="34" charset="-120"/>
              </a:rPr>
              <a:t>03</a:t>
            </a:r>
            <a:endParaRPr lang="en-US" sz="5400" dirty="0"/>
          </a:p>
        </p:txBody>
      </p:sp>
      <p:sp>
        <p:nvSpPr>
          <p:cNvPr id="19" name="Text 17"/>
          <p:cNvSpPr/>
          <p:nvPr/>
        </p:nvSpPr>
        <p:spPr>
          <a:xfrm>
            <a:off x="2114550" y="8120360"/>
            <a:ext cx="15677579" cy="4723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850" dirty="0">
                <a:solidFill>
                  <a:srgbClr val="14110D"/>
                </a:solidFill>
                <a:latin typeface="Georgia" pitchFamily="34" charset="0"/>
                <a:ea typeface="Georgia" pitchFamily="34" charset="-122"/>
                <a:cs typeface="Georgia" pitchFamily="34" charset="-120"/>
              </a:rPr>
              <a:t>Socios Fundadores</a:t>
            </a:r>
            <a:endParaRPr lang="en-US" sz="2850" dirty="0"/>
          </a:p>
        </p:txBody>
      </p:sp>
      <p:sp>
        <p:nvSpPr>
          <p:cNvPr id="20" name="Text 18"/>
          <p:cNvSpPr/>
          <p:nvPr/>
        </p:nvSpPr>
        <p:spPr>
          <a:xfrm>
            <a:off x="2114550" y="8649891"/>
            <a:ext cx="15677579" cy="36954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dirty="0">
                <a:solidFill>
                  <a:srgbClr val="3A342A"/>
                </a:solidFill>
                <a:latin typeface="Georgia" pitchFamily="34" charset="0"/>
                <a:ea typeface="Georgia" pitchFamily="34" charset="-122"/>
                <a:cs typeface="Georgia" pitchFamily="34" charset="-120"/>
              </a:rPr>
              <a:t>Una o dos marcas top financian infraestructura del anillo. Naming rights moderado y exclusividad de categoría.</a:t>
            </a:r>
            <a:endParaRPr lang="en-US" sz="1800" dirty="0"/>
          </a:p>
        </p:txBody>
      </p:sp>
      <p:sp>
        <p:nvSpPr>
          <p:cNvPr id="21" name="Shape 19"/>
          <p:cNvSpPr/>
          <p:nvPr/>
        </p:nvSpPr>
        <p:spPr>
          <a:xfrm>
            <a:off x="952500" y="9333756"/>
            <a:ext cx="16383000" cy="9525"/>
          </a:xfrm>
          <a:prstGeom prst="rect">
            <a:avLst/>
          </a:prstGeom>
          <a:solidFill>
            <a:srgbClr val="D9D2C0"/>
          </a:solidFill>
          <a:ln/>
        </p:spPr>
        <p:txBody>
          <a:bodyPr/>
          <a:lstStyle/>
          <a:p>
            <a:endParaRPr lang="en-AR"/>
          </a:p>
        </p:txBody>
      </p:sp>
      <p:sp>
        <p:nvSpPr>
          <p:cNvPr id="22" name="Text 20"/>
          <p:cNvSpPr/>
          <p:nvPr/>
        </p:nvSpPr>
        <p:spPr>
          <a:xfrm>
            <a:off x="952500" y="9571881"/>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23" name="Text 21"/>
          <p:cNvSpPr/>
          <p:nvPr/>
        </p:nvSpPr>
        <p:spPr>
          <a:xfrm>
            <a:off x="16796965" y="9571881"/>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32 / 40 </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6">
    <p:bg>
      <p:bgPr>
        <a:solidFill>
          <a:srgbClr val="F1ECE0"/>
        </a:solidFill>
        <a:effectLst/>
      </p:bgPr>
    </p:bg>
    <p:spTree>
      <p:nvGrpSpPr>
        <p:cNvPr id="1" name=""/>
        <p:cNvGrpSpPr/>
        <p:nvPr/>
      </p:nvGrpSpPr>
      <p:grpSpPr>
        <a:xfrm>
          <a:off x="0" y="0"/>
          <a:ext cx="0" cy="0"/>
          <a:chOff x="0" y="0"/>
          <a:chExt cx="0" cy="0"/>
        </a:xfrm>
      </p:grpSpPr>
      <p:sp>
        <p:nvSpPr>
          <p:cNvPr id="2" name="Shape 0"/>
          <p:cNvSpPr/>
          <p:nvPr/>
        </p:nvSpPr>
        <p:spPr>
          <a:xfrm>
            <a:off x="952500" y="1457325"/>
            <a:ext cx="16383000" cy="9525"/>
          </a:xfrm>
          <a:prstGeom prst="rect">
            <a:avLst/>
          </a:prstGeom>
          <a:solidFill>
            <a:srgbClr val="D9D2C0"/>
          </a:solidFill>
          <a:ln/>
        </p:spPr>
        <p:txBody>
          <a:bodyPr/>
          <a:lstStyle/>
          <a:p>
            <a:endParaRPr lang="en-AR"/>
          </a:p>
        </p:txBody>
      </p:sp>
      <p:sp>
        <p:nvSpPr>
          <p:cNvPr id="3" name="Shape 1"/>
          <p:cNvSpPr/>
          <p:nvPr/>
        </p:nvSpPr>
        <p:spPr>
          <a:xfrm>
            <a:off x="952500" y="9525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9786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6248534" y="995363"/>
            <a:ext cx="1163166"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CAPÍTULO 05</a:t>
            </a:r>
            <a:endParaRPr lang="en-US" sz="1050" dirty="0"/>
          </a:p>
        </p:txBody>
      </p:sp>
      <p:sp>
        <p:nvSpPr>
          <p:cNvPr id="6" name="Text 4"/>
          <p:cNvSpPr/>
          <p:nvPr/>
        </p:nvSpPr>
        <p:spPr>
          <a:xfrm>
            <a:off x="952500" y="3176141"/>
            <a:ext cx="10593004" cy="233362"/>
          </a:xfrm>
          <a:prstGeom prst="rect">
            <a:avLst/>
          </a:prstGeom>
          <a:noFill/>
          <a:ln/>
        </p:spPr>
        <p:txBody>
          <a:bodyPr wrap="square" lIns="25400" tIns="25400" rIns="25400" bIns="25400" rtlCol="0" anchor="t">
            <a:normAutofit lnSpcReduction="10000"/>
          </a:bodyPr>
          <a:lstStyle/>
          <a:p>
            <a:pPr marL="0" indent="0" algn="l">
              <a:buNone/>
            </a:pPr>
            <a:r>
              <a:rPr lang="en-US" sz="1275" b="1" kern="0" spc="255" dirty="0">
                <a:solidFill>
                  <a:srgbClr val="8A6420"/>
                </a:solidFill>
                <a:latin typeface="Arial" pitchFamily="34" charset="0"/>
                <a:ea typeface="Arial" pitchFamily="34" charset="-122"/>
                <a:cs typeface="Arial" pitchFamily="34" charset="-120"/>
              </a:rPr>
              <a:t>— 05</a:t>
            </a:r>
            <a:endParaRPr lang="en-US" sz="1275" dirty="0"/>
          </a:p>
        </p:txBody>
      </p:sp>
      <p:sp>
        <p:nvSpPr>
          <p:cNvPr id="7" name="Text 5"/>
          <p:cNvSpPr/>
          <p:nvPr/>
        </p:nvSpPr>
        <p:spPr>
          <a:xfrm>
            <a:off x="952500" y="3638104"/>
            <a:ext cx="10593004" cy="2811661"/>
          </a:xfrm>
          <a:prstGeom prst="rect">
            <a:avLst/>
          </a:prstGeom>
          <a:noFill/>
          <a:ln/>
        </p:spPr>
        <p:txBody>
          <a:bodyPr wrap="square" lIns="25400" tIns="25400" rIns="25400" bIns="25400" rtlCol="0" anchor="t">
            <a:normAutofit fontScale="92500"/>
          </a:bodyPr>
          <a:lstStyle/>
          <a:p>
            <a:pPr marL="0" indent="0" algn="l">
              <a:lnSpc>
                <a:spcPct val="104000"/>
              </a:lnSpc>
              <a:buNone/>
            </a:pPr>
            <a:r>
              <a:rPr lang="en-US" sz="10500" kern="0" spc="-189" dirty="0">
                <a:solidFill>
                  <a:srgbClr val="14110D"/>
                </a:solidFill>
                <a:latin typeface="Georgia" pitchFamily="34" charset="0"/>
                <a:ea typeface="Georgia" pitchFamily="34" charset="-122"/>
                <a:cs typeface="Georgia" pitchFamily="34" charset="-120"/>
              </a:rPr>
              <a:t>Modelo Económico</a:t>
            </a:r>
            <a:endParaRPr lang="en-US" sz="10500" dirty="0"/>
          </a:p>
        </p:txBody>
      </p:sp>
      <p:sp>
        <p:nvSpPr>
          <p:cNvPr id="8" name="Text 6"/>
          <p:cNvSpPr/>
          <p:nvPr/>
        </p:nvSpPr>
        <p:spPr>
          <a:xfrm>
            <a:off x="952500" y="6792664"/>
            <a:ext cx="10593004" cy="48004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400" dirty="0">
                <a:solidFill>
                  <a:srgbClr val="3A342A"/>
                </a:solidFill>
                <a:latin typeface="Georgia" pitchFamily="34" charset="0"/>
                <a:ea typeface="Georgia" pitchFamily="34" charset="-122"/>
                <a:cs typeface="Georgia" pitchFamily="34" charset="-120"/>
              </a:rPr>
              <a:t>Quién paga, quién opera, qué necesitamos del municipio. Sin ambigüedades.</a:t>
            </a:r>
            <a:endParaRPr lang="en-US" sz="2400" dirty="0"/>
          </a:p>
        </p:txBody>
      </p:sp>
      <p:sp>
        <p:nvSpPr>
          <p:cNvPr id="9" name="Shape 7"/>
          <p:cNvSpPr/>
          <p:nvPr/>
        </p:nvSpPr>
        <p:spPr>
          <a:xfrm>
            <a:off x="952500" y="8943975"/>
            <a:ext cx="16383000" cy="9525"/>
          </a:xfrm>
          <a:prstGeom prst="rect">
            <a:avLst/>
          </a:prstGeom>
          <a:solidFill>
            <a:srgbClr val="D9D2C0"/>
          </a:solidFill>
          <a:ln/>
        </p:spPr>
        <p:txBody>
          <a:bodyPr/>
          <a:lstStyle/>
          <a:p>
            <a:endParaRPr lang="en-AR"/>
          </a:p>
        </p:txBody>
      </p:sp>
      <p:sp>
        <p:nvSpPr>
          <p:cNvPr id="10" name="Text 8"/>
          <p:cNvSpPr/>
          <p:nvPr/>
        </p:nvSpPr>
        <p:spPr>
          <a:xfrm>
            <a:off x="952500" y="9182100"/>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11" name="Text 9"/>
          <p:cNvSpPr/>
          <p:nvPr/>
        </p:nvSpPr>
        <p:spPr>
          <a:xfrm>
            <a:off x="16796965" y="91821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33 / 40 </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7">
    <p:bg>
      <p:bgPr>
        <a:solidFill>
          <a:srgbClr val="FAF8F3"/>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3820849" y="804863"/>
            <a:ext cx="3620090"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CAPÍTULO 05 · DISTRIBUCIÓN DE COSTOS</a:t>
            </a:r>
            <a:endParaRPr lang="en-US" sz="1050" dirty="0"/>
          </a:p>
        </p:txBody>
      </p:sp>
      <p:sp>
        <p:nvSpPr>
          <p:cNvPr id="6" name="Text 4"/>
          <p:cNvSpPr/>
          <p:nvPr/>
        </p:nvSpPr>
        <p:spPr>
          <a:xfrm>
            <a:off x="952500" y="1657350"/>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DISTRIBUCIÓN DE COSTOS</a:t>
            </a:r>
            <a:endParaRPr lang="en-US" sz="1350" dirty="0"/>
          </a:p>
        </p:txBody>
      </p:sp>
      <p:sp>
        <p:nvSpPr>
          <p:cNvPr id="7" name="Text 5"/>
          <p:cNvSpPr/>
          <p:nvPr/>
        </p:nvSpPr>
        <p:spPr>
          <a:xfrm>
            <a:off x="952500" y="2057400"/>
            <a:ext cx="16874490" cy="1464469"/>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Quién paga, qué </a:t>
            </a:r>
            <a:r>
              <a:rPr lang="en-US" sz="5400" i="1" kern="0" spc="-97" dirty="0">
                <a:solidFill>
                  <a:srgbClr val="8A6420"/>
                </a:solidFill>
                <a:latin typeface="Georgia" pitchFamily="34" charset="0"/>
                <a:ea typeface="Georgia" pitchFamily="34" charset="-122"/>
                <a:cs typeface="Georgia" pitchFamily="34" charset="-120"/>
              </a:rPr>
              <a:t>aporta cada parte.</a:t>
            </a:r>
            <a:endParaRPr lang="en-US" sz="5400" dirty="0"/>
          </a:p>
        </p:txBody>
      </p:sp>
      <p:sp>
        <p:nvSpPr>
          <p:cNvPr id="8" name="Shape 6"/>
          <p:cNvSpPr/>
          <p:nvPr/>
        </p:nvSpPr>
        <p:spPr>
          <a:xfrm>
            <a:off x="952500" y="4285283"/>
            <a:ext cx="5242545" cy="14288"/>
          </a:xfrm>
          <a:prstGeom prst="rect">
            <a:avLst/>
          </a:prstGeom>
          <a:solidFill>
            <a:srgbClr val="14110D"/>
          </a:solidFill>
          <a:ln/>
        </p:spPr>
        <p:txBody>
          <a:bodyPr/>
          <a:lstStyle/>
          <a:p>
            <a:endParaRPr lang="en-AR"/>
          </a:p>
        </p:txBody>
      </p:sp>
      <p:sp>
        <p:nvSpPr>
          <p:cNvPr id="9" name="Text 7"/>
          <p:cNvSpPr/>
          <p:nvPr/>
        </p:nvSpPr>
        <p:spPr>
          <a:xfrm>
            <a:off x="1143000" y="3940969"/>
            <a:ext cx="5018821" cy="210964"/>
          </a:xfrm>
          <a:prstGeom prst="rect">
            <a:avLst/>
          </a:prstGeom>
          <a:noFill/>
          <a:ln/>
        </p:spPr>
        <p:txBody>
          <a:bodyPr wrap="square" lIns="25400" tIns="25400" rIns="25400" bIns="25400" rtlCol="0" anchor="t">
            <a:normAutofit fontScale="85000" lnSpcReduction="10000"/>
          </a:bodyPr>
          <a:lstStyle/>
          <a:p>
            <a:pPr marL="0" indent="0" algn="l">
              <a:lnSpc>
                <a:spcPct val="135000"/>
              </a:lnSpc>
              <a:buNone/>
            </a:pPr>
            <a:r>
              <a:rPr lang="en-US" sz="1050" b="1" kern="0" spc="210" dirty="0">
                <a:solidFill>
                  <a:srgbClr val="8A8170"/>
                </a:solidFill>
                <a:latin typeface="Arial" pitchFamily="34" charset="0"/>
                <a:ea typeface="Arial" pitchFamily="34" charset="-122"/>
                <a:cs typeface="Arial" pitchFamily="34" charset="-120"/>
              </a:rPr>
              <a:t>ACTOR</a:t>
            </a:r>
            <a:endParaRPr lang="en-US" sz="1050" dirty="0"/>
          </a:p>
        </p:txBody>
      </p:sp>
      <p:sp>
        <p:nvSpPr>
          <p:cNvPr id="10" name="Shape 8"/>
          <p:cNvSpPr/>
          <p:nvPr/>
        </p:nvSpPr>
        <p:spPr>
          <a:xfrm>
            <a:off x="6195045" y="4285283"/>
            <a:ext cx="7536210" cy="14288"/>
          </a:xfrm>
          <a:prstGeom prst="rect">
            <a:avLst/>
          </a:prstGeom>
          <a:solidFill>
            <a:srgbClr val="14110D"/>
          </a:solidFill>
          <a:ln/>
        </p:spPr>
        <p:txBody>
          <a:bodyPr/>
          <a:lstStyle/>
          <a:p>
            <a:endParaRPr lang="en-AR"/>
          </a:p>
        </p:txBody>
      </p:sp>
      <p:sp>
        <p:nvSpPr>
          <p:cNvPr id="11" name="Text 9"/>
          <p:cNvSpPr/>
          <p:nvPr/>
        </p:nvSpPr>
        <p:spPr>
          <a:xfrm>
            <a:off x="6385545" y="3940969"/>
            <a:ext cx="7381296" cy="210964"/>
          </a:xfrm>
          <a:prstGeom prst="rect">
            <a:avLst/>
          </a:prstGeom>
          <a:noFill/>
          <a:ln/>
        </p:spPr>
        <p:txBody>
          <a:bodyPr wrap="square" lIns="25400" tIns="25400" rIns="25400" bIns="25400" rtlCol="0" anchor="t">
            <a:normAutofit fontScale="85000" lnSpcReduction="10000"/>
          </a:bodyPr>
          <a:lstStyle/>
          <a:p>
            <a:pPr marL="0" indent="0" algn="l">
              <a:lnSpc>
                <a:spcPct val="135000"/>
              </a:lnSpc>
              <a:buNone/>
            </a:pPr>
            <a:r>
              <a:rPr lang="en-US" sz="1050" b="1" kern="0" spc="210" dirty="0">
                <a:solidFill>
                  <a:srgbClr val="8A8170"/>
                </a:solidFill>
                <a:latin typeface="Arial" pitchFamily="34" charset="0"/>
                <a:ea typeface="Arial" pitchFamily="34" charset="-122"/>
                <a:cs typeface="Arial" pitchFamily="34" charset="-120"/>
              </a:rPr>
              <a:t>APORTA</a:t>
            </a:r>
            <a:endParaRPr lang="en-US" sz="1050" dirty="0"/>
          </a:p>
        </p:txBody>
      </p:sp>
      <p:sp>
        <p:nvSpPr>
          <p:cNvPr id="12" name="Shape 10"/>
          <p:cNvSpPr/>
          <p:nvPr/>
        </p:nvSpPr>
        <p:spPr>
          <a:xfrm>
            <a:off x="13731255" y="4285283"/>
            <a:ext cx="3604245" cy="14288"/>
          </a:xfrm>
          <a:prstGeom prst="rect">
            <a:avLst/>
          </a:prstGeom>
          <a:solidFill>
            <a:srgbClr val="14110D"/>
          </a:solidFill>
          <a:ln/>
        </p:spPr>
        <p:txBody>
          <a:bodyPr/>
          <a:lstStyle/>
          <a:p>
            <a:endParaRPr lang="en-AR"/>
          </a:p>
        </p:txBody>
      </p:sp>
      <p:sp>
        <p:nvSpPr>
          <p:cNvPr id="13" name="Text 11"/>
          <p:cNvSpPr/>
          <p:nvPr/>
        </p:nvSpPr>
        <p:spPr>
          <a:xfrm>
            <a:off x="13921755" y="3940969"/>
            <a:ext cx="3331372" cy="210964"/>
          </a:xfrm>
          <a:prstGeom prst="rect">
            <a:avLst/>
          </a:prstGeom>
          <a:noFill/>
          <a:ln/>
        </p:spPr>
        <p:txBody>
          <a:bodyPr wrap="square" lIns="25400" tIns="25400" rIns="25400" bIns="25400" rtlCol="0" anchor="t">
            <a:normAutofit fontScale="85000" lnSpcReduction="10000"/>
          </a:bodyPr>
          <a:lstStyle/>
          <a:p>
            <a:pPr marL="0" indent="0" algn="l">
              <a:lnSpc>
                <a:spcPct val="135000"/>
              </a:lnSpc>
              <a:buNone/>
            </a:pPr>
            <a:r>
              <a:rPr lang="en-US" sz="1050" b="1" kern="0" spc="210" dirty="0">
                <a:solidFill>
                  <a:srgbClr val="8A8170"/>
                </a:solidFill>
                <a:latin typeface="Arial" pitchFamily="34" charset="0"/>
                <a:ea typeface="Arial" pitchFamily="34" charset="-122"/>
                <a:cs typeface="Arial" pitchFamily="34" charset="-120"/>
              </a:rPr>
              <a:t>COSTO PARA EL MUNICIPIO</a:t>
            </a:r>
            <a:endParaRPr lang="en-US" sz="1050" dirty="0"/>
          </a:p>
        </p:txBody>
      </p:sp>
      <p:sp>
        <p:nvSpPr>
          <p:cNvPr id="14" name="Shape 12"/>
          <p:cNvSpPr/>
          <p:nvPr/>
        </p:nvSpPr>
        <p:spPr>
          <a:xfrm>
            <a:off x="952500" y="5465787"/>
            <a:ext cx="5242545" cy="9525"/>
          </a:xfrm>
          <a:prstGeom prst="rect">
            <a:avLst/>
          </a:prstGeom>
          <a:solidFill>
            <a:srgbClr val="D9D2C0"/>
          </a:solidFill>
          <a:ln/>
        </p:spPr>
        <p:txBody>
          <a:bodyPr/>
          <a:lstStyle/>
          <a:p>
            <a:endParaRPr lang="en-AR"/>
          </a:p>
        </p:txBody>
      </p:sp>
      <p:sp>
        <p:nvSpPr>
          <p:cNvPr id="15" name="Text 13"/>
          <p:cNvSpPr/>
          <p:nvPr/>
        </p:nvSpPr>
        <p:spPr>
          <a:xfrm>
            <a:off x="1143000" y="4547220"/>
            <a:ext cx="5018821" cy="709017"/>
          </a:xfrm>
          <a:prstGeom prst="rect">
            <a:avLst/>
          </a:prstGeom>
          <a:noFill/>
          <a:ln/>
        </p:spPr>
        <p:txBody>
          <a:bodyPr wrap="square" lIns="25400" tIns="25400" rIns="25400" bIns="25400" rtlCol="0" anchor="t">
            <a:normAutofit/>
          </a:bodyPr>
          <a:lstStyle/>
          <a:p>
            <a:pPr marL="0" indent="0" algn="l">
              <a:lnSpc>
                <a:spcPct val="135000"/>
              </a:lnSpc>
              <a:buNone/>
            </a:pPr>
            <a:r>
              <a:rPr lang="en-US" sz="1650" b="1" kern="0" spc="66" dirty="0">
                <a:solidFill>
                  <a:srgbClr val="14110D"/>
                </a:solidFill>
                <a:latin typeface="Georgia" pitchFamily="34" charset="0"/>
                <a:ea typeface="Georgia" pitchFamily="34" charset="-122"/>
                <a:cs typeface="Georgia" pitchFamily="34" charset="-120"/>
              </a:rPr>
              <a:t>Escuelas budistas internacionales </a:t>
            </a:r>
            <a:r>
              <a:rPr lang="en-US" sz="1350" kern="0" spc="66" dirty="0">
                <a:solidFill>
                  <a:srgbClr val="8A8170"/>
                </a:solidFill>
                <a:latin typeface="Georgia" pitchFamily="34" charset="0"/>
                <a:ea typeface="Georgia" pitchFamily="34" charset="-122"/>
                <a:cs typeface="Georgia" pitchFamily="34" charset="-120"/>
              </a:rPr>
              <a:t>Templos, universidades budistas, partners tech asiáticos.</a:t>
            </a:r>
            <a:endParaRPr lang="en-US" sz="1650" dirty="0"/>
          </a:p>
        </p:txBody>
      </p:sp>
      <p:sp>
        <p:nvSpPr>
          <p:cNvPr id="16" name="Shape 14"/>
          <p:cNvSpPr/>
          <p:nvPr/>
        </p:nvSpPr>
        <p:spPr>
          <a:xfrm>
            <a:off x="6195045" y="5465787"/>
            <a:ext cx="7536210" cy="9525"/>
          </a:xfrm>
          <a:prstGeom prst="rect">
            <a:avLst/>
          </a:prstGeom>
          <a:solidFill>
            <a:srgbClr val="D9D2C0"/>
          </a:solidFill>
          <a:ln/>
        </p:spPr>
        <p:txBody>
          <a:bodyPr/>
          <a:lstStyle/>
          <a:p>
            <a:endParaRPr lang="en-AR"/>
          </a:p>
        </p:txBody>
      </p:sp>
      <p:sp>
        <p:nvSpPr>
          <p:cNvPr id="17" name="Text 15"/>
          <p:cNvSpPr/>
          <p:nvPr/>
        </p:nvSpPr>
        <p:spPr>
          <a:xfrm>
            <a:off x="6385545" y="4547220"/>
            <a:ext cx="7381296" cy="709017"/>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950" dirty="0">
                <a:solidFill>
                  <a:srgbClr val="14110D"/>
                </a:solidFill>
                <a:latin typeface="Georgia" pitchFamily="34" charset="0"/>
                <a:ea typeface="Georgia" pitchFamily="34" charset="-122"/>
                <a:cs typeface="Georgia" pitchFamily="34" charset="-120"/>
              </a:rPr>
              <a:t>Construcción de templos, financiamiento del Centro de Estudios y Kalachakra Lab, residencias técnicas, partners de investigación.</a:t>
            </a:r>
            <a:endParaRPr lang="en-US" sz="1950" dirty="0"/>
          </a:p>
        </p:txBody>
      </p:sp>
      <p:sp>
        <p:nvSpPr>
          <p:cNvPr id="18" name="Shape 16"/>
          <p:cNvSpPr/>
          <p:nvPr/>
        </p:nvSpPr>
        <p:spPr>
          <a:xfrm>
            <a:off x="13731255" y="5465787"/>
            <a:ext cx="3604245" cy="9525"/>
          </a:xfrm>
          <a:prstGeom prst="rect">
            <a:avLst/>
          </a:prstGeom>
          <a:solidFill>
            <a:srgbClr val="D9D2C0"/>
          </a:solidFill>
          <a:ln/>
        </p:spPr>
        <p:txBody>
          <a:bodyPr/>
          <a:lstStyle/>
          <a:p>
            <a:endParaRPr lang="en-AR"/>
          </a:p>
        </p:txBody>
      </p:sp>
      <p:sp>
        <p:nvSpPr>
          <p:cNvPr id="19" name="Text 17"/>
          <p:cNvSpPr/>
          <p:nvPr/>
        </p:nvSpPr>
        <p:spPr>
          <a:xfrm>
            <a:off x="13921755" y="4547220"/>
            <a:ext cx="3331372" cy="709017"/>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8A6420"/>
                </a:solidFill>
                <a:latin typeface="Georgia" pitchFamily="34" charset="0"/>
                <a:ea typeface="Georgia" pitchFamily="34" charset="-122"/>
                <a:cs typeface="Georgia" pitchFamily="34" charset="-120"/>
              </a:rPr>
              <a:t>Cero</a:t>
            </a:r>
            <a:endParaRPr lang="en-US" sz="1950" dirty="0"/>
          </a:p>
        </p:txBody>
      </p:sp>
      <p:sp>
        <p:nvSpPr>
          <p:cNvPr id="20" name="Shape 18"/>
          <p:cNvSpPr/>
          <p:nvPr/>
        </p:nvSpPr>
        <p:spPr>
          <a:xfrm>
            <a:off x="952500" y="6639148"/>
            <a:ext cx="5242545" cy="9525"/>
          </a:xfrm>
          <a:prstGeom prst="rect">
            <a:avLst/>
          </a:prstGeom>
          <a:solidFill>
            <a:srgbClr val="D9D2C0"/>
          </a:solidFill>
          <a:ln/>
        </p:spPr>
        <p:txBody>
          <a:bodyPr/>
          <a:lstStyle/>
          <a:p>
            <a:endParaRPr lang="en-AR"/>
          </a:p>
        </p:txBody>
      </p:sp>
      <p:sp>
        <p:nvSpPr>
          <p:cNvPr id="21" name="Text 19"/>
          <p:cNvSpPr/>
          <p:nvPr/>
        </p:nvSpPr>
        <p:spPr>
          <a:xfrm>
            <a:off x="1143000" y="5722962"/>
            <a:ext cx="5018821" cy="706636"/>
          </a:xfrm>
          <a:prstGeom prst="rect">
            <a:avLst/>
          </a:prstGeom>
          <a:noFill/>
          <a:ln/>
        </p:spPr>
        <p:txBody>
          <a:bodyPr wrap="square" lIns="25400" tIns="25400" rIns="25400" bIns="25400" rtlCol="0" anchor="t">
            <a:normAutofit/>
          </a:bodyPr>
          <a:lstStyle/>
          <a:p>
            <a:pPr marL="0" indent="0" algn="l">
              <a:lnSpc>
                <a:spcPct val="135000"/>
              </a:lnSpc>
              <a:buNone/>
            </a:pPr>
            <a:r>
              <a:rPr lang="en-US" sz="1650" b="1" kern="0" spc="66" dirty="0">
                <a:solidFill>
                  <a:srgbClr val="14110D"/>
                </a:solidFill>
                <a:latin typeface="Georgia" pitchFamily="34" charset="0"/>
                <a:ea typeface="Georgia" pitchFamily="34" charset="-122"/>
                <a:cs typeface="Georgia" pitchFamily="34" charset="-120"/>
              </a:rPr>
              <a:t>Fundación Conecta </a:t>
            </a:r>
            <a:r>
              <a:rPr lang="en-US" sz="1350" kern="0" spc="66" dirty="0">
                <a:solidFill>
                  <a:srgbClr val="8A8170"/>
                </a:solidFill>
                <a:latin typeface="Georgia" pitchFamily="34" charset="0"/>
                <a:ea typeface="Georgia" pitchFamily="34" charset="-122"/>
                <a:cs typeface="Georgia" pitchFamily="34" charset="-120"/>
              </a:rPr>
              <a:t>Radicada y tributando en Esquel.</a:t>
            </a:r>
            <a:endParaRPr lang="en-US" sz="1650" dirty="0"/>
          </a:p>
        </p:txBody>
      </p:sp>
      <p:sp>
        <p:nvSpPr>
          <p:cNvPr id="22" name="Shape 20"/>
          <p:cNvSpPr/>
          <p:nvPr/>
        </p:nvSpPr>
        <p:spPr>
          <a:xfrm>
            <a:off x="6195045" y="6639148"/>
            <a:ext cx="7536210" cy="9525"/>
          </a:xfrm>
          <a:prstGeom prst="rect">
            <a:avLst/>
          </a:prstGeom>
          <a:solidFill>
            <a:srgbClr val="D9D2C0"/>
          </a:solidFill>
          <a:ln/>
        </p:spPr>
        <p:txBody>
          <a:bodyPr/>
          <a:lstStyle/>
          <a:p>
            <a:endParaRPr lang="en-AR"/>
          </a:p>
        </p:txBody>
      </p:sp>
      <p:sp>
        <p:nvSpPr>
          <p:cNvPr id="23" name="Text 21"/>
          <p:cNvSpPr/>
          <p:nvPr/>
        </p:nvSpPr>
        <p:spPr>
          <a:xfrm>
            <a:off x="6385545" y="5722962"/>
            <a:ext cx="7381296" cy="706636"/>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950" dirty="0">
                <a:solidFill>
                  <a:srgbClr val="14110D"/>
                </a:solidFill>
                <a:latin typeface="Georgia" pitchFamily="34" charset="0"/>
                <a:ea typeface="Georgia" pitchFamily="34" charset="-122"/>
                <a:cs typeface="Georgia" pitchFamily="34" charset="-120"/>
              </a:rPr>
              <a:t>Fundraising internacional, gestión, operación del polo, programa comunitario, retiros y red de partners cripto/IA.</a:t>
            </a:r>
            <a:endParaRPr lang="en-US" sz="1950" dirty="0"/>
          </a:p>
        </p:txBody>
      </p:sp>
      <p:sp>
        <p:nvSpPr>
          <p:cNvPr id="24" name="Shape 22"/>
          <p:cNvSpPr/>
          <p:nvPr/>
        </p:nvSpPr>
        <p:spPr>
          <a:xfrm>
            <a:off x="13731255" y="6639148"/>
            <a:ext cx="3604245" cy="9525"/>
          </a:xfrm>
          <a:prstGeom prst="rect">
            <a:avLst/>
          </a:prstGeom>
          <a:solidFill>
            <a:srgbClr val="D9D2C0"/>
          </a:solidFill>
          <a:ln/>
        </p:spPr>
        <p:txBody>
          <a:bodyPr/>
          <a:lstStyle/>
          <a:p>
            <a:endParaRPr lang="en-AR"/>
          </a:p>
        </p:txBody>
      </p:sp>
      <p:sp>
        <p:nvSpPr>
          <p:cNvPr id="25" name="Text 23"/>
          <p:cNvSpPr/>
          <p:nvPr/>
        </p:nvSpPr>
        <p:spPr>
          <a:xfrm>
            <a:off x="13921755" y="5722962"/>
            <a:ext cx="3331372" cy="706636"/>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8A6420"/>
                </a:solidFill>
                <a:latin typeface="Georgia" pitchFamily="34" charset="0"/>
                <a:ea typeface="Georgia" pitchFamily="34" charset="-122"/>
                <a:cs typeface="Georgia" pitchFamily="34" charset="-120"/>
              </a:rPr>
              <a:t>Cero</a:t>
            </a:r>
            <a:endParaRPr lang="en-US" sz="1950" dirty="0"/>
          </a:p>
        </p:txBody>
      </p:sp>
      <p:sp>
        <p:nvSpPr>
          <p:cNvPr id="26" name="Shape 24"/>
          <p:cNvSpPr/>
          <p:nvPr/>
        </p:nvSpPr>
        <p:spPr>
          <a:xfrm>
            <a:off x="952500" y="7812509"/>
            <a:ext cx="5242545" cy="9525"/>
          </a:xfrm>
          <a:prstGeom prst="rect">
            <a:avLst/>
          </a:prstGeom>
          <a:solidFill>
            <a:srgbClr val="D9D2C0"/>
          </a:solidFill>
          <a:ln/>
        </p:spPr>
        <p:txBody>
          <a:bodyPr/>
          <a:lstStyle/>
          <a:p>
            <a:endParaRPr lang="en-AR"/>
          </a:p>
        </p:txBody>
      </p:sp>
      <p:sp>
        <p:nvSpPr>
          <p:cNvPr id="27" name="Text 25"/>
          <p:cNvSpPr/>
          <p:nvPr/>
        </p:nvSpPr>
        <p:spPr>
          <a:xfrm>
            <a:off x="1143000" y="6896323"/>
            <a:ext cx="5018821" cy="706636"/>
          </a:xfrm>
          <a:prstGeom prst="rect">
            <a:avLst/>
          </a:prstGeom>
          <a:noFill/>
          <a:ln/>
        </p:spPr>
        <p:txBody>
          <a:bodyPr wrap="square" lIns="25400" tIns="25400" rIns="25400" bIns="25400" rtlCol="0" anchor="t">
            <a:normAutofit/>
          </a:bodyPr>
          <a:lstStyle/>
          <a:p>
            <a:pPr marL="0" indent="0" algn="l">
              <a:lnSpc>
                <a:spcPct val="135000"/>
              </a:lnSpc>
              <a:buNone/>
            </a:pPr>
            <a:r>
              <a:rPr lang="en-US" sz="1650" b="1" kern="0" spc="66" dirty="0">
                <a:solidFill>
                  <a:srgbClr val="14110D"/>
                </a:solidFill>
                <a:latin typeface="Georgia" pitchFamily="34" charset="0"/>
                <a:ea typeface="Georgia" pitchFamily="34" charset="-122"/>
                <a:cs typeface="Georgia" pitchFamily="34" charset="-120"/>
              </a:rPr>
              <a:t>Ecosistema privado local </a:t>
            </a:r>
            <a:r>
              <a:rPr lang="en-US" sz="1350" kern="0" spc="66" dirty="0">
                <a:solidFill>
                  <a:srgbClr val="8A8170"/>
                </a:solidFill>
                <a:latin typeface="Georgia" pitchFamily="34" charset="0"/>
                <a:ea typeface="Georgia" pitchFamily="34" charset="-122"/>
                <a:cs typeface="Georgia" pitchFamily="34" charset="-120"/>
              </a:rPr>
              <a:t>Hotelería, gastronomía, artesanos, marcas patagónicas, merchandise.</a:t>
            </a:r>
            <a:endParaRPr lang="en-US" sz="1650" dirty="0"/>
          </a:p>
        </p:txBody>
      </p:sp>
      <p:sp>
        <p:nvSpPr>
          <p:cNvPr id="28" name="Shape 26"/>
          <p:cNvSpPr/>
          <p:nvPr/>
        </p:nvSpPr>
        <p:spPr>
          <a:xfrm>
            <a:off x="6195045" y="7812509"/>
            <a:ext cx="7536210" cy="9525"/>
          </a:xfrm>
          <a:prstGeom prst="rect">
            <a:avLst/>
          </a:prstGeom>
          <a:solidFill>
            <a:srgbClr val="D9D2C0"/>
          </a:solidFill>
          <a:ln/>
        </p:spPr>
        <p:txBody>
          <a:bodyPr/>
          <a:lstStyle/>
          <a:p>
            <a:endParaRPr lang="en-AR"/>
          </a:p>
        </p:txBody>
      </p:sp>
      <p:sp>
        <p:nvSpPr>
          <p:cNvPr id="29" name="Text 27"/>
          <p:cNvSpPr/>
          <p:nvPr/>
        </p:nvSpPr>
        <p:spPr>
          <a:xfrm>
            <a:off x="6385545" y="6896323"/>
            <a:ext cx="7381296" cy="706636"/>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950" dirty="0">
                <a:solidFill>
                  <a:srgbClr val="14110D"/>
                </a:solidFill>
                <a:latin typeface="Georgia" pitchFamily="34" charset="0"/>
                <a:ea typeface="Georgia" pitchFamily="34" charset="-122"/>
                <a:cs typeface="Georgia" pitchFamily="34" charset="-120"/>
              </a:rPr>
              <a:t>Servicios al visitante, producción y exportación de merchandise, partnerships de Coalición Patagónica con marcas premium argentinas.</a:t>
            </a:r>
            <a:endParaRPr lang="en-US" sz="1950" dirty="0"/>
          </a:p>
        </p:txBody>
      </p:sp>
      <p:sp>
        <p:nvSpPr>
          <p:cNvPr id="30" name="Shape 28"/>
          <p:cNvSpPr/>
          <p:nvPr/>
        </p:nvSpPr>
        <p:spPr>
          <a:xfrm>
            <a:off x="13731255" y="7812509"/>
            <a:ext cx="3604245" cy="9525"/>
          </a:xfrm>
          <a:prstGeom prst="rect">
            <a:avLst/>
          </a:prstGeom>
          <a:solidFill>
            <a:srgbClr val="D9D2C0"/>
          </a:solidFill>
          <a:ln/>
        </p:spPr>
        <p:txBody>
          <a:bodyPr/>
          <a:lstStyle/>
          <a:p>
            <a:endParaRPr lang="en-AR"/>
          </a:p>
        </p:txBody>
      </p:sp>
      <p:sp>
        <p:nvSpPr>
          <p:cNvPr id="31" name="Text 29"/>
          <p:cNvSpPr/>
          <p:nvPr/>
        </p:nvSpPr>
        <p:spPr>
          <a:xfrm>
            <a:off x="13921755" y="6896323"/>
            <a:ext cx="3331372" cy="706636"/>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8A6420"/>
                </a:solidFill>
                <a:latin typeface="Georgia" pitchFamily="34" charset="0"/>
                <a:ea typeface="Georgia" pitchFamily="34" charset="-122"/>
                <a:cs typeface="Georgia" pitchFamily="34" charset="-120"/>
              </a:rPr>
              <a:t>Cero</a:t>
            </a:r>
            <a:endParaRPr lang="en-US" sz="1950" dirty="0"/>
          </a:p>
        </p:txBody>
      </p:sp>
      <p:sp>
        <p:nvSpPr>
          <p:cNvPr id="32" name="Shape 30"/>
          <p:cNvSpPr/>
          <p:nvPr/>
        </p:nvSpPr>
        <p:spPr>
          <a:xfrm>
            <a:off x="952500" y="8985870"/>
            <a:ext cx="5242545" cy="9525"/>
          </a:xfrm>
          <a:prstGeom prst="rect">
            <a:avLst/>
          </a:prstGeom>
          <a:solidFill>
            <a:srgbClr val="D9D2C0"/>
          </a:solidFill>
          <a:ln/>
        </p:spPr>
        <p:txBody>
          <a:bodyPr/>
          <a:lstStyle/>
          <a:p>
            <a:endParaRPr lang="en-AR"/>
          </a:p>
        </p:txBody>
      </p:sp>
      <p:sp>
        <p:nvSpPr>
          <p:cNvPr id="33" name="Text 31"/>
          <p:cNvSpPr/>
          <p:nvPr/>
        </p:nvSpPr>
        <p:spPr>
          <a:xfrm>
            <a:off x="1143000" y="8069684"/>
            <a:ext cx="5018821" cy="706636"/>
          </a:xfrm>
          <a:prstGeom prst="rect">
            <a:avLst/>
          </a:prstGeom>
          <a:noFill/>
          <a:ln/>
        </p:spPr>
        <p:txBody>
          <a:bodyPr wrap="square" lIns="25400" tIns="25400" rIns="25400" bIns="25400" rtlCol="0" anchor="t">
            <a:normAutofit/>
          </a:bodyPr>
          <a:lstStyle/>
          <a:p>
            <a:pPr marL="0" indent="0" algn="l">
              <a:lnSpc>
                <a:spcPct val="135000"/>
              </a:lnSpc>
              <a:buNone/>
            </a:pPr>
            <a:r>
              <a:rPr lang="en-US" sz="1650" b="1" kern="0" spc="66" dirty="0">
                <a:solidFill>
                  <a:srgbClr val="14110D"/>
                </a:solidFill>
                <a:latin typeface="Georgia" pitchFamily="34" charset="0"/>
                <a:ea typeface="Georgia" pitchFamily="34" charset="-122"/>
                <a:cs typeface="Georgia" pitchFamily="34" charset="-120"/>
              </a:rPr>
              <a:t>Municipio de Esquel</a:t>
            </a:r>
            <a:endParaRPr lang="en-US" sz="1650" dirty="0"/>
          </a:p>
        </p:txBody>
      </p:sp>
      <p:sp>
        <p:nvSpPr>
          <p:cNvPr id="34" name="Shape 32"/>
          <p:cNvSpPr/>
          <p:nvPr/>
        </p:nvSpPr>
        <p:spPr>
          <a:xfrm>
            <a:off x="6195045" y="8985870"/>
            <a:ext cx="7536210" cy="9525"/>
          </a:xfrm>
          <a:prstGeom prst="rect">
            <a:avLst/>
          </a:prstGeom>
          <a:solidFill>
            <a:srgbClr val="D9D2C0"/>
          </a:solidFill>
          <a:ln/>
        </p:spPr>
        <p:txBody>
          <a:bodyPr/>
          <a:lstStyle/>
          <a:p>
            <a:endParaRPr lang="en-AR"/>
          </a:p>
        </p:txBody>
      </p:sp>
      <p:sp>
        <p:nvSpPr>
          <p:cNvPr id="35" name="Text 33"/>
          <p:cNvSpPr/>
          <p:nvPr/>
        </p:nvSpPr>
        <p:spPr>
          <a:xfrm>
            <a:off x="6385545" y="8069684"/>
            <a:ext cx="7381296" cy="706636"/>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950" dirty="0">
                <a:solidFill>
                  <a:srgbClr val="14110D"/>
                </a:solidFill>
                <a:latin typeface="Georgia" pitchFamily="34" charset="0"/>
                <a:ea typeface="Georgia" pitchFamily="34" charset="-122"/>
                <a:cs typeface="Georgia" pitchFamily="34" charset="-120"/>
              </a:rPr>
              <a:t>Acceso a terrenos · Marco de exenciones impositivas · Respaldo institucional al fundraising.</a:t>
            </a:r>
            <a:endParaRPr lang="en-US" sz="1950" dirty="0"/>
          </a:p>
        </p:txBody>
      </p:sp>
      <p:sp>
        <p:nvSpPr>
          <p:cNvPr id="36" name="Shape 34"/>
          <p:cNvSpPr/>
          <p:nvPr/>
        </p:nvSpPr>
        <p:spPr>
          <a:xfrm>
            <a:off x="13731255" y="8985870"/>
            <a:ext cx="3604245" cy="9525"/>
          </a:xfrm>
          <a:prstGeom prst="rect">
            <a:avLst/>
          </a:prstGeom>
          <a:solidFill>
            <a:srgbClr val="D9D2C0"/>
          </a:solidFill>
          <a:ln/>
        </p:spPr>
        <p:txBody>
          <a:bodyPr/>
          <a:lstStyle/>
          <a:p>
            <a:endParaRPr lang="en-AR"/>
          </a:p>
        </p:txBody>
      </p:sp>
      <p:sp>
        <p:nvSpPr>
          <p:cNvPr id="37" name="Text 35"/>
          <p:cNvSpPr/>
          <p:nvPr/>
        </p:nvSpPr>
        <p:spPr>
          <a:xfrm>
            <a:off x="13921755" y="8069684"/>
            <a:ext cx="3331372" cy="706636"/>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14110D"/>
                </a:solidFill>
                <a:latin typeface="Georgia" pitchFamily="34" charset="0"/>
                <a:ea typeface="Georgia" pitchFamily="34" charset="-122"/>
                <a:cs typeface="Georgia" pitchFamily="34" charset="-120"/>
              </a:rPr>
              <a:t>Mínimo · sin caja</a:t>
            </a:r>
            <a:endParaRPr lang="en-US" sz="1950" dirty="0"/>
          </a:p>
        </p:txBody>
      </p:sp>
      <p:sp>
        <p:nvSpPr>
          <p:cNvPr id="38" name="Text 36"/>
          <p:cNvSpPr/>
          <p:nvPr/>
        </p:nvSpPr>
        <p:spPr>
          <a:xfrm>
            <a:off x="952500" y="9266858"/>
            <a:ext cx="13735050"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9" dirty="0">
                <a:solidFill>
                  <a:srgbClr val="8A8170"/>
                </a:solidFill>
                <a:latin typeface="Arial" pitchFamily="34" charset="0"/>
                <a:ea typeface="Arial" pitchFamily="34" charset="-122"/>
                <a:cs typeface="Arial" pitchFamily="34" charset="-120"/>
              </a:rPr>
              <a:t>Los cinco motores se suman al modelo. Todos aportan cero costo al municipio. Más actividad, mismo riesgo.</a:t>
            </a:r>
            <a:endParaRPr lang="en-US" sz="1800" dirty="0"/>
          </a:p>
        </p:txBody>
      </p:sp>
      <p:sp>
        <p:nvSpPr>
          <p:cNvPr id="39" name="Shape 37"/>
          <p:cNvSpPr/>
          <p:nvPr/>
        </p:nvSpPr>
        <p:spPr>
          <a:xfrm>
            <a:off x="952500" y="9815438"/>
            <a:ext cx="16383000" cy="9525"/>
          </a:xfrm>
          <a:prstGeom prst="rect">
            <a:avLst/>
          </a:prstGeom>
          <a:solidFill>
            <a:srgbClr val="D9D2C0"/>
          </a:solidFill>
          <a:ln/>
        </p:spPr>
        <p:txBody>
          <a:bodyPr/>
          <a:lstStyle/>
          <a:p>
            <a:endParaRPr lang="en-AR"/>
          </a:p>
        </p:txBody>
      </p:sp>
      <p:sp>
        <p:nvSpPr>
          <p:cNvPr id="40" name="Text 38"/>
          <p:cNvSpPr/>
          <p:nvPr/>
        </p:nvSpPr>
        <p:spPr>
          <a:xfrm>
            <a:off x="952500" y="10053563"/>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41" name="Text 39"/>
          <p:cNvSpPr/>
          <p:nvPr/>
        </p:nvSpPr>
        <p:spPr>
          <a:xfrm>
            <a:off x="16796965" y="10053563"/>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34 / 40 </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8">
    <p:bg>
      <p:bgPr>
        <a:solidFill>
          <a:srgbClr val="F1ECE0"/>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5426705" y="804863"/>
            <a:ext cx="198499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CAPÍTULO 05 · PEDIDO</a:t>
            </a:r>
            <a:endParaRPr lang="en-US" sz="1050" dirty="0"/>
          </a:p>
        </p:txBody>
      </p:sp>
      <p:sp>
        <p:nvSpPr>
          <p:cNvPr id="6" name="Text 4"/>
          <p:cNvSpPr/>
          <p:nvPr/>
        </p:nvSpPr>
        <p:spPr>
          <a:xfrm>
            <a:off x="952500" y="1657350"/>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EL PEDIDO AL MUNICIPIO</a:t>
            </a:r>
            <a:endParaRPr lang="en-US" sz="1350" dirty="0"/>
          </a:p>
        </p:txBody>
      </p:sp>
      <p:sp>
        <p:nvSpPr>
          <p:cNvPr id="7" name="Text 5"/>
          <p:cNvSpPr/>
          <p:nvPr/>
        </p:nvSpPr>
        <p:spPr>
          <a:xfrm>
            <a:off x="952500" y="2057400"/>
            <a:ext cx="16874490" cy="1464469"/>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Tres cosas concretas. </a:t>
            </a:r>
            <a:r>
              <a:rPr lang="en-US" sz="5400" i="1" kern="0" spc="-97" dirty="0">
                <a:solidFill>
                  <a:srgbClr val="8A6420"/>
                </a:solidFill>
                <a:latin typeface="Georgia" pitchFamily="34" charset="0"/>
                <a:ea typeface="Georgia" pitchFamily="34" charset="-122"/>
                <a:cs typeface="Georgia" pitchFamily="34" charset="-120"/>
              </a:rPr>
              <a:t>Ninguna implica caja.</a:t>
            </a:r>
            <a:endParaRPr lang="en-US" sz="5400" dirty="0"/>
          </a:p>
        </p:txBody>
      </p:sp>
      <p:sp>
        <p:nvSpPr>
          <p:cNvPr id="8" name="Shape 6"/>
          <p:cNvSpPr/>
          <p:nvPr/>
        </p:nvSpPr>
        <p:spPr>
          <a:xfrm>
            <a:off x="952500" y="3940969"/>
            <a:ext cx="16383000" cy="9525"/>
          </a:xfrm>
          <a:prstGeom prst="rect">
            <a:avLst/>
          </a:prstGeom>
          <a:solidFill>
            <a:srgbClr val="D9D2C0"/>
          </a:solidFill>
          <a:ln/>
        </p:spPr>
        <p:txBody>
          <a:bodyPr/>
          <a:lstStyle/>
          <a:p>
            <a:endParaRPr lang="en-AR"/>
          </a:p>
        </p:txBody>
      </p:sp>
      <p:sp>
        <p:nvSpPr>
          <p:cNvPr id="9" name="Text 7"/>
          <p:cNvSpPr/>
          <p:nvPr/>
        </p:nvSpPr>
        <p:spPr>
          <a:xfrm>
            <a:off x="952500" y="4293394"/>
            <a:ext cx="933450"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dirty="0">
                <a:solidFill>
                  <a:srgbClr val="8A6420"/>
                </a:solidFill>
                <a:latin typeface="Georgia" pitchFamily="34" charset="0"/>
                <a:ea typeface="Georgia" pitchFamily="34" charset="-122"/>
                <a:cs typeface="Georgia" pitchFamily="34" charset="-120"/>
              </a:rPr>
              <a:t>01</a:t>
            </a:r>
            <a:endParaRPr lang="en-US" sz="5400" dirty="0"/>
          </a:p>
        </p:txBody>
      </p:sp>
      <p:sp>
        <p:nvSpPr>
          <p:cNvPr id="10" name="Text 8"/>
          <p:cNvSpPr/>
          <p:nvPr/>
        </p:nvSpPr>
        <p:spPr>
          <a:xfrm>
            <a:off x="2114550" y="4531519"/>
            <a:ext cx="15677579" cy="4723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850" dirty="0">
                <a:solidFill>
                  <a:srgbClr val="14110D"/>
                </a:solidFill>
                <a:latin typeface="Georgia" pitchFamily="34" charset="0"/>
                <a:ea typeface="Georgia" pitchFamily="34" charset="-122"/>
                <a:cs typeface="Georgia" pitchFamily="34" charset="-120"/>
              </a:rPr>
              <a:t>Acceso a terrenos</a:t>
            </a:r>
            <a:endParaRPr lang="en-US" sz="2850" dirty="0"/>
          </a:p>
        </p:txBody>
      </p:sp>
      <p:sp>
        <p:nvSpPr>
          <p:cNvPr id="11" name="Text 9"/>
          <p:cNvSpPr/>
          <p:nvPr/>
        </p:nvSpPr>
        <p:spPr>
          <a:xfrm>
            <a:off x="2114550" y="5061049"/>
            <a:ext cx="15677579" cy="36954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dirty="0">
                <a:solidFill>
                  <a:srgbClr val="3A342A"/>
                </a:solidFill>
                <a:latin typeface="Georgia" pitchFamily="34" charset="0"/>
                <a:ea typeface="Georgia" pitchFamily="34" charset="-122"/>
                <a:cs typeface="Georgia" pitchFamily="34" charset="-120"/>
              </a:rPr>
              <a:t>Donación, cesión en comodato o venta facilitada de terrenos fiscales hoy improductivos en las cercanías de la ciudad.</a:t>
            </a:r>
            <a:endParaRPr lang="en-US" sz="1800" dirty="0"/>
          </a:p>
        </p:txBody>
      </p:sp>
      <p:sp>
        <p:nvSpPr>
          <p:cNvPr id="12" name="Shape 10"/>
          <p:cNvSpPr/>
          <p:nvPr/>
        </p:nvSpPr>
        <p:spPr>
          <a:xfrm>
            <a:off x="952500" y="5735389"/>
            <a:ext cx="16383000" cy="9525"/>
          </a:xfrm>
          <a:prstGeom prst="rect">
            <a:avLst/>
          </a:prstGeom>
          <a:solidFill>
            <a:srgbClr val="D9D2C0"/>
          </a:solidFill>
          <a:ln/>
        </p:spPr>
        <p:txBody>
          <a:bodyPr/>
          <a:lstStyle/>
          <a:p>
            <a:endParaRPr lang="en-AR"/>
          </a:p>
        </p:txBody>
      </p:sp>
      <p:sp>
        <p:nvSpPr>
          <p:cNvPr id="13" name="Text 11"/>
          <p:cNvSpPr/>
          <p:nvPr/>
        </p:nvSpPr>
        <p:spPr>
          <a:xfrm>
            <a:off x="952500" y="6087814"/>
            <a:ext cx="933450"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dirty="0">
                <a:solidFill>
                  <a:srgbClr val="8A6420"/>
                </a:solidFill>
                <a:latin typeface="Georgia" pitchFamily="34" charset="0"/>
                <a:ea typeface="Georgia" pitchFamily="34" charset="-122"/>
                <a:cs typeface="Georgia" pitchFamily="34" charset="-120"/>
              </a:rPr>
              <a:t>02</a:t>
            </a:r>
            <a:endParaRPr lang="en-US" sz="5400" dirty="0"/>
          </a:p>
        </p:txBody>
      </p:sp>
      <p:sp>
        <p:nvSpPr>
          <p:cNvPr id="14" name="Text 12"/>
          <p:cNvSpPr/>
          <p:nvPr/>
        </p:nvSpPr>
        <p:spPr>
          <a:xfrm>
            <a:off x="2114550" y="6325939"/>
            <a:ext cx="15677579" cy="4723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850" dirty="0">
                <a:solidFill>
                  <a:srgbClr val="14110D"/>
                </a:solidFill>
                <a:latin typeface="Georgia" pitchFamily="34" charset="0"/>
                <a:ea typeface="Georgia" pitchFamily="34" charset="-122"/>
                <a:cs typeface="Georgia" pitchFamily="34" charset="-120"/>
              </a:rPr>
              <a:t>Marco de exenciones impositivas</a:t>
            </a:r>
            <a:endParaRPr lang="en-US" sz="2850" dirty="0"/>
          </a:p>
        </p:txBody>
      </p:sp>
      <p:sp>
        <p:nvSpPr>
          <p:cNvPr id="15" name="Text 13"/>
          <p:cNvSpPr/>
          <p:nvPr/>
        </p:nvSpPr>
        <p:spPr>
          <a:xfrm>
            <a:off x="2114550" y="6855470"/>
            <a:ext cx="15677579" cy="36954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dirty="0">
                <a:solidFill>
                  <a:srgbClr val="3A342A"/>
                </a:solidFill>
                <a:latin typeface="Georgia" pitchFamily="34" charset="0"/>
                <a:ea typeface="Georgia" pitchFamily="34" charset="-122"/>
                <a:cs typeface="Georgia" pitchFamily="34" charset="-120"/>
              </a:rPr>
              <a:t>Tasas, habilitaciones y derechos, en línea con el tratamiento que reciben otros proyectos de desarrollo turístico estratégico.</a:t>
            </a:r>
            <a:endParaRPr lang="en-US" sz="1800" dirty="0"/>
          </a:p>
        </p:txBody>
      </p:sp>
      <p:sp>
        <p:nvSpPr>
          <p:cNvPr id="16" name="Shape 14"/>
          <p:cNvSpPr/>
          <p:nvPr/>
        </p:nvSpPr>
        <p:spPr>
          <a:xfrm>
            <a:off x="952500" y="9324231"/>
            <a:ext cx="16383000" cy="9525"/>
          </a:xfrm>
          <a:prstGeom prst="rect">
            <a:avLst/>
          </a:prstGeom>
          <a:solidFill>
            <a:srgbClr val="D9D2C0"/>
          </a:solidFill>
          <a:ln/>
        </p:spPr>
        <p:txBody>
          <a:bodyPr/>
          <a:lstStyle/>
          <a:p>
            <a:endParaRPr lang="en-AR"/>
          </a:p>
        </p:txBody>
      </p:sp>
      <p:sp>
        <p:nvSpPr>
          <p:cNvPr id="17" name="Shape 15"/>
          <p:cNvSpPr/>
          <p:nvPr/>
        </p:nvSpPr>
        <p:spPr>
          <a:xfrm>
            <a:off x="952500" y="7529810"/>
            <a:ext cx="16383000" cy="9525"/>
          </a:xfrm>
          <a:prstGeom prst="rect">
            <a:avLst/>
          </a:prstGeom>
          <a:solidFill>
            <a:srgbClr val="D9D2C0"/>
          </a:solidFill>
          <a:ln/>
        </p:spPr>
        <p:txBody>
          <a:bodyPr/>
          <a:lstStyle/>
          <a:p>
            <a:endParaRPr lang="en-AR"/>
          </a:p>
        </p:txBody>
      </p:sp>
      <p:sp>
        <p:nvSpPr>
          <p:cNvPr id="18" name="Text 16"/>
          <p:cNvSpPr/>
          <p:nvPr/>
        </p:nvSpPr>
        <p:spPr>
          <a:xfrm>
            <a:off x="952500" y="7882235"/>
            <a:ext cx="933450"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dirty="0">
                <a:solidFill>
                  <a:srgbClr val="8A6420"/>
                </a:solidFill>
                <a:latin typeface="Georgia" pitchFamily="34" charset="0"/>
                <a:ea typeface="Georgia" pitchFamily="34" charset="-122"/>
                <a:cs typeface="Georgia" pitchFamily="34" charset="-120"/>
              </a:rPr>
              <a:t>03</a:t>
            </a:r>
            <a:endParaRPr lang="en-US" sz="5400" dirty="0"/>
          </a:p>
        </p:txBody>
      </p:sp>
      <p:sp>
        <p:nvSpPr>
          <p:cNvPr id="19" name="Text 17"/>
          <p:cNvSpPr/>
          <p:nvPr/>
        </p:nvSpPr>
        <p:spPr>
          <a:xfrm>
            <a:off x="2114550" y="8120360"/>
            <a:ext cx="15677579" cy="4723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850" dirty="0">
                <a:solidFill>
                  <a:srgbClr val="14110D"/>
                </a:solidFill>
                <a:latin typeface="Georgia" pitchFamily="34" charset="0"/>
                <a:ea typeface="Georgia" pitchFamily="34" charset="-122"/>
                <a:cs typeface="Georgia" pitchFamily="34" charset="-120"/>
              </a:rPr>
              <a:t>Respaldo institucional al fundraising</a:t>
            </a:r>
            <a:endParaRPr lang="en-US" sz="2850" dirty="0"/>
          </a:p>
        </p:txBody>
      </p:sp>
      <p:sp>
        <p:nvSpPr>
          <p:cNvPr id="20" name="Text 18"/>
          <p:cNvSpPr/>
          <p:nvPr/>
        </p:nvSpPr>
        <p:spPr>
          <a:xfrm>
            <a:off x="2114550" y="8649891"/>
            <a:ext cx="15677579" cy="36954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dirty="0">
                <a:solidFill>
                  <a:srgbClr val="3A342A"/>
                </a:solidFill>
                <a:latin typeface="Georgia" pitchFamily="34" charset="0"/>
                <a:ea typeface="Georgia" pitchFamily="34" charset="-122"/>
                <a:cs typeface="Georgia" pitchFamily="34" charset="-120"/>
              </a:rPr>
              <a:t>Que el municipio aparezca como socio institucional ante las escuelas budistas internacionales. Sin costo: acelera y multiplica la inversión externa.</a:t>
            </a:r>
            <a:endParaRPr lang="en-US" sz="1800" dirty="0"/>
          </a:p>
        </p:txBody>
      </p:sp>
      <p:sp>
        <p:nvSpPr>
          <p:cNvPr id="21" name="Shape 19"/>
          <p:cNvSpPr/>
          <p:nvPr/>
        </p:nvSpPr>
        <p:spPr>
          <a:xfrm>
            <a:off x="952500" y="9333756"/>
            <a:ext cx="16383000" cy="9525"/>
          </a:xfrm>
          <a:prstGeom prst="rect">
            <a:avLst/>
          </a:prstGeom>
          <a:solidFill>
            <a:srgbClr val="D9D2C0"/>
          </a:solidFill>
          <a:ln/>
        </p:spPr>
        <p:txBody>
          <a:bodyPr/>
          <a:lstStyle/>
          <a:p>
            <a:endParaRPr lang="en-AR"/>
          </a:p>
        </p:txBody>
      </p:sp>
      <p:sp>
        <p:nvSpPr>
          <p:cNvPr id="22" name="Text 20"/>
          <p:cNvSpPr/>
          <p:nvPr/>
        </p:nvSpPr>
        <p:spPr>
          <a:xfrm>
            <a:off x="952500" y="9571881"/>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23" name="Text 21"/>
          <p:cNvSpPr/>
          <p:nvPr/>
        </p:nvSpPr>
        <p:spPr>
          <a:xfrm>
            <a:off x="16796965" y="9571881"/>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35 / 40 </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9">
    <p:bg>
      <p:bgPr>
        <a:solidFill>
          <a:srgbClr val="FAF8F3"/>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5419263" y="804863"/>
            <a:ext cx="1992437"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CAPÍTULO 06 · RIESGO</a:t>
            </a:r>
            <a:endParaRPr lang="en-US" sz="1050" dirty="0"/>
          </a:p>
        </p:txBody>
      </p:sp>
      <p:sp>
        <p:nvSpPr>
          <p:cNvPr id="6" name="Text 4"/>
          <p:cNvSpPr/>
          <p:nvPr/>
        </p:nvSpPr>
        <p:spPr>
          <a:xfrm>
            <a:off x="952500" y="1657350"/>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EVALUACIÓN DE RIESGO</a:t>
            </a:r>
            <a:endParaRPr lang="en-US" sz="1350" dirty="0"/>
          </a:p>
        </p:txBody>
      </p:sp>
      <p:sp>
        <p:nvSpPr>
          <p:cNvPr id="7" name="Text 5"/>
          <p:cNvSpPr/>
          <p:nvPr/>
        </p:nvSpPr>
        <p:spPr>
          <a:xfrm>
            <a:off x="952500" y="2057400"/>
            <a:ext cx="16874490" cy="1464469"/>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Piso bajo. </a:t>
            </a:r>
            <a:r>
              <a:rPr lang="en-US" sz="5400" i="1" kern="0" spc="-97" dirty="0">
                <a:solidFill>
                  <a:srgbClr val="8A6420"/>
                </a:solidFill>
                <a:latin typeface="Georgia" pitchFamily="34" charset="0"/>
                <a:ea typeface="Georgia" pitchFamily="34" charset="-122"/>
                <a:cs typeface="Georgia" pitchFamily="34" charset="-120"/>
              </a:rPr>
              <a:t>Techo enorme.</a:t>
            </a:r>
            <a:endParaRPr lang="en-US" sz="5400" dirty="0"/>
          </a:p>
        </p:txBody>
      </p:sp>
      <p:sp>
        <p:nvSpPr>
          <p:cNvPr id="8" name="Shape 6"/>
          <p:cNvSpPr/>
          <p:nvPr/>
        </p:nvSpPr>
        <p:spPr>
          <a:xfrm>
            <a:off x="952500" y="4017169"/>
            <a:ext cx="7924800" cy="5117306"/>
          </a:xfrm>
          <a:prstGeom prst="rect">
            <a:avLst/>
          </a:prstGeom>
          <a:solidFill>
            <a:srgbClr val="FAF8F3"/>
          </a:solidFill>
          <a:ln w="9525">
            <a:solidFill>
              <a:srgbClr val="D9D2C0"/>
            </a:solidFill>
            <a:prstDash val="solid"/>
          </a:ln>
        </p:spPr>
        <p:txBody>
          <a:bodyPr/>
          <a:lstStyle/>
          <a:p>
            <a:endParaRPr lang="en-AR"/>
          </a:p>
        </p:txBody>
      </p:sp>
      <p:sp>
        <p:nvSpPr>
          <p:cNvPr id="9" name="Text 7"/>
          <p:cNvSpPr/>
          <p:nvPr/>
        </p:nvSpPr>
        <p:spPr>
          <a:xfrm>
            <a:off x="1381125" y="4483894"/>
            <a:ext cx="7279577"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231" dirty="0">
                <a:solidFill>
                  <a:srgbClr val="8A8170"/>
                </a:solidFill>
                <a:latin typeface="Arial" pitchFamily="34" charset="0"/>
                <a:ea typeface="Arial" pitchFamily="34" charset="-122"/>
                <a:cs typeface="Arial" pitchFamily="34" charset="-120"/>
              </a:rPr>
              <a:t>SI NO FUNCIONA</a:t>
            </a:r>
            <a:endParaRPr lang="en-US" sz="1050" dirty="0"/>
          </a:p>
        </p:txBody>
      </p:sp>
      <p:sp>
        <p:nvSpPr>
          <p:cNvPr id="10" name="Text 8"/>
          <p:cNvSpPr/>
          <p:nvPr/>
        </p:nvSpPr>
        <p:spPr>
          <a:xfrm>
            <a:off x="1381125" y="4902994"/>
            <a:ext cx="7279577" cy="1257300"/>
          </a:xfrm>
          <a:prstGeom prst="rect">
            <a:avLst/>
          </a:prstGeom>
          <a:noFill/>
          <a:ln/>
        </p:spPr>
        <p:txBody>
          <a:bodyPr wrap="square" lIns="25400" tIns="25400" rIns="25400" bIns="25400" rtlCol="0" anchor="t">
            <a:normAutofit/>
          </a:bodyPr>
          <a:lstStyle/>
          <a:p>
            <a:pPr marL="0" indent="0" algn="l">
              <a:lnSpc>
                <a:spcPct val="100000"/>
              </a:lnSpc>
              <a:buNone/>
            </a:pPr>
            <a:r>
              <a:rPr lang="en-US" sz="4800" kern="0" spc="-96" dirty="0">
                <a:solidFill>
                  <a:srgbClr val="14110D"/>
                </a:solidFill>
                <a:latin typeface="Georgia" pitchFamily="34" charset="0"/>
                <a:ea typeface="Georgia" pitchFamily="34" charset="-122"/>
                <a:cs typeface="Georgia" pitchFamily="34" charset="-120"/>
              </a:rPr>
              <a:t>Costo mínimo</a:t>
            </a:r>
            <a:endParaRPr lang="en-US" sz="4800" dirty="0"/>
          </a:p>
        </p:txBody>
      </p:sp>
      <p:sp>
        <p:nvSpPr>
          <p:cNvPr id="11" name="Text 9"/>
          <p:cNvSpPr/>
          <p:nvPr/>
        </p:nvSpPr>
        <p:spPr>
          <a:xfrm>
            <a:off x="1381125" y="6350794"/>
            <a:ext cx="7279577" cy="1032421"/>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3A342A"/>
                </a:solidFill>
                <a:latin typeface="Georgia" pitchFamily="34" charset="0"/>
                <a:ea typeface="Georgia" pitchFamily="34" charset="-122"/>
                <a:cs typeface="Georgia" pitchFamily="34" charset="-120"/>
              </a:rPr>
              <a:t>Los terrenos —probablemente improductivos hoy— siguen ahí. No hubo inversión pública significativa. No hay deuda. No hay obras municipales abandonadas.</a:t>
            </a:r>
            <a:endParaRPr lang="en-US" sz="1800" dirty="0"/>
          </a:p>
        </p:txBody>
      </p:sp>
      <p:sp>
        <p:nvSpPr>
          <p:cNvPr id="12" name="Shape 10"/>
          <p:cNvSpPr/>
          <p:nvPr/>
        </p:nvSpPr>
        <p:spPr>
          <a:xfrm>
            <a:off x="1381125" y="8015288"/>
            <a:ext cx="7067550" cy="9525"/>
          </a:xfrm>
          <a:prstGeom prst="rect">
            <a:avLst/>
          </a:prstGeom>
          <a:solidFill>
            <a:srgbClr val="D9D2C0"/>
          </a:solidFill>
          <a:ln/>
        </p:spPr>
        <p:txBody>
          <a:bodyPr/>
          <a:lstStyle/>
          <a:p>
            <a:endParaRPr lang="en-AR"/>
          </a:p>
        </p:txBody>
      </p:sp>
      <p:sp>
        <p:nvSpPr>
          <p:cNvPr id="13" name="Text 11"/>
          <p:cNvSpPr/>
          <p:nvPr/>
        </p:nvSpPr>
        <p:spPr>
          <a:xfrm>
            <a:off x="1381125" y="8291513"/>
            <a:ext cx="1706612" cy="176212"/>
          </a:xfrm>
          <a:prstGeom prst="rect">
            <a:avLst/>
          </a:prstGeom>
          <a:noFill/>
          <a:ln/>
        </p:spPr>
        <p:txBody>
          <a:bodyPr wrap="square" lIns="25400" tIns="25400" rIns="25400" bIns="25400" rtlCol="0" anchor="t">
            <a:normAutofit lnSpcReduction="10000"/>
          </a:bodyPr>
          <a:lstStyle/>
          <a:p>
            <a:pPr marL="0" indent="0" algn="l">
              <a:buNone/>
            </a:pPr>
            <a:r>
              <a:rPr lang="en-US" sz="900" kern="0" spc="144" dirty="0">
                <a:solidFill>
                  <a:srgbClr val="8A6420"/>
                </a:solidFill>
                <a:latin typeface="Arial" pitchFamily="34" charset="0"/>
                <a:ea typeface="Arial" pitchFamily="34" charset="-122"/>
                <a:cs typeface="Arial" pitchFamily="34" charset="-120"/>
              </a:rPr>
              <a:t>INVERSIÓN MUNICIPAL</a:t>
            </a:r>
            <a:endParaRPr lang="en-US" sz="900" dirty="0"/>
          </a:p>
        </p:txBody>
      </p:sp>
      <p:sp>
        <p:nvSpPr>
          <p:cNvPr id="14" name="Text 12"/>
          <p:cNvSpPr/>
          <p:nvPr/>
        </p:nvSpPr>
        <p:spPr>
          <a:xfrm>
            <a:off x="1381125" y="8429625"/>
            <a:ext cx="1706612"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14110D"/>
                </a:solidFill>
                <a:latin typeface="Georgia" pitchFamily="34" charset="0"/>
                <a:ea typeface="Georgia" pitchFamily="34" charset="-122"/>
                <a:cs typeface="Georgia" pitchFamily="34" charset="-120"/>
              </a:rPr>
              <a:t>≈ 0</a:t>
            </a:r>
            <a:endParaRPr lang="en-US" sz="1650" dirty="0"/>
          </a:p>
        </p:txBody>
      </p:sp>
      <p:sp>
        <p:nvSpPr>
          <p:cNvPr id="15" name="Text 13"/>
          <p:cNvSpPr/>
          <p:nvPr/>
        </p:nvSpPr>
        <p:spPr>
          <a:xfrm>
            <a:off x="3316337" y="8291513"/>
            <a:ext cx="1382241" cy="176212"/>
          </a:xfrm>
          <a:prstGeom prst="rect">
            <a:avLst/>
          </a:prstGeom>
          <a:noFill/>
          <a:ln/>
        </p:spPr>
        <p:txBody>
          <a:bodyPr wrap="square" lIns="25400" tIns="25400" rIns="25400" bIns="25400" rtlCol="0" anchor="t">
            <a:normAutofit lnSpcReduction="10000"/>
          </a:bodyPr>
          <a:lstStyle/>
          <a:p>
            <a:pPr marL="0" indent="0" algn="l">
              <a:buNone/>
            </a:pPr>
            <a:r>
              <a:rPr lang="en-US" sz="900" kern="0" spc="144" dirty="0">
                <a:solidFill>
                  <a:srgbClr val="8A6420"/>
                </a:solidFill>
                <a:latin typeface="Arial" pitchFamily="34" charset="0"/>
                <a:ea typeface="Arial" pitchFamily="34" charset="-122"/>
                <a:cs typeface="Arial" pitchFamily="34" charset="-120"/>
              </a:rPr>
              <a:t>DEUDA GENERADA</a:t>
            </a:r>
            <a:endParaRPr lang="en-US" sz="900" dirty="0"/>
          </a:p>
        </p:txBody>
      </p:sp>
      <p:sp>
        <p:nvSpPr>
          <p:cNvPr id="16" name="Text 14"/>
          <p:cNvSpPr/>
          <p:nvPr/>
        </p:nvSpPr>
        <p:spPr>
          <a:xfrm>
            <a:off x="3316337" y="8429625"/>
            <a:ext cx="1382241"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14110D"/>
                </a:solidFill>
                <a:latin typeface="Georgia" pitchFamily="34" charset="0"/>
                <a:ea typeface="Georgia" pitchFamily="34" charset="-122"/>
                <a:cs typeface="Georgia" pitchFamily="34" charset="-120"/>
              </a:rPr>
              <a:t>≈ 0</a:t>
            </a:r>
            <a:endParaRPr lang="en-US" sz="1650" dirty="0"/>
          </a:p>
        </p:txBody>
      </p:sp>
      <p:sp>
        <p:nvSpPr>
          <p:cNvPr id="17" name="Shape 15"/>
          <p:cNvSpPr/>
          <p:nvPr/>
        </p:nvSpPr>
        <p:spPr>
          <a:xfrm>
            <a:off x="9410700" y="4017169"/>
            <a:ext cx="7924800" cy="5117306"/>
          </a:xfrm>
          <a:prstGeom prst="rect">
            <a:avLst/>
          </a:prstGeom>
          <a:solidFill>
            <a:srgbClr val="FBF5E6"/>
          </a:solidFill>
          <a:ln w="9525">
            <a:solidFill>
              <a:srgbClr val="8A6420"/>
            </a:solidFill>
            <a:prstDash val="solid"/>
          </a:ln>
        </p:spPr>
        <p:txBody>
          <a:bodyPr/>
          <a:lstStyle/>
          <a:p>
            <a:endParaRPr lang="en-AR"/>
          </a:p>
        </p:txBody>
      </p:sp>
      <p:sp>
        <p:nvSpPr>
          <p:cNvPr id="18" name="Text 16"/>
          <p:cNvSpPr/>
          <p:nvPr/>
        </p:nvSpPr>
        <p:spPr>
          <a:xfrm>
            <a:off x="9839325" y="4483894"/>
            <a:ext cx="7279577"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231" dirty="0">
                <a:solidFill>
                  <a:srgbClr val="8A6420"/>
                </a:solidFill>
                <a:latin typeface="Arial" pitchFamily="34" charset="0"/>
                <a:ea typeface="Arial" pitchFamily="34" charset="-122"/>
                <a:cs typeface="Arial" pitchFamily="34" charset="-120"/>
              </a:rPr>
              <a:t>SI FUNCIONA</a:t>
            </a:r>
            <a:endParaRPr lang="en-US" sz="1050" dirty="0"/>
          </a:p>
        </p:txBody>
      </p:sp>
      <p:sp>
        <p:nvSpPr>
          <p:cNvPr id="19" name="Text 17"/>
          <p:cNvSpPr/>
          <p:nvPr/>
        </p:nvSpPr>
        <p:spPr>
          <a:xfrm>
            <a:off x="9839325" y="4902994"/>
            <a:ext cx="7279577" cy="1257300"/>
          </a:xfrm>
          <a:prstGeom prst="rect">
            <a:avLst/>
          </a:prstGeom>
          <a:noFill/>
          <a:ln/>
        </p:spPr>
        <p:txBody>
          <a:bodyPr wrap="square" lIns="25400" tIns="25400" rIns="25400" bIns="25400" rtlCol="0" anchor="t">
            <a:normAutofit/>
          </a:bodyPr>
          <a:lstStyle/>
          <a:p>
            <a:pPr marL="0" indent="0" algn="l">
              <a:lnSpc>
                <a:spcPct val="100000"/>
              </a:lnSpc>
              <a:buNone/>
            </a:pPr>
            <a:r>
              <a:rPr lang="en-US" sz="4800" kern="0" spc="-96" dirty="0">
                <a:solidFill>
                  <a:srgbClr val="8A6420"/>
                </a:solidFill>
                <a:latin typeface="Georgia" pitchFamily="34" charset="0"/>
                <a:ea typeface="Georgia" pitchFamily="34" charset="-122"/>
                <a:cs typeface="Georgia" pitchFamily="34" charset="-120"/>
              </a:rPr>
              <a:t>Marca continental</a:t>
            </a:r>
            <a:endParaRPr lang="en-US" sz="4800" dirty="0"/>
          </a:p>
        </p:txBody>
      </p:sp>
      <p:sp>
        <p:nvSpPr>
          <p:cNvPr id="20" name="Text 18"/>
          <p:cNvSpPr/>
          <p:nvPr/>
        </p:nvSpPr>
        <p:spPr>
          <a:xfrm>
            <a:off x="9839325" y="6350794"/>
            <a:ext cx="7279577" cy="1032421"/>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3A342A"/>
                </a:solidFill>
                <a:latin typeface="Georgia" pitchFamily="34" charset="0"/>
                <a:ea typeface="Georgia" pitchFamily="34" charset="-122"/>
                <a:cs typeface="Georgia" pitchFamily="34" charset="-120"/>
              </a:rPr>
              <a:t>Esquel se convierte en el primer polo de peregrinaje espiritual de Sudamérica. Una posición de mercado que no tiene vuelta atrás: el primero se queda con la marca.</a:t>
            </a:r>
            <a:endParaRPr lang="en-US" sz="1800" dirty="0"/>
          </a:p>
        </p:txBody>
      </p:sp>
      <p:sp>
        <p:nvSpPr>
          <p:cNvPr id="21" name="Shape 19"/>
          <p:cNvSpPr/>
          <p:nvPr/>
        </p:nvSpPr>
        <p:spPr>
          <a:xfrm>
            <a:off x="9839325" y="8015288"/>
            <a:ext cx="7067550" cy="9525"/>
          </a:xfrm>
          <a:prstGeom prst="rect">
            <a:avLst/>
          </a:prstGeom>
          <a:solidFill>
            <a:srgbClr val="8A6420"/>
          </a:solidFill>
          <a:ln/>
        </p:spPr>
        <p:txBody>
          <a:bodyPr/>
          <a:lstStyle/>
          <a:p>
            <a:endParaRPr lang="en-AR"/>
          </a:p>
        </p:txBody>
      </p:sp>
      <p:sp>
        <p:nvSpPr>
          <p:cNvPr id="22" name="Text 20"/>
          <p:cNvSpPr/>
          <p:nvPr/>
        </p:nvSpPr>
        <p:spPr>
          <a:xfrm>
            <a:off x="9839325" y="8291513"/>
            <a:ext cx="1151186" cy="176212"/>
          </a:xfrm>
          <a:prstGeom prst="rect">
            <a:avLst/>
          </a:prstGeom>
          <a:noFill/>
          <a:ln/>
        </p:spPr>
        <p:txBody>
          <a:bodyPr wrap="square" lIns="25400" tIns="25400" rIns="25400" bIns="25400" rtlCol="0" anchor="t">
            <a:normAutofit lnSpcReduction="10000"/>
          </a:bodyPr>
          <a:lstStyle/>
          <a:p>
            <a:pPr marL="0" indent="0" algn="l">
              <a:buNone/>
            </a:pPr>
            <a:r>
              <a:rPr lang="en-US" sz="900" kern="0" spc="144" dirty="0">
                <a:solidFill>
                  <a:srgbClr val="8A6420"/>
                </a:solidFill>
                <a:latin typeface="Arial" pitchFamily="34" charset="0"/>
                <a:ea typeface="Arial" pitchFamily="34" charset="-122"/>
                <a:cs typeface="Arial" pitchFamily="34" charset="-120"/>
              </a:rPr>
              <a:t>POSICIÓN</a:t>
            </a:r>
            <a:endParaRPr lang="en-US" sz="900" dirty="0"/>
          </a:p>
        </p:txBody>
      </p:sp>
      <p:sp>
        <p:nvSpPr>
          <p:cNvPr id="23" name="Text 21"/>
          <p:cNvSpPr/>
          <p:nvPr/>
        </p:nvSpPr>
        <p:spPr>
          <a:xfrm>
            <a:off x="9839325" y="8429625"/>
            <a:ext cx="1151186"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14110D"/>
                </a:solidFill>
                <a:latin typeface="Georgia" pitchFamily="34" charset="0"/>
                <a:ea typeface="Georgia" pitchFamily="34" charset="-122"/>
                <a:cs typeface="Georgia" pitchFamily="34" charset="-120"/>
              </a:rPr>
              <a:t>First mover</a:t>
            </a:r>
            <a:endParaRPr lang="en-US" sz="1650" dirty="0"/>
          </a:p>
        </p:txBody>
      </p:sp>
      <p:sp>
        <p:nvSpPr>
          <p:cNvPr id="24" name="Text 22"/>
          <p:cNvSpPr/>
          <p:nvPr/>
        </p:nvSpPr>
        <p:spPr>
          <a:xfrm>
            <a:off x="11219111" y="8291513"/>
            <a:ext cx="905768" cy="176212"/>
          </a:xfrm>
          <a:prstGeom prst="rect">
            <a:avLst/>
          </a:prstGeom>
          <a:noFill/>
          <a:ln/>
        </p:spPr>
        <p:txBody>
          <a:bodyPr wrap="square" lIns="25400" tIns="25400" rIns="25400" bIns="25400" rtlCol="0" anchor="t">
            <a:normAutofit lnSpcReduction="10000"/>
          </a:bodyPr>
          <a:lstStyle/>
          <a:p>
            <a:pPr marL="0" indent="0" algn="l">
              <a:buNone/>
            </a:pPr>
            <a:r>
              <a:rPr lang="en-US" sz="900" kern="0" spc="144" dirty="0">
                <a:solidFill>
                  <a:srgbClr val="8A6420"/>
                </a:solidFill>
                <a:latin typeface="Arial" pitchFamily="34" charset="0"/>
                <a:ea typeface="Arial" pitchFamily="34" charset="-122"/>
                <a:cs typeface="Arial" pitchFamily="34" charset="-120"/>
              </a:rPr>
              <a:t>HORIZONTE</a:t>
            </a:r>
            <a:endParaRPr lang="en-US" sz="900" dirty="0"/>
          </a:p>
        </p:txBody>
      </p:sp>
      <p:sp>
        <p:nvSpPr>
          <p:cNvPr id="25" name="Text 23"/>
          <p:cNvSpPr/>
          <p:nvPr/>
        </p:nvSpPr>
        <p:spPr>
          <a:xfrm>
            <a:off x="11219111" y="8429625"/>
            <a:ext cx="905768"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14110D"/>
                </a:solidFill>
                <a:latin typeface="Georgia" pitchFamily="34" charset="0"/>
                <a:ea typeface="Georgia" pitchFamily="34" charset="-122"/>
                <a:cs typeface="Georgia" pitchFamily="34" charset="-120"/>
              </a:rPr>
              <a:t>Décadas</a:t>
            </a:r>
            <a:endParaRPr lang="en-US" sz="1650" dirty="0"/>
          </a:p>
        </p:txBody>
      </p:sp>
      <p:sp>
        <p:nvSpPr>
          <p:cNvPr id="26" name="Shape 24"/>
          <p:cNvSpPr/>
          <p:nvPr/>
        </p:nvSpPr>
        <p:spPr>
          <a:xfrm>
            <a:off x="952500" y="9134475"/>
            <a:ext cx="16383000" cy="9525"/>
          </a:xfrm>
          <a:prstGeom prst="rect">
            <a:avLst/>
          </a:prstGeom>
          <a:solidFill>
            <a:srgbClr val="D9D2C0"/>
          </a:solidFill>
          <a:ln/>
        </p:spPr>
        <p:txBody>
          <a:bodyPr/>
          <a:lstStyle/>
          <a:p>
            <a:endParaRPr lang="en-AR"/>
          </a:p>
        </p:txBody>
      </p:sp>
      <p:sp>
        <p:nvSpPr>
          <p:cNvPr id="27" name="Text 25"/>
          <p:cNvSpPr/>
          <p:nvPr/>
        </p:nvSpPr>
        <p:spPr>
          <a:xfrm>
            <a:off x="952500" y="9372600"/>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28" name="Text 26"/>
          <p:cNvSpPr/>
          <p:nvPr/>
        </p:nvSpPr>
        <p:spPr>
          <a:xfrm>
            <a:off x="16796965" y="93726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36 / 40 </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0">
    <p:bg>
      <p:bgPr>
        <a:solidFill>
          <a:srgbClr val="F1ECE0"/>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4907369" y="804863"/>
            <a:ext cx="2504331"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CAPÍTULO 06 · PARA ESQUEL</a:t>
            </a:r>
            <a:endParaRPr lang="en-US" sz="1050" dirty="0"/>
          </a:p>
        </p:txBody>
      </p:sp>
      <p:sp>
        <p:nvSpPr>
          <p:cNvPr id="6" name="Text 4"/>
          <p:cNvSpPr/>
          <p:nvPr/>
        </p:nvSpPr>
        <p:spPr>
          <a:xfrm>
            <a:off x="952500" y="1657350"/>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NO SOLO PARA EXTRANJEROS</a:t>
            </a:r>
            <a:endParaRPr lang="en-US" sz="1350" dirty="0"/>
          </a:p>
        </p:txBody>
      </p:sp>
      <p:sp>
        <p:nvSpPr>
          <p:cNvPr id="7" name="Text 5"/>
          <p:cNvSpPr/>
          <p:nvPr/>
        </p:nvSpPr>
        <p:spPr>
          <a:xfrm>
            <a:off x="952500" y="2057400"/>
            <a:ext cx="16874490" cy="1464469"/>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El polo le devuelve algo </a:t>
            </a:r>
            <a:r>
              <a:rPr lang="en-US" sz="5400" i="1" kern="0" spc="-97" dirty="0">
                <a:solidFill>
                  <a:srgbClr val="8A6420"/>
                </a:solidFill>
                <a:latin typeface="Georgia" pitchFamily="34" charset="0"/>
                <a:ea typeface="Georgia" pitchFamily="34" charset="-122"/>
                <a:cs typeface="Georgia" pitchFamily="34" charset="-120"/>
              </a:rPr>
              <a:t>a la comunidad de Esquel.</a:t>
            </a:r>
            <a:endParaRPr lang="en-US" sz="5400" dirty="0"/>
          </a:p>
        </p:txBody>
      </p:sp>
      <p:sp>
        <p:nvSpPr>
          <p:cNvPr id="8" name="Shape 6"/>
          <p:cNvSpPr/>
          <p:nvPr/>
        </p:nvSpPr>
        <p:spPr>
          <a:xfrm>
            <a:off x="952500" y="6178302"/>
            <a:ext cx="16383000" cy="9525"/>
          </a:xfrm>
          <a:prstGeom prst="rect">
            <a:avLst/>
          </a:prstGeom>
          <a:solidFill>
            <a:srgbClr val="D9D2C0"/>
          </a:solidFill>
          <a:ln/>
        </p:spPr>
        <p:txBody>
          <a:bodyPr/>
          <a:lstStyle/>
          <a:p>
            <a:endParaRPr lang="en-AR"/>
          </a:p>
        </p:txBody>
      </p:sp>
      <p:sp>
        <p:nvSpPr>
          <p:cNvPr id="9" name="Shape 7"/>
          <p:cNvSpPr/>
          <p:nvPr/>
        </p:nvSpPr>
        <p:spPr>
          <a:xfrm>
            <a:off x="952500" y="4017169"/>
            <a:ext cx="16383000" cy="9525"/>
          </a:xfrm>
          <a:prstGeom prst="rect">
            <a:avLst/>
          </a:prstGeom>
          <a:solidFill>
            <a:srgbClr val="D9D2C0"/>
          </a:solidFill>
          <a:ln/>
        </p:spPr>
        <p:txBody>
          <a:bodyPr/>
          <a:lstStyle/>
          <a:p>
            <a:endParaRPr lang="en-AR"/>
          </a:p>
        </p:txBody>
      </p:sp>
      <p:sp>
        <p:nvSpPr>
          <p:cNvPr id="10" name="Shape 8"/>
          <p:cNvSpPr/>
          <p:nvPr/>
        </p:nvSpPr>
        <p:spPr>
          <a:xfrm>
            <a:off x="6403925" y="4026694"/>
            <a:ext cx="9525" cy="2151608"/>
          </a:xfrm>
          <a:prstGeom prst="rect">
            <a:avLst/>
          </a:prstGeom>
          <a:solidFill>
            <a:srgbClr val="D9D2C0"/>
          </a:solidFill>
          <a:ln/>
        </p:spPr>
        <p:txBody>
          <a:bodyPr/>
          <a:lstStyle/>
          <a:p>
            <a:endParaRPr lang="en-AR"/>
          </a:p>
        </p:txBody>
      </p:sp>
      <p:sp>
        <p:nvSpPr>
          <p:cNvPr id="11" name="Text 9"/>
          <p:cNvSpPr/>
          <p:nvPr/>
        </p:nvSpPr>
        <p:spPr>
          <a:xfrm>
            <a:off x="952500" y="4407694"/>
            <a:ext cx="5301024"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PROGRAMA</a:t>
            </a:r>
            <a:endParaRPr lang="en-US" sz="975" dirty="0"/>
          </a:p>
        </p:txBody>
      </p:sp>
      <p:sp>
        <p:nvSpPr>
          <p:cNvPr id="12" name="Text 10"/>
          <p:cNvSpPr/>
          <p:nvPr/>
        </p:nvSpPr>
        <p:spPr>
          <a:xfrm>
            <a:off x="952500" y="4726781"/>
            <a:ext cx="5301024"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dirty="0">
                <a:solidFill>
                  <a:srgbClr val="14110D"/>
                </a:solidFill>
                <a:latin typeface="Georgia" pitchFamily="34" charset="0"/>
                <a:ea typeface="Georgia" pitchFamily="34" charset="-122"/>
                <a:cs typeface="Georgia" pitchFamily="34" charset="-120"/>
              </a:rPr>
              <a:t>Empleo calificado local</a:t>
            </a:r>
            <a:endParaRPr lang="en-US" sz="2400" dirty="0"/>
          </a:p>
        </p:txBody>
      </p:sp>
      <p:sp>
        <p:nvSpPr>
          <p:cNvPr id="13" name="Text 11"/>
          <p:cNvSpPr/>
          <p:nvPr/>
        </p:nvSpPr>
        <p:spPr>
          <a:xfrm>
            <a:off x="952500" y="5210621"/>
            <a:ext cx="5301024" cy="6247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dirty="0">
                <a:solidFill>
                  <a:srgbClr val="3A342A"/>
                </a:solidFill>
                <a:latin typeface="Georgia" pitchFamily="34" charset="0"/>
                <a:ea typeface="Georgia" pitchFamily="34" charset="-122"/>
                <a:cs typeface="Georgia" pitchFamily="34" charset="-120"/>
              </a:rPr>
              <a:t>Talleres del Lab y de la industria de merchandise capacitan artesanos, técnicos y desarrolladores en Esquel y la región.</a:t>
            </a:r>
            <a:endParaRPr lang="en-US" sz="1650" dirty="0"/>
          </a:p>
        </p:txBody>
      </p:sp>
      <p:sp>
        <p:nvSpPr>
          <p:cNvPr id="14" name="Shape 12"/>
          <p:cNvSpPr/>
          <p:nvPr/>
        </p:nvSpPr>
        <p:spPr>
          <a:xfrm>
            <a:off x="11864950" y="4026694"/>
            <a:ext cx="9525" cy="2151608"/>
          </a:xfrm>
          <a:prstGeom prst="rect">
            <a:avLst/>
          </a:prstGeom>
          <a:solidFill>
            <a:srgbClr val="D9D2C0"/>
          </a:solidFill>
          <a:ln/>
        </p:spPr>
        <p:txBody>
          <a:bodyPr/>
          <a:lstStyle/>
          <a:p>
            <a:endParaRPr lang="en-AR"/>
          </a:p>
        </p:txBody>
      </p:sp>
      <p:sp>
        <p:nvSpPr>
          <p:cNvPr id="15" name="Text 13"/>
          <p:cNvSpPr/>
          <p:nvPr/>
        </p:nvSpPr>
        <p:spPr>
          <a:xfrm>
            <a:off x="6718250" y="4407694"/>
            <a:ext cx="4987157"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PROGRAMA</a:t>
            </a:r>
            <a:endParaRPr lang="en-US" sz="975" dirty="0"/>
          </a:p>
        </p:txBody>
      </p:sp>
      <p:sp>
        <p:nvSpPr>
          <p:cNvPr id="16" name="Text 14"/>
          <p:cNvSpPr/>
          <p:nvPr/>
        </p:nvSpPr>
        <p:spPr>
          <a:xfrm>
            <a:off x="6718250" y="4726781"/>
            <a:ext cx="4987157"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dirty="0">
                <a:solidFill>
                  <a:srgbClr val="14110D"/>
                </a:solidFill>
                <a:latin typeface="Georgia" pitchFamily="34" charset="0"/>
                <a:ea typeface="Georgia" pitchFamily="34" charset="-122"/>
                <a:cs typeface="Georgia" pitchFamily="34" charset="-120"/>
              </a:rPr>
              <a:t>Yoga y mindfulness</a:t>
            </a:r>
            <a:endParaRPr lang="en-US" sz="2400" dirty="0"/>
          </a:p>
        </p:txBody>
      </p:sp>
      <p:sp>
        <p:nvSpPr>
          <p:cNvPr id="17" name="Text 15"/>
          <p:cNvSpPr/>
          <p:nvPr/>
        </p:nvSpPr>
        <p:spPr>
          <a:xfrm>
            <a:off x="6718250" y="5210621"/>
            <a:ext cx="4987157" cy="6247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dirty="0">
                <a:solidFill>
                  <a:srgbClr val="3A342A"/>
                </a:solidFill>
                <a:latin typeface="Georgia" pitchFamily="34" charset="0"/>
                <a:ea typeface="Georgia" pitchFamily="34" charset="-122"/>
                <a:cs typeface="Georgia" pitchFamily="34" charset="-120"/>
              </a:rPr>
              <a:t>Clases regulares para la comunidad, dictadas por maestros del polo.</a:t>
            </a:r>
            <a:endParaRPr lang="en-US" sz="1650" dirty="0"/>
          </a:p>
        </p:txBody>
      </p:sp>
      <p:sp>
        <p:nvSpPr>
          <p:cNvPr id="18" name="Text 16"/>
          <p:cNvSpPr/>
          <p:nvPr/>
        </p:nvSpPr>
        <p:spPr>
          <a:xfrm>
            <a:off x="12179275" y="4407694"/>
            <a:ext cx="5310835" cy="185738"/>
          </a:xfrm>
          <a:prstGeom prst="rect">
            <a:avLst/>
          </a:prstGeom>
          <a:noFill/>
          <a:ln/>
        </p:spPr>
        <p:txBody>
          <a:bodyPr wrap="square" lIns="25400" tIns="25400" rIns="25400" bIns="25400" rtlCol="0" anchor="t">
            <a:normAutofit lnSpcReduction="10000"/>
          </a:bodyPr>
          <a:lstStyle/>
          <a:p>
            <a:pPr marL="0" indent="0" algn="l">
              <a:buNone/>
            </a:pPr>
            <a:r>
              <a:rPr lang="en-US" sz="975" kern="0" spc="156" dirty="0">
                <a:solidFill>
                  <a:srgbClr val="8A6420"/>
                </a:solidFill>
                <a:latin typeface="Arial" pitchFamily="34" charset="0"/>
                <a:ea typeface="Arial" pitchFamily="34" charset="-122"/>
                <a:cs typeface="Arial" pitchFamily="34" charset="-120"/>
              </a:rPr>
              <a:t>PROGRAMA</a:t>
            </a:r>
            <a:endParaRPr lang="en-US" sz="975" dirty="0"/>
          </a:p>
        </p:txBody>
      </p:sp>
      <p:sp>
        <p:nvSpPr>
          <p:cNvPr id="19" name="Text 17"/>
          <p:cNvSpPr/>
          <p:nvPr/>
        </p:nvSpPr>
        <p:spPr>
          <a:xfrm>
            <a:off x="12179275" y="4726781"/>
            <a:ext cx="5310835"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dirty="0">
                <a:solidFill>
                  <a:srgbClr val="14110D"/>
                </a:solidFill>
                <a:latin typeface="Georgia" pitchFamily="34" charset="0"/>
                <a:ea typeface="Georgia" pitchFamily="34" charset="-122"/>
                <a:cs typeface="Georgia" pitchFamily="34" charset="-120"/>
              </a:rPr>
              <a:t>Bienestar y salud mental</a:t>
            </a:r>
            <a:endParaRPr lang="en-US" sz="2400" dirty="0"/>
          </a:p>
        </p:txBody>
      </p:sp>
      <p:sp>
        <p:nvSpPr>
          <p:cNvPr id="20" name="Text 18"/>
          <p:cNvSpPr/>
          <p:nvPr/>
        </p:nvSpPr>
        <p:spPr>
          <a:xfrm>
            <a:off x="12179275" y="5210621"/>
            <a:ext cx="5310835" cy="6247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dirty="0">
                <a:solidFill>
                  <a:srgbClr val="3A342A"/>
                </a:solidFill>
                <a:latin typeface="Georgia" pitchFamily="34" charset="0"/>
                <a:ea typeface="Georgia" pitchFamily="34" charset="-122"/>
                <a:cs typeface="Georgia" pitchFamily="34" charset="-120"/>
              </a:rPr>
              <a:t>Grupos de meditación, escucha y apoyo emocional comunitario.</a:t>
            </a:r>
            <a:endParaRPr lang="en-US" sz="1650" dirty="0"/>
          </a:p>
        </p:txBody>
      </p:sp>
      <p:sp>
        <p:nvSpPr>
          <p:cNvPr id="21" name="Text 19"/>
          <p:cNvSpPr/>
          <p:nvPr/>
        </p:nvSpPr>
        <p:spPr>
          <a:xfrm>
            <a:off x="952500" y="6645027"/>
            <a:ext cx="13735050" cy="756196"/>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950" dirty="0">
                <a:solidFill>
                  <a:srgbClr val="3A342A"/>
                </a:solidFill>
                <a:latin typeface="Georgia" pitchFamily="34" charset="0"/>
                <a:ea typeface="Georgia" pitchFamily="34" charset="-122"/>
                <a:cs typeface="Georgia" pitchFamily="34" charset="-120"/>
              </a:rPr>
              <a:t>En Asia, los templos siempre fueron centros comunitarios. </a:t>
            </a:r>
            <a:r>
              <a:rPr lang="en-US" sz="1950" dirty="0">
                <a:solidFill>
                  <a:srgbClr val="14110D"/>
                </a:solidFill>
                <a:latin typeface="Georgia" pitchFamily="34" charset="0"/>
                <a:ea typeface="Georgia" pitchFamily="34" charset="-122"/>
                <a:cs typeface="Georgia" pitchFamily="34" charset="-120"/>
              </a:rPr>
              <a:t>Es turismo, sí — pero también es algo concreto que le devolvemos a su gente.</a:t>
            </a:r>
            <a:endParaRPr lang="en-US" sz="1950" dirty="0"/>
          </a:p>
        </p:txBody>
      </p:sp>
      <p:sp>
        <p:nvSpPr>
          <p:cNvPr id="22" name="Shape 20"/>
          <p:cNvSpPr/>
          <p:nvPr/>
        </p:nvSpPr>
        <p:spPr>
          <a:xfrm>
            <a:off x="952500" y="9134475"/>
            <a:ext cx="16383000" cy="9525"/>
          </a:xfrm>
          <a:prstGeom prst="rect">
            <a:avLst/>
          </a:prstGeom>
          <a:solidFill>
            <a:srgbClr val="D9D2C0"/>
          </a:solidFill>
          <a:ln/>
        </p:spPr>
        <p:txBody>
          <a:bodyPr/>
          <a:lstStyle/>
          <a:p>
            <a:endParaRPr lang="en-AR"/>
          </a:p>
        </p:txBody>
      </p:sp>
      <p:sp>
        <p:nvSpPr>
          <p:cNvPr id="23" name="Text 21"/>
          <p:cNvSpPr/>
          <p:nvPr/>
        </p:nvSpPr>
        <p:spPr>
          <a:xfrm>
            <a:off x="952500" y="9372600"/>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24" name="Text 22"/>
          <p:cNvSpPr/>
          <p:nvPr/>
        </p:nvSpPr>
        <p:spPr>
          <a:xfrm>
            <a:off x="16796965" y="93726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37 / 40 </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2">
    <p:bg>
      <p:bgPr>
        <a:solidFill>
          <a:srgbClr val="F1ECE0"/>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5295066" y="804863"/>
            <a:ext cx="2116634"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CAPÍTULO 06 · PARA ESQUEL</a:t>
            </a:r>
            <a:endParaRPr lang="en-US" sz="1050" dirty="0"/>
          </a:p>
        </p:txBody>
      </p:sp>
      <p:sp>
        <p:nvSpPr>
          <p:cNvPr id="6" name="Text 4"/>
          <p:cNvSpPr/>
          <p:nvPr/>
        </p:nvSpPr>
        <p:spPr>
          <a:xfrm>
            <a:off x="952500" y="1613148"/>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NUEVOS PUESTOS DE TRABAJO DIRECTOS PARA ESQUEL</a:t>
            </a:r>
            <a:endParaRPr lang="en-US" sz="1350" dirty="0"/>
          </a:p>
        </p:txBody>
      </p:sp>
      <p:sp>
        <p:nvSpPr>
          <p:cNvPr id="7" name="Text 5"/>
          <p:cNvSpPr/>
          <p:nvPr/>
        </p:nvSpPr>
        <p:spPr>
          <a:xfrm>
            <a:off x="952500" y="2165598"/>
            <a:ext cx="6500000" cy="2200000"/>
          </a:xfrm>
          <a:prstGeom prst="rect">
            <a:avLst/>
          </a:prstGeom>
          <a:noFill/>
          <a:ln/>
        </p:spPr>
        <p:txBody>
          <a:bodyPr wrap="square" lIns="25400" tIns="25400" rIns="25400" bIns="25400" rtlCol="0" anchor="t">
            <a:normAutofit fontScale="92500" lnSpcReduction="20000"/>
          </a:bodyPr>
          <a:lstStyle/>
          <a:p>
            <a:pPr marL="0" indent="0" algn="l">
              <a:lnSpc>
                <a:spcPct val="92000"/>
              </a:lnSpc>
              <a:buNone/>
            </a:pPr>
            <a:r>
              <a:rPr lang="en-US" sz="28000" kern="0" spc="-1440" dirty="0">
                <a:solidFill>
                  <a:srgbClr val="8A6420"/>
                </a:solidFill>
                <a:latin typeface="Georgia" pitchFamily="34" charset="0"/>
                <a:ea typeface="Georgia" pitchFamily="34" charset="-122"/>
                <a:cs typeface="Georgia" pitchFamily="34" charset="-120"/>
              </a:rPr>
              <a:t>1.000</a:t>
            </a:r>
            <a:endParaRPr lang="en-US" sz="28000" dirty="0"/>
          </a:p>
        </p:txBody>
      </p:sp>
      <p:sp>
        <p:nvSpPr>
          <p:cNvPr id="8" name="Text 6"/>
          <p:cNvSpPr/>
          <p:nvPr/>
        </p:nvSpPr>
        <p:spPr>
          <a:xfrm>
            <a:off x="3346772" y="5408861"/>
            <a:ext cx="6867525" cy="1718221"/>
          </a:xfrm>
          <a:prstGeom prst="rect">
            <a:avLst/>
          </a:prstGeom>
          <a:noFill/>
          <a:ln/>
        </p:spPr>
        <p:txBody>
          <a:bodyPr wrap="square" lIns="25400" tIns="25400" rIns="25400" bIns="25400" rtlCol="0" anchor="t">
            <a:normAutofit fontScale="92500"/>
          </a:bodyPr>
          <a:lstStyle/>
          <a:p>
            <a:pPr marL="0" indent="0" algn="l">
              <a:lnSpc>
                <a:spcPct val="105000"/>
              </a:lnSpc>
              <a:buNone/>
            </a:pPr>
            <a:r>
              <a:rPr lang="en-US" sz="4200" kern="0" spc="-21" dirty="0">
                <a:solidFill>
                  <a:srgbClr val="14110D"/>
                </a:solidFill>
                <a:latin typeface="Georgia" pitchFamily="34" charset="0"/>
                <a:ea typeface="Georgia" pitchFamily="34" charset="-122"/>
                <a:cs typeface="Georgia" pitchFamily="34" charset="-120"/>
              </a:rPr>
              <a:t>Hasta 1.000 nuevos puestos directos en operación plena, más 300 en construcción.</a:t>
            </a:r>
            <a:endParaRPr lang="en-US" sz="4200" dirty="0"/>
          </a:p>
        </p:txBody>
      </p:sp>
      <p:sp>
        <p:nvSpPr>
          <p:cNvPr id="9" name="Text 7"/>
          <p:cNvSpPr/>
          <p:nvPr/>
        </p:nvSpPr>
        <p:spPr>
          <a:xfrm>
            <a:off x="3346772" y="7317580"/>
            <a:ext cx="6867525" cy="1356271"/>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950" dirty="0">
                <a:solidFill>
                  <a:srgbClr val="3A342A"/>
                </a:solidFill>
                <a:latin typeface="Georgia" pitchFamily="34" charset="0"/>
                <a:ea typeface="Georgia" pitchFamily="34" charset="-122"/>
                <a:cs typeface="Georgia" pitchFamily="34" charset="-120"/>
              </a:rPr>
              <a:t>Estimación basada en la operación plena de los cinco motores: templos en construcción y mantenimiento, Centro de Estudios, Lab, Centros de Retiro, taller-escuela e industria de merchandise, anillo de servicios y Coalición Patagónica. Empleo calificado, formación continua, salarios competitivos.</a:t>
            </a:r>
            <a:endParaRPr lang="en-US" sz="1950" dirty="0"/>
          </a:p>
        </p:txBody>
      </p:sp>
      <p:sp>
        <p:nvSpPr>
          <p:cNvPr id="10" name="Shape 8"/>
          <p:cNvSpPr/>
          <p:nvPr/>
        </p:nvSpPr>
        <p:spPr>
          <a:xfrm>
            <a:off x="952500" y="9134475"/>
            <a:ext cx="16383000" cy="9525"/>
          </a:xfrm>
          <a:prstGeom prst="rect">
            <a:avLst/>
          </a:prstGeom>
          <a:solidFill>
            <a:srgbClr val="D9D2C0"/>
          </a:solidFill>
          <a:ln/>
        </p:spPr>
        <p:txBody>
          <a:bodyPr/>
          <a:lstStyle/>
          <a:p>
            <a:endParaRPr lang="en-AR"/>
          </a:p>
        </p:txBody>
      </p:sp>
      <p:sp>
        <p:nvSpPr>
          <p:cNvPr id="11" name="Text 9"/>
          <p:cNvSpPr/>
          <p:nvPr/>
        </p:nvSpPr>
        <p:spPr>
          <a:xfrm>
            <a:off x="952500" y="9372600"/>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12" name="Text 10"/>
          <p:cNvSpPr/>
          <p:nvPr/>
        </p:nvSpPr>
        <p:spPr>
          <a:xfrm>
            <a:off x="16796965" y="93726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38 / 40 </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1">
    <p:bg>
      <p:bgPr>
        <a:solidFill>
          <a:srgbClr val="FAF8F3"/>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D9D2C0"/>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8A6420"/>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14110D"/>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4867260" y="804863"/>
            <a:ext cx="2544440"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CAPÍTULO 06 · CRONOGRAMA</a:t>
            </a:r>
            <a:endParaRPr lang="en-US" sz="1050" dirty="0"/>
          </a:p>
        </p:txBody>
      </p:sp>
      <p:sp>
        <p:nvSpPr>
          <p:cNvPr id="6" name="Text 4"/>
          <p:cNvSpPr/>
          <p:nvPr/>
        </p:nvSpPr>
        <p:spPr>
          <a:xfrm>
            <a:off x="952500" y="1657350"/>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8A8170"/>
                </a:solidFill>
                <a:latin typeface="Arial" pitchFamily="34" charset="0"/>
                <a:ea typeface="Arial" pitchFamily="34" charset="-122"/>
                <a:cs typeface="Arial" pitchFamily="34" charset="-120"/>
              </a:rPr>
              <a:t>CRONOGRAMA REALISTA</a:t>
            </a:r>
            <a:endParaRPr lang="en-US" sz="1350" dirty="0"/>
          </a:p>
        </p:txBody>
      </p:sp>
      <p:sp>
        <p:nvSpPr>
          <p:cNvPr id="7" name="Text 5"/>
          <p:cNvSpPr/>
          <p:nvPr/>
        </p:nvSpPr>
        <p:spPr>
          <a:xfrm>
            <a:off x="952500" y="2057400"/>
            <a:ext cx="16874490" cy="1464469"/>
          </a:xfrm>
          <a:prstGeom prst="rect">
            <a:avLst/>
          </a:prstGeom>
          <a:noFill/>
          <a:ln/>
        </p:spPr>
        <p:txBody>
          <a:bodyPr wrap="square" lIns="25400" tIns="25400" rIns="25400" bIns="25400" rtlCol="0" anchor="t">
            <a:normAutofit/>
          </a:bodyPr>
          <a:lstStyle/>
          <a:p>
            <a:pPr marL="0" indent="0" algn="l">
              <a:lnSpc>
                <a:spcPct val="104000"/>
              </a:lnSpc>
              <a:buNone/>
            </a:pPr>
            <a:r>
              <a:rPr lang="en-US" sz="5400" kern="0" spc="-97" dirty="0">
                <a:solidFill>
                  <a:srgbClr val="14110D"/>
                </a:solidFill>
                <a:latin typeface="Georgia" pitchFamily="34" charset="0"/>
                <a:ea typeface="Georgia" pitchFamily="34" charset="-122"/>
                <a:cs typeface="Georgia" pitchFamily="34" charset="-120"/>
              </a:rPr>
              <a:t>Fase 1 operativa en </a:t>
            </a:r>
            <a:r>
              <a:rPr lang="en-US" sz="5400" i="1" kern="0" spc="-97" dirty="0">
                <a:solidFill>
                  <a:srgbClr val="8A6420"/>
                </a:solidFill>
                <a:latin typeface="Georgia" pitchFamily="34" charset="0"/>
                <a:ea typeface="Georgia" pitchFamily="34" charset="-122"/>
                <a:cs typeface="Georgia" pitchFamily="34" charset="-120"/>
              </a:rPr>
              <a:t>18 a 24 meses.</a:t>
            </a:r>
            <a:endParaRPr lang="en-US" sz="5400" dirty="0"/>
          </a:p>
        </p:txBody>
      </p:sp>
      <p:sp>
        <p:nvSpPr>
          <p:cNvPr id="8" name="Text 6"/>
          <p:cNvSpPr/>
          <p:nvPr/>
        </p:nvSpPr>
        <p:spPr>
          <a:xfrm>
            <a:off x="952500" y="3864769"/>
            <a:ext cx="13735050" cy="39714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dirty="0">
                <a:solidFill>
                  <a:srgbClr val="3A342A"/>
                </a:solidFill>
                <a:latin typeface="Georgia" pitchFamily="34" charset="0"/>
                <a:ea typeface="Georgia" pitchFamily="34" charset="-122"/>
                <a:cs typeface="Georgia" pitchFamily="34" charset="-120"/>
              </a:rPr>
              <a:t>A partir de ahí, el crecimiento es orgánico: cada nueva escuela que se suma agrega una razón nueva para visitar.</a:t>
            </a:r>
            <a:endParaRPr lang="en-US" sz="1950" dirty="0"/>
          </a:p>
        </p:txBody>
      </p:sp>
      <p:sp>
        <p:nvSpPr>
          <p:cNvPr id="9" name="Shape 7"/>
          <p:cNvSpPr/>
          <p:nvPr/>
        </p:nvSpPr>
        <p:spPr>
          <a:xfrm>
            <a:off x="952500" y="6437337"/>
            <a:ext cx="16383000" cy="9525"/>
          </a:xfrm>
          <a:prstGeom prst="rect">
            <a:avLst/>
          </a:prstGeom>
          <a:solidFill>
            <a:srgbClr val="D9D2C0"/>
          </a:solidFill>
          <a:ln/>
        </p:spPr>
        <p:txBody>
          <a:bodyPr/>
          <a:lstStyle/>
          <a:p>
            <a:endParaRPr lang="en-AR"/>
          </a:p>
        </p:txBody>
      </p:sp>
      <p:sp>
        <p:nvSpPr>
          <p:cNvPr id="10" name="Shape 8"/>
          <p:cNvSpPr/>
          <p:nvPr/>
        </p:nvSpPr>
        <p:spPr>
          <a:xfrm>
            <a:off x="952500" y="4604817"/>
            <a:ext cx="16383000" cy="9525"/>
          </a:xfrm>
          <a:prstGeom prst="rect">
            <a:avLst/>
          </a:prstGeom>
          <a:solidFill>
            <a:srgbClr val="D9D2C0"/>
          </a:solidFill>
          <a:ln/>
        </p:spPr>
        <p:txBody>
          <a:bodyPr/>
          <a:lstStyle/>
          <a:p>
            <a:endParaRPr lang="en-AR"/>
          </a:p>
        </p:txBody>
      </p:sp>
      <p:sp>
        <p:nvSpPr>
          <p:cNvPr id="11" name="Shape 9"/>
          <p:cNvSpPr/>
          <p:nvPr/>
        </p:nvSpPr>
        <p:spPr>
          <a:xfrm>
            <a:off x="5038725" y="4614342"/>
            <a:ext cx="9525" cy="1822996"/>
          </a:xfrm>
          <a:prstGeom prst="rect">
            <a:avLst/>
          </a:prstGeom>
          <a:solidFill>
            <a:srgbClr val="D9D2C0"/>
          </a:solidFill>
          <a:ln/>
        </p:spPr>
        <p:txBody>
          <a:bodyPr/>
          <a:lstStyle/>
          <a:p>
            <a:endParaRPr lang="en-AR"/>
          </a:p>
        </p:txBody>
      </p:sp>
      <p:sp>
        <p:nvSpPr>
          <p:cNvPr id="12" name="Text 10"/>
          <p:cNvSpPr/>
          <p:nvPr/>
        </p:nvSpPr>
        <p:spPr>
          <a:xfrm>
            <a:off x="1219200" y="4957242"/>
            <a:ext cx="3659410" cy="200025"/>
          </a:xfrm>
          <a:prstGeom prst="rect">
            <a:avLst/>
          </a:prstGeom>
          <a:noFill/>
          <a:ln/>
        </p:spPr>
        <p:txBody>
          <a:bodyPr wrap="square" lIns="25400" tIns="25400" rIns="25400" bIns="25400" rtlCol="0" anchor="t">
            <a:normAutofit lnSpcReduction="10000"/>
          </a:bodyPr>
          <a:lstStyle/>
          <a:p>
            <a:pPr marL="0" indent="0" algn="l">
              <a:buNone/>
            </a:pPr>
            <a:r>
              <a:rPr lang="en-US" sz="1050" b="1" kern="0" spc="189" dirty="0">
                <a:solidFill>
                  <a:srgbClr val="8A6420"/>
                </a:solidFill>
                <a:latin typeface="Arial" pitchFamily="34" charset="0"/>
                <a:ea typeface="Arial" pitchFamily="34" charset="-122"/>
                <a:cs typeface="Arial" pitchFamily="34" charset="-120"/>
              </a:rPr>
              <a:t>MES 0 — 6</a:t>
            </a:r>
            <a:endParaRPr lang="en-US" sz="1050" dirty="0"/>
          </a:p>
        </p:txBody>
      </p:sp>
      <p:sp>
        <p:nvSpPr>
          <p:cNvPr id="13" name="Text 11"/>
          <p:cNvSpPr/>
          <p:nvPr/>
        </p:nvSpPr>
        <p:spPr>
          <a:xfrm>
            <a:off x="1219200" y="5233467"/>
            <a:ext cx="3659410"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Acuerdos y permisos</a:t>
            </a:r>
            <a:endParaRPr lang="en-US" sz="2100" dirty="0"/>
          </a:p>
        </p:txBody>
      </p:sp>
      <p:sp>
        <p:nvSpPr>
          <p:cNvPr id="14" name="Text 12"/>
          <p:cNvSpPr/>
          <p:nvPr/>
        </p:nvSpPr>
        <p:spPr>
          <a:xfrm>
            <a:off x="1219200" y="5667747"/>
            <a:ext cx="3659410" cy="46479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200" dirty="0">
                <a:solidFill>
                  <a:srgbClr val="8A8170"/>
                </a:solidFill>
                <a:latin typeface="Arial" pitchFamily="34" charset="0"/>
                <a:ea typeface="Arial" pitchFamily="34" charset="-122"/>
                <a:cs typeface="Arial" pitchFamily="34" charset="-120"/>
              </a:rPr>
              <a:t>Convenio municipal, MoUs con escuelas budistas piloto, master plan urbano.</a:t>
            </a:r>
            <a:endParaRPr lang="en-US" sz="1200" dirty="0"/>
          </a:p>
        </p:txBody>
      </p:sp>
      <p:sp>
        <p:nvSpPr>
          <p:cNvPr id="15" name="Shape 13"/>
          <p:cNvSpPr/>
          <p:nvPr/>
        </p:nvSpPr>
        <p:spPr>
          <a:xfrm>
            <a:off x="9134475" y="4614342"/>
            <a:ext cx="9525" cy="1822996"/>
          </a:xfrm>
          <a:prstGeom prst="rect">
            <a:avLst/>
          </a:prstGeom>
          <a:solidFill>
            <a:srgbClr val="D9D2C0"/>
          </a:solidFill>
          <a:ln/>
        </p:spPr>
        <p:txBody>
          <a:bodyPr/>
          <a:lstStyle/>
          <a:p>
            <a:endParaRPr lang="en-AR"/>
          </a:p>
        </p:txBody>
      </p:sp>
      <p:sp>
        <p:nvSpPr>
          <p:cNvPr id="16" name="Text 14"/>
          <p:cNvSpPr/>
          <p:nvPr/>
        </p:nvSpPr>
        <p:spPr>
          <a:xfrm>
            <a:off x="5314950" y="4957242"/>
            <a:ext cx="3659410" cy="200025"/>
          </a:xfrm>
          <a:prstGeom prst="rect">
            <a:avLst/>
          </a:prstGeom>
          <a:noFill/>
          <a:ln/>
        </p:spPr>
        <p:txBody>
          <a:bodyPr wrap="square" lIns="25400" tIns="25400" rIns="25400" bIns="25400" rtlCol="0" anchor="t">
            <a:normAutofit lnSpcReduction="10000"/>
          </a:bodyPr>
          <a:lstStyle/>
          <a:p>
            <a:pPr marL="0" indent="0" algn="l">
              <a:buNone/>
            </a:pPr>
            <a:r>
              <a:rPr lang="en-US" sz="1050" b="1" kern="0" spc="189" dirty="0">
                <a:solidFill>
                  <a:srgbClr val="8A6420"/>
                </a:solidFill>
                <a:latin typeface="Arial" pitchFamily="34" charset="0"/>
                <a:ea typeface="Arial" pitchFamily="34" charset="-122"/>
                <a:cs typeface="Arial" pitchFamily="34" charset="-120"/>
              </a:rPr>
              <a:t>MES 6 — 18</a:t>
            </a:r>
            <a:endParaRPr lang="en-US" sz="1050" dirty="0"/>
          </a:p>
        </p:txBody>
      </p:sp>
      <p:sp>
        <p:nvSpPr>
          <p:cNvPr id="17" name="Text 15"/>
          <p:cNvSpPr/>
          <p:nvPr/>
        </p:nvSpPr>
        <p:spPr>
          <a:xfrm>
            <a:off x="5314950" y="5233467"/>
            <a:ext cx="3659410"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Construcción Fase 1</a:t>
            </a:r>
            <a:endParaRPr lang="en-US" sz="2100" dirty="0"/>
          </a:p>
        </p:txBody>
      </p:sp>
      <p:sp>
        <p:nvSpPr>
          <p:cNvPr id="18" name="Text 16"/>
          <p:cNvSpPr/>
          <p:nvPr/>
        </p:nvSpPr>
        <p:spPr>
          <a:xfrm>
            <a:off x="5314950" y="5667747"/>
            <a:ext cx="3659410" cy="46479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200" dirty="0">
                <a:solidFill>
                  <a:srgbClr val="8A8170"/>
                </a:solidFill>
                <a:latin typeface="Arial" pitchFamily="34" charset="0"/>
                <a:ea typeface="Arial" pitchFamily="34" charset="-122"/>
                <a:cs typeface="Arial" pitchFamily="34" charset="-120"/>
              </a:rPr>
              <a:t>Primer templo, plaza central, infraestructura de servicios, feria artesanal.</a:t>
            </a:r>
            <a:endParaRPr lang="en-US" sz="1200" dirty="0"/>
          </a:p>
        </p:txBody>
      </p:sp>
      <p:sp>
        <p:nvSpPr>
          <p:cNvPr id="19" name="Shape 17"/>
          <p:cNvSpPr/>
          <p:nvPr/>
        </p:nvSpPr>
        <p:spPr>
          <a:xfrm>
            <a:off x="13230225" y="4614342"/>
            <a:ext cx="9525" cy="1822996"/>
          </a:xfrm>
          <a:prstGeom prst="rect">
            <a:avLst/>
          </a:prstGeom>
          <a:solidFill>
            <a:srgbClr val="D9D2C0"/>
          </a:solidFill>
          <a:ln/>
        </p:spPr>
        <p:txBody>
          <a:bodyPr/>
          <a:lstStyle/>
          <a:p>
            <a:endParaRPr lang="en-AR"/>
          </a:p>
        </p:txBody>
      </p:sp>
      <p:sp>
        <p:nvSpPr>
          <p:cNvPr id="20" name="Text 18"/>
          <p:cNvSpPr/>
          <p:nvPr/>
        </p:nvSpPr>
        <p:spPr>
          <a:xfrm>
            <a:off x="9410700" y="4957242"/>
            <a:ext cx="3659410" cy="200025"/>
          </a:xfrm>
          <a:prstGeom prst="rect">
            <a:avLst/>
          </a:prstGeom>
          <a:noFill/>
          <a:ln/>
        </p:spPr>
        <p:txBody>
          <a:bodyPr wrap="square" lIns="25400" tIns="25400" rIns="25400" bIns="25400" rtlCol="0" anchor="t">
            <a:normAutofit lnSpcReduction="10000"/>
          </a:bodyPr>
          <a:lstStyle/>
          <a:p>
            <a:pPr marL="0" indent="0" algn="l">
              <a:buNone/>
            </a:pPr>
            <a:r>
              <a:rPr lang="en-US" sz="1050" b="1" kern="0" spc="189" dirty="0">
                <a:solidFill>
                  <a:srgbClr val="8A6420"/>
                </a:solidFill>
                <a:latin typeface="Arial" pitchFamily="34" charset="0"/>
                <a:ea typeface="Arial" pitchFamily="34" charset="-122"/>
                <a:cs typeface="Arial" pitchFamily="34" charset="-120"/>
              </a:rPr>
              <a:t>MES 18 — 24</a:t>
            </a:r>
            <a:endParaRPr lang="en-US" sz="1050" dirty="0"/>
          </a:p>
        </p:txBody>
      </p:sp>
      <p:sp>
        <p:nvSpPr>
          <p:cNvPr id="21" name="Text 19"/>
          <p:cNvSpPr/>
          <p:nvPr/>
        </p:nvSpPr>
        <p:spPr>
          <a:xfrm>
            <a:off x="9410700" y="5233467"/>
            <a:ext cx="3659410"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Apertura</a:t>
            </a:r>
            <a:endParaRPr lang="en-US" sz="2100" dirty="0"/>
          </a:p>
        </p:txBody>
      </p:sp>
      <p:sp>
        <p:nvSpPr>
          <p:cNvPr id="22" name="Text 20"/>
          <p:cNvSpPr/>
          <p:nvPr/>
        </p:nvSpPr>
        <p:spPr>
          <a:xfrm>
            <a:off x="9410700" y="5667747"/>
            <a:ext cx="3659410" cy="46479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200" dirty="0">
                <a:solidFill>
                  <a:srgbClr val="8A8170"/>
                </a:solidFill>
                <a:latin typeface="Arial" pitchFamily="34" charset="0"/>
                <a:ea typeface="Arial" pitchFamily="34" charset="-122"/>
                <a:cs typeface="Arial" pitchFamily="34" charset="-120"/>
              </a:rPr>
              <a:t>Inauguración con ceremonia internacional. Lanzamiento mediático global.</a:t>
            </a:r>
            <a:endParaRPr lang="en-US" sz="1200" dirty="0"/>
          </a:p>
        </p:txBody>
      </p:sp>
      <p:sp>
        <p:nvSpPr>
          <p:cNvPr id="23" name="Shape 21"/>
          <p:cNvSpPr/>
          <p:nvPr/>
        </p:nvSpPr>
        <p:spPr>
          <a:xfrm>
            <a:off x="13239750" y="4614342"/>
            <a:ext cx="4095750" cy="1822996"/>
          </a:xfrm>
          <a:prstGeom prst="rect">
            <a:avLst/>
          </a:prstGeom>
          <a:solidFill>
            <a:srgbClr val="F1ECE0"/>
          </a:solidFill>
          <a:ln/>
        </p:spPr>
        <p:txBody>
          <a:bodyPr/>
          <a:lstStyle/>
          <a:p>
            <a:endParaRPr lang="en-AR"/>
          </a:p>
        </p:txBody>
      </p:sp>
      <p:sp>
        <p:nvSpPr>
          <p:cNvPr id="24" name="Text 22"/>
          <p:cNvSpPr/>
          <p:nvPr/>
        </p:nvSpPr>
        <p:spPr>
          <a:xfrm>
            <a:off x="13506450" y="4957242"/>
            <a:ext cx="3669221" cy="200025"/>
          </a:xfrm>
          <a:prstGeom prst="rect">
            <a:avLst/>
          </a:prstGeom>
          <a:noFill/>
          <a:ln/>
        </p:spPr>
        <p:txBody>
          <a:bodyPr wrap="square" lIns="25400" tIns="25400" rIns="25400" bIns="25400" rtlCol="0" anchor="t">
            <a:normAutofit lnSpcReduction="10000"/>
          </a:bodyPr>
          <a:lstStyle/>
          <a:p>
            <a:pPr marL="0" indent="0" algn="l">
              <a:buNone/>
            </a:pPr>
            <a:r>
              <a:rPr lang="en-US" sz="1050" b="1" kern="0" spc="189" dirty="0">
                <a:solidFill>
                  <a:srgbClr val="8A6420"/>
                </a:solidFill>
                <a:latin typeface="Arial" pitchFamily="34" charset="0"/>
                <a:ea typeface="Arial" pitchFamily="34" charset="-122"/>
                <a:cs typeface="Arial" pitchFamily="34" charset="-120"/>
              </a:rPr>
              <a:t>AÑO 2 +</a:t>
            </a:r>
            <a:endParaRPr lang="en-US" sz="1050" dirty="0"/>
          </a:p>
        </p:txBody>
      </p:sp>
      <p:sp>
        <p:nvSpPr>
          <p:cNvPr id="25" name="Text 23"/>
          <p:cNvSpPr/>
          <p:nvPr/>
        </p:nvSpPr>
        <p:spPr>
          <a:xfrm>
            <a:off x="13506450" y="5233467"/>
            <a:ext cx="3669221"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dirty="0">
                <a:solidFill>
                  <a:srgbClr val="14110D"/>
                </a:solidFill>
                <a:latin typeface="Georgia" pitchFamily="34" charset="0"/>
                <a:ea typeface="Georgia" pitchFamily="34" charset="-122"/>
                <a:cs typeface="Georgia" pitchFamily="34" charset="-120"/>
              </a:rPr>
              <a:t>Crecimiento orgánico</a:t>
            </a:r>
            <a:endParaRPr lang="en-US" sz="2100" dirty="0"/>
          </a:p>
        </p:txBody>
      </p:sp>
      <p:sp>
        <p:nvSpPr>
          <p:cNvPr id="26" name="Text 24"/>
          <p:cNvSpPr/>
          <p:nvPr/>
        </p:nvSpPr>
        <p:spPr>
          <a:xfrm>
            <a:off x="13506450" y="5667747"/>
            <a:ext cx="3669221" cy="46479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200" dirty="0">
                <a:solidFill>
                  <a:srgbClr val="8A8170"/>
                </a:solidFill>
                <a:latin typeface="Arial" pitchFamily="34" charset="0"/>
                <a:ea typeface="Arial" pitchFamily="34" charset="-122"/>
                <a:cs typeface="Arial" pitchFamily="34" charset="-120"/>
              </a:rPr>
              <a:t>Suma progresiva de templos. Programa comunitario en marcha. Marca consolidada.</a:t>
            </a:r>
            <a:endParaRPr lang="en-US" sz="1200" dirty="0"/>
          </a:p>
        </p:txBody>
      </p:sp>
      <p:sp>
        <p:nvSpPr>
          <p:cNvPr id="27" name="Shape 25"/>
          <p:cNvSpPr/>
          <p:nvPr/>
        </p:nvSpPr>
        <p:spPr>
          <a:xfrm>
            <a:off x="952500" y="9134475"/>
            <a:ext cx="16383000" cy="9525"/>
          </a:xfrm>
          <a:prstGeom prst="rect">
            <a:avLst/>
          </a:prstGeom>
          <a:solidFill>
            <a:srgbClr val="D9D2C0"/>
          </a:solidFill>
          <a:ln/>
        </p:spPr>
        <p:txBody>
          <a:bodyPr/>
          <a:lstStyle/>
          <a:p>
            <a:endParaRPr lang="en-AR"/>
          </a:p>
        </p:txBody>
      </p:sp>
      <p:sp>
        <p:nvSpPr>
          <p:cNvPr id="28" name="Text 26"/>
          <p:cNvSpPr/>
          <p:nvPr/>
        </p:nvSpPr>
        <p:spPr>
          <a:xfrm>
            <a:off x="952500" y="9372600"/>
            <a:ext cx="4133008"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POLO ESPIRITUAL Y CULTURAL DE LA PATAGONIA</a:t>
            </a:r>
            <a:endParaRPr lang="en-US" sz="1050" dirty="0"/>
          </a:p>
        </p:txBody>
      </p:sp>
      <p:sp>
        <p:nvSpPr>
          <p:cNvPr id="29" name="Text 27"/>
          <p:cNvSpPr/>
          <p:nvPr/>
        </p:nvSpPr>
        <p:spPr>
          <a:xfrm>
            <a:off x="16796965" y="9372600"/>
            <a:ext cx="614735"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8A8170"/>
                </a:solidFill>
                <a:latin typeface="Arial" pitchFamily="34" charset="0"/>
                <a:ea typeface="Arial" pitchFamily="34" charset="-122"/>
                <a:cs typeface="Arial" pitchFamily="34" charset="-120"/>
              </a:rPr>
              <a:t>39 / 40 </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2">
    <p:bg>
      <p:bgPr>
        <a:solidFill>
          <a:srgbClr val="14110D"/>
        </a:solidFill>
        <a:effectLst/>
      </p:bgPr>
    </p:bg>
    <p:spTree>
      <p:nvGrpSpPr>
        <p:cNvPr id="1" name=""/>
        <p:cNvGrpSpPr/>
        <p:nvPr/>
      </p:nvGrpSpPr>
      <p:grpSpPr>
        <a:xfrm>
          <a:off x="0" y="0"/>
          <a:ext cx="0" cy="0"/>
          <a:chOff x="0" y="0"/>
          <a:chExt cx="0" cy="0"/>
        </a:xfrm>
      </p:grpSpPr>
      <p:sp>
        <p:nvSpPr>
          <p:cNvPr id="2" name="Shape 0"/>
          <p:cNvSpPr/>
          <p:nvPr/>
        </p:nvSpPr>
        <p:spPr>
          <a:xfrm>
            <a:off x="952500" y="1266825"/>
            <a:ext cx="16383000" cy="9525"/>
          </a:xfrm>
          <a:prstGeom prst="rect">
            <a:avLst/>
          </a:prstGeom>
          <a:solidFill>
            <a:srgbClr val="FFFFFF">
              <a:alpha val="14000"/>
            </a:srgbClr>
          </a:solidFill>
          <a:ln/>
        </p:spPr>
        <p:txBody>
          <a:bodyPr/>
          <a:lstStyle/>
          <a:p>
            <a:endParaRPr lang="en-AR"/>
          </a:p>
        </p:txBody>
      </p:sp>
      <p:sp>
        <p:nvSpPr>
          <p:cNvPr id="3" name="Shape 1"/>
          <p:cNvSpPr/>
          <p:nvPr/>
        </p:nvSpPr>
        <p:spPr>
          <a:xfrm>
            <a:off x="952500" y="762000"/>
            <a:ext cx="238125" cy="238125"/>
          </a:xfrm>
          <a:prstGeom prst="ellipse">
            <a:avLst/>
          </a:prstGeom>
          <a:ln w="14288">
            <a:solidFill>
              <a:srgbClr val="B58A3A"/>
            </a:solidFill>
            <a:prstDash val="solid"/>
          </a:ln>
        </p:spPr>
        <p:txBody>
          <a:bodyPr/>
          <a:lstStyle/>
          <a:p>
            <a:endParaRPr lang="en-AR"/>
          </a:p>
        </p:txBody>
      </p:sp>
      <p:sp>
        <p:nvSpPr>
          <p:cNvPr id="4" name="Text 2"/>
          <p:cNvSpPr/>
          <p:nvPr/>
        </p:nvSpPr>
        <p:spPr>
          <a:xfrm>
            <a:off x="1323975" y="788194"/>
            <a:ext cx="3225744" cy="223838"/>
          </a:xfrm>
          <a:prstGeom prst="rect">
            <a:avLst/>
          </a:prstGeom>
          <a:noFill/>
          <a:ln/>
        </p:spPr>
        <p:txBody>
          <a:bodyPr wrap="square" lIns="0" tIns="0" rIns="0" bIns="0" rtlCol="0" anchor="t">
            <a:normAutofit/>
          </a:bodyPr>
          <a:lstStyle/>
          <a:p>
            <a:pPr marL="0" indent="0" algn="l">
              <a:buNone/>
            </a:pPr>
            <a:r>
              <a:rPr lang="en-US" sz="1200" kern="0" spc="216" dirty="0">
                <a:solidFill>
                  <a:srgbClr val="FAF8F3"/>
                </a:solidFill>
                <a:latin typeface="Arial" pitchFamily="34" charset="0"/>
                <a:ea typeface="Arial" pitchFamily="34" charset="-122"/>
                <a:cs typeface="Arial" pitchFamily="34" charset="-120"/>
              </a:rPr>
              <a:t>FUNDACIÓN CONECTA · ESQUEL</a:t>
            </a:r>
            <a:endParaRPr lang="en-US" sz="1200" dirty="0"/>
          </a:p>
        </p:txBody>
      </p:sp>
      <p:sp>
        <p:nvSpPr>
          <p:cNvPr id="5" name="Text 3"/>
          <p:cNvSpPr/>
          <p:nvPr/>
        </p:nvSpPr>
        <p:spPr>
          <a:xfrm>
            <a:off x="16703576" y="804863"/>
            <a:ext cx="708124"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68" dirty="0">
                <a:solidFill>
                  <a:srgbClr val="8A8170"/>
                </a:solidFill>
                <a:latin typeface="Arial" pitchFamily="34" charset="0"/>
                <a:ea typeface="Arial" pitchFamily="34" charset="-122"/>
                <a:cs typeface="Arial" pitchFamily="34" charset="-120"/>
              </a:rPr>
              <a:t>CIERRE</a:t>
            </a:r>
            <a:endParaRPr lang="en-US" sz="1050" dirty="0"/>
          </a:p>
        </p:txBody>
      </p:sp>
      <p:sp>
        <p:nvSpPr>
          <p:cNvPr id="6" name="Text 4"/>
          <p:cNvSpPr/>
          <p:nvPr/>
        </p:nvSpPr>
        <p:spPr>
          <a:xfrm>
            <a:off x="952500" y="3476030"/>
            <a:ext cx="16874490" cy="247650"/>
          </a:xfrm>
          <a:prstGeom prst="rect">
            <a:avLst/>
          </a:prstGeom>
          <a:noFill/>
          <a:ln/>
        </p:spPr>
        <p:txBody>
          <a:bodyPr wrap="square" lIns="25400" tIns="25400" rIns="25400" bIns="25400" rtlCol="0" anchor="t">
            <a:normAutofit lnSpcReduction="10000"/>
          </a:bodyPr>
          <a:lstStyle/>
          <a:p>
            <a:pPr marL="0" indent="0" algn="l">
              <a:buNone/>
            </a:pPr>
            <a:r>
              <a:rPr lang="en-US" sz="1350" kern="0" spc="297" dirty="0">
                <a:solidFill>
                  <a:srgbClr val="FFFFFF">
                    <a:alpha val="55000"/>
                  </a:srgbClr>
                </a:solidFill>
                <a:latin typeface="Arial" pitchFamily="34" charset="0"/>
                <a:ea typeface="Arial" pitchFamily="34" charset="-122"/>
                <a:cs typeface="Arial" pitchFamily="34" charset="-120"/>
              </a:rPr>
              <a:t>LA PREGUNTA FINAL</a:t>
            </a:r>
            <a:endParaRPr lang="en-US" sz="1350" dirty="0"/>
          </a:p>
        </p:txBody>
      </p:sp>
      <p:sp>
        <p:nvSpPr>
          <p:cNvPr id="7" name="Text 5"/>
          <p:cNvSpPr/>
          <p:nvPr/>
        </p:nvSpPr>
        <p:spPr>
          <a:xfrm>
            <a:off x="952500" y="4218980"/>
            <a:ext cx="15697200" cy="2753841"/>
          </a:xfrm>
          <a:prstGeom prst="rect">
            <a:avLst/>
          </a:prstGeom>
          <a:noFill/>
          <a:ln/>
        </p:spPr>
        <p:txBody>
          <a:bodyPr wrap="square" lIns="25400" tIns="25400" rIns="25400" bIns="25400" rtlCol="0" anchor="t">
            <a:normAutofit fontScale="62500" lnSpcReduction="20000"/>
          </a:bodyPr>
          <a:lstStyle/>
          <a:p>
            <a:pPr marL="0" indent="0" algn="l">
              <a:lnSpc>
                <a:spcPct val="108000"/>
              </a:lnSpc>
              <a:buNone/>
            </a:pPr>
            <a:r>
              <a:rPr lang="en-US" sz="6600" i="1" kern="0" spc="-79" dirty="0">
                <a:solidFill>
                  <a:srgbClr val="FAF8F3"/>
                </a:solidFill>
                <a:latin typeface="Georgia" pitchFamily="34" charset="0"/>
                <a:ea typeface="Georgia" pitchFamily="34" charset="-122"/>
                <a:cs typeface="Georgia" pitchFamily="34" charset="-120"/>
              </a:rPr>
              <a:t>La pregunta no es si funciona. </a:t>
            </a:r>
          </a:p>
          <a:p>
            <a:pPr marL="0" indent="0" algn="l">
              <a:lnSpc>
                <a:spcPct val="108000"/>
              </a:lnSpc>
              <a:buNone/>
            </a:pPr>
            <a:r>
              <a:rPr lang="en-US" sz="6600" i="1" kern="0" spc="-79" dirty="0">
                <a:solidFill>
                  <a:srgbClr val="FAF8F3"/>
                </a:solidFill>
                <a:latin typeface="Georgia" pitchFamily="34" charset="0"/>
                <a:ea typeface="Georgia" pitchFamily="34" charset="-122"/>
                <a:cs typeface="Georgia" pitchFamily="34" charset="-120"/>
              </a:rPr>
              <a:t>La pregunta no es si es ambicioso. </a:t>
            </a:r>
          </a:p>
          <a:p>
            <a:pPr marL="0" indent="0" algn="l">
              <a:lnSpc>
                <a:spcPct val="108000"/>
              </a:lnSpc>
              <a:buNone/>
            </a:pPr>
            <a:r>
              <a:rPr lang="en-US" sz="6600" i="1" kern="0" spc="-79" dirty="0">
                <a:solidFill>
                  <a:srgbClr val="FAF8F3"/>
                </a:solidFill>
                <a:latin typeface="Georgia" pitchFamily="34" charset="0"/>
                <a:ea typeface="Georgia" pitchFamily="34" charset="-122"/>
                <a:cs typeface="Georgia" pitchFamily="34" charset="-120"/>
              </a:rPr>
              <a:t>La pregunta es si Esquel quiere ser Shambhala Patagonia. La primera capital espiritual, académica y tecnológica de </a:t>
            </a:r>
            <a:r>
              <a:rPr lang="en-US" sz="6600" i="1" kern="0" spc="-79" dirty="0">
                <a:solidFill>
                  <a:srgbClr val="B58A3A"/>
                </a:solidFill>
                <a:latin typeface="Georgia" pitchFamily="34" charset="0"/>
                <a:ea typeface="Georgia" pitchFamily="34" charset="-122"/>
                <a:cs typeface="Georgia" pitchFamily="34" charset="-120"/>
              </a:rPr>
              <a:t>las Américas</a:t>
            </a:r>
            <a:r>
              <a:rPr lang="en-US" sz="6600" i="1" kern="0" spc="-79" dirty="0">
                <a:solidFill>
                  <a:srgbClr val="FAF8F3"/>
                </a:solidFill>
                <a:latin typeface="Georgia" pitchFamily="34" charset="0"/>
                <a:ea typeface="Georgia" pitchFamily="34" charset="-122"/>
                <a:cs typeface="Georgia" pitchFamily="34" charset="-120"/>
              </a:rPr>
              <a:t>.</a:t>
            </a:r>
            <a:endParaRPr lang="en-US" sz="6600" dirty="0"/>
          </a:p>
        </p:txBody>
      </p:sp>
      <p:sp>
        <p:nvSpPr>
          <p:cNvPr id="8" name="Shape 6"/>
          <p:cNvSpPr/>
          <p:nvPr/>
        </p:nvSpPr>
        <p:spPr>
          <a:xfrm>
            <a:off x="952500" y="9134475"/>
            <a:ext cx="16383000" cy="9525"/>
          </a:xfrm>
          <a:prstGeom prst="rect">
            <a:avLst/>
          </a:prstGeom>
          <a:solidFill>
            <a:srgbClr val="FFFFFF">
              <a:alpha val="14000"/>
            </a:srgbClr>
          </a:solidFill>
          <a:ln/>
        </p:spPr>
        <p:txBody>
          <a:bodyPr/>
          <a:lstStyle/>
          <a:p>
            <a:endParaRPr lang="en-AR"/>
          </a:p>
        </p:txBody>
      </p:sp>
      <p:sp>
        <p:nvSpPr>
          <p:cNvPr id="9" name="Text 7"/>
          <p:cNvSpPr/>
          <p:nvPr/>
        </p:nvSpPr>
        <p:spPr>
          <a:xfrm>
            <a:off x="952500" y="9372600"/>
            <a:ext cx="2687686"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FAF8F3">
                    <a:alpha val="55000"/>
                  </a:srgbClr>
                </a:solidFill>
                <a:latin typeface="Arial" pitchFamily="34" charset="0"/>
                <a:ea typeface="Arial" pitchFamily="34" charset="-122"/>
                <a:cs typeface="Arial" pitchFamily="34" charset="-120"/>
              </a:rPr>
              <a:t>FUNDACIÓN CONECTA · ESQUEL</a:t>
            </a:r>
            <a:endParaRPr lang="en-US" sz="1050" dirty="0"/>
          </a:p>
        </p:txBody>
      </p:sp>
      <p:sp>
        <p:nvSpPr>
          <p:cNvPr id="10" name="Text 8"/>
          <p:cNvSpPr/>
          <p:nvPr/>
        </p:nvSpPr>
        <p:spPr>
          <a:xfrm>
            <a:off x="15835833" y="9372600"/>
            <a:ext cx="1575867" cy="190500"/>
          </a:xfrm>
          <a:prstGeom prst="rect">
            <a:avLst/>
          </a:prstGeom>
          <a:noFill/>
          <a:ln/>
        </p:spPr>
        <p:txBody>
          <a:bodyPr wrap="square" lIns="25400" tIns="25400" rIns="25400" bIns="25400" rtlCol="0" anchor="t">
            <a:normAutofit fontScale="92500" lnSpcReduction="10000"/>
          </a:bodyPr>
          <a:lstStyle/>
          <a:p>
            <a:pPr marL="0" indent="0" algn="l">
              <a:buNone/>
            </a:pPr>
            <a:r>
              <a:rPr lang="en-US" sz="1050" kern="0" spc="147" dirty="0">
                <a:solidFill>
                  <a:srgbClr val="FAF8F3">
                    <a:alpha val="55000"/>
                  </a:srgbClr>
                </a:solidFill>
                <a:latin typeface="Arial" pitchFamily="34" charset="0"/>
                <a:ea typeface="Arial" pitchFamily="34" charset="-122"/>
                <a:cs typeface="Arial" pitchFamily="34" charset="-120"/>
              </a:rPr>
              <a:t>40 / 40 · GRACIAS.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183</TotalTime>
  <Words>5363</Words>
  <Application>Microsoft Macintosh PowerPoint</Application>
  <PresentationFormat>Custom</PresentationFormat>
  <Paragraphs>620</Paragraphs>
  <Slides>40</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Yeshe Dorje</cp:lastModifiedBy>
  <cp:revision>19</cp:revision>
  <dcterms:created xsi:type="dcterms:W3CDTF">2026-04-18T14:09:20Z</dcterms:created>
  <dcterms:modified xsi:type="dcterms:W3CDTF">2026-05-05T21:54:51Z</dcterms:modified>
</cp:coreProperties>
</file>